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22"/>
    <p:sldId id="272" r:id="rId23"/>
    <p:sldId id="273" r:id="rId24"/>
    <p:sldId id="274" r:id="rId25"/>
    <p:sldId id="275" r:id="rId26"/>
    <p:sldId id="276" r:id="rId27"/>
    <p:sldId id="277" r:id="rId28"/>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1.xml"/><Relationship Id="rId8" Type="http://schemas.openxmlformats.org/officeDocument/2006/relationships/notesSlide" Target="../notesSlides/notesSlide14.xml"/></Relationships>
</file>

<file path=ppt/slides/_rels/slide15.xml.rels><?xml version="1.0" encoding="UTF-8"?><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1.xml"/><Relationship Id="rId8" Type="http://schemas.openxmlformats.org/officeDocument/2006/relationships/notesSlide" Target="../notesSlides/notesSlide15.xml"/></Relationships>
</file>

<file path=ppt/slides/_rels/slide16.xml.rels><?xml version="1.0" encoding="UTF-8"?><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s>
</file>

<file path=ppt/slides/_rels/slide17.xml.rels><?xml version="1.0" encoding="UTF-8"?><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s>
</file>

<file path=ppt/slides/_rels/slide18.xml.rels><?xml version="1.0" encoding="UTF-8"?><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s>
</file>

<file path=ppt/slides/_rels/slide19.xml.rels><?xml version="1.0" encoding="UTF-8"?><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s>
</file>

<file path=ppt/slides/_rels/slide20.xml.rels><?xml version="1.0" encoding="UTF-8"?><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s>
</file>

<file path=ppt/slides/_rels/slide21.xml.rels><?xml version="1.0" encoding="UTF-8"?><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s>
</file>

<file path=ppt/slides/_rels/slide22.xml.rels><?xml version="1.0" encoding="UTF-8"?><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044"/>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D7377"/>
          </a:solidFill>
          <a:ln w="12700">
            <a:solidFill>
              <a:srgbClr val="0D7377"/>
            </a:solidFill>
            <a:prstDash val="solid"/>
          </a:ln>
        </p:spPr>
      </p:sp>
      <p:sp>
        <p:nvSpPr>
          <p:cNvPr id="3" name="Text 1"/>
          <p:cNvSpPr/>
          <p:nvPr/>
        </p:nvSpPr>
        <p:spPr>
          <a:xfrm>
            <a:off x="347472" y="292608"/>
            <a:ext cx="8412480" cy="320040"/>
          </a:xfrm>
          <a:prstGeom prst="rect">
            <a:avLst/>
          </a:prstGeom>
          <a:noFill/>
          <a:ln/>
        </p:spPr>
        <p:txBody>
          <a:bodyPr wrap="square" lIns="0" tIns="0" rIns="0" bIns="0" rtlCol="0" anchor="ctr"/>
          <a:lstStyle/>
          <a:p>
            <a:pPr algn="l" indent="0" marL="0">
              <a:buNone/>
            </a:pPr>
            <a:r>
              <a:rPr lang="en-US" sz="900" b="1" spc="400" kern="0" dirty="0">
                <a:solidFill>
                  <a:srgbClr val="14A085"/>
                </a:solidFill>
              </a:rPr>
              <a:t>PLANNING PLATFORM ARCHITECTURE</a:t>
            </a:r>
            <a:endParaRPr lang="en-US" sz="900" dirty="0"/>
          </a:p>
        </p:txBody>
      </p:sp>
      <p:sp>
        <p:nvSpPr>
          <p:cNvPr id="4" name="Text 2"/>
          <p:cNvSpPr/>
          <p:nvPr/>
        </p:nvSpPr>
        <p:spPr>
          <a:xfrm>
            <a:off x="347472" y="713232"/>
            <a:ext cx="5303520" cy="1737360"/>
          </a:xfrm>
          <a:prstGeom prst="rect">
            <a:avLst/>
          </a:prstGeom>
          <a:noFill/>
          <a:ln/>
        </p:spPr>
        <p:txBody>
          <a:bodyPr wrap="square" lIns="0" tIns="0" rIns="0" bIns="0" rtlCol="0" anchor="ctr"/>
          <a:lstStyle/>
          <a:p>
            <a:pPr algn="l" indent="0" marL="0">
              <a:buNone/>
            </a:pPr>
            <a:r>
              <a:rPr lang="en-US" sz="4000" b="1" dirty="0">
                <a:solidFill>
                  <a:srgbClr val="FFFFFF"/>
                </a:solidFill>
              </a:rPr>
              <a:t>Fixed Science.</a:t>
            </a:r>
            <a:endParaRPr lang="en-US" sz="4000" dirty="0"/>
          </a:p>
          <a:p>
            <a:pPr algn="l" indent="0" marL="0">
              <a:buNone/>
            </a:pPr>
            <a:r>
              <a:rPr lang="en-US" sz="4000" b="1" dirty="0">
                <a:solidFill>
                  <a:srgbClr val="FFFFFF"/>
                </a:solidFill>
              </a:rPr>
              <a:t>Configurable Workflows.</a:t>
            </a:r>
            <a:endParaRPr lang="en-US" sz="4000" dirty="0"/>
          </a:p>
        </p:txBody>
      </p:sp>
      <p:sp>
        <p:nvSpPr>
          <p:cNvPr id="5" name="Text 3"/>
          <p:cNvSpPr/>
          <p:nvPr/>
        </p:nvSpPr>
        <p:spPr>
          <a:xfrm>
            <a:off x="347472" y="2578608"/>
            <a:ext cx="5120640" cy="1417320"/>
          </a:xfrm>
          <a:prstGeom prst="rect">
            <a:avLst/>
          </a:prstGeom>
          <a:noFill/>
          <a:ln/>
        </p:spPr>
        <p:txBody>
          <a:bodyPr wrap="square" lIns="0" tIns="0" rIns="0" bIns="0" rtlCol="0" anchor="ctr"/>
          <a:lstStyle/>
          <a:p>
            <a:pPr algn="l" indent="0" marL="0">
              <a:buNone/>
            </a:pPr>
            <a:r>
              <a:rPr lang="en-US" sz="1200" dirty="0">
                <a:solidFill>
                  <a:srgbClr val="94A3B8"/>
                </a:solidFill>
              </a:rPr>
              <a:t>A three-layer architecture that keeps planning algorithms universal — history optimisation, placeholder generation, assortment strategy, market potential — while letting every retailer configure how their modules connect, when web services fire, and how planners interact with AI recommendations.</a:t>
            </a:r>
            <a:endParaRPr lang="en-US" sz="1200" dirty="0"/>
          </a:p>
        </p:txBody>
      </p:sp>
      <p:sp>
        <p:nvSpPr>
          <p:cNvPr id="6" name="Shape 4"/>
          <p:cNvSpPr/>
          <p:nvPr/>
        </p:nvSpPr>
        <p:spPr>
          <a:xfrm>
            <a:off x="5943600" y="640080"/>
            <a:ext cx="2926080" cy="1188720"/>
          </a:xfrm>
          <a:prstGeom prst="rect">
            <a:avLst/>
          </a:prstGeom>
          <a:solidFill>
            <a:srgbClr val="1A3A5C"/>
          </a:solidFill>
          <a:ln w="12700">
            <a:solidFill>
              <a:srgbClr val="1A3A5C"/>
            </a:solidFill>
            <a:prstDash val="solid"/>
          </a:ln>
          <a:effectLst>
            <a:outerShdw sx="100000" sy="100000" kx="0" ky="0" algn="bl" rotWithShape="0" blurRad="101600" dist="38100" dir="8100000">
              <a:srgbClr val="000000">
                <a:alpha val="10000"/>
              </a:srgbClr>
            </a:outerShdw>
          </a:effectLst>
        </p:spPr>
      </p:sp>
      <p:pic>
        <p:nvPicPr>
          <p:cNvPr id="7" name="Image 0" descr="preencoded.png"/>
          <p:cNvPicPr>
            <a:picLocks noChangeAspect="1"/>
          </p:cNvPicPr>
          <p:nvPr/>
        </p:nvPicPr>
        <p:blipFill>
          <a:blip r:embed="rId1"/>
          <a:stretch>
            <a:fillRect/>
          </a:stretch>
        </p:blipFill>
        <p:spPr>
          <a:xfrm>
            <a:off x="6108192" y="987552"/>
            <a:ext cx="384048" cy="384048"/>
          </a:xfrm>
          <a:prstGeom prst="rect">
            <a:avLst/>
          </a:prstGeom>
        </p:spPr>
      </p:pic>
      <p:sp>
        <p:nvSpPr>
          <p:cNvPr id="8" name="Text 5"/>
          <p:cNvSpPr/>
          <p:nvPr/>
        </p:nvSpPr>
        <p:spPr>
          <a:xfrm>
            <a:off x="6601968" y="804672"/>
            <a:ext cx="2103120" cy="347472"/>
          </a:xfrm>
          <a:prstGeom prst="rect">
            <a:avLst/>
          </a:prstGeom>
          <a:noFill/>
          <a:ln/>
        </p:spPr>
        <p:txBody>
          <a:bodyPr wrap="square" lIns="0" tIns="0" rIns="0" bIns="0" rtlCol="0" anchor="ctr"/>
          <a:lstStyle/>
          <a:p>
            <a:pPr indent="0" marL="0">
              <a:buNone/>
            </a:pPr>
            <a:r>
              <a:rPr lang="en-US" sz="1200" b="1" dirty="0">
                <a:solidFill>
                  <a:srgbClr val="FFFFFF"/>
                </a:solidFill>
              </a:rPr>
              <a:t>Fixed Algorithms</a:t>
            </a:r>
            <a:endParaRPr lang="en-US" sz="1200" dirty="0"/>
          </a:p>
        </p:txBody>
      </p:sp>
      <p:sp>
        <p:nvSpPr>
          <p:cNvPr id="9" name="Text 6"/>
          <p:cNvSpPr/>
          <p:nvPr/>
        </p:nvSpPr>
        <p:spPr>
          <a:xfrm>
            <a:off x="6601968" y="1207008"/>
            <a:ext cx="2103120" cy="475488"/>
          </a:xfrm>
          <a:prstGeom prst="rect">
            <a:avLst/>
          </a:prstGeom>
          <a:noFill/>
          <a:ln/>
        </p:spPr>
        <p:txBody>
          <a:bodyPr wrap="square" lIns="0" tIns="0" rIns="0" bIns="0" rtlCol="0" anchor="ctr"/>
          <a:lstStyle/>
          <a:p>
            <a:pPr indent="0" marL="0">
              <a:buNone/>
            </a:pPr>
            <a:r>
              <a:rPr lang="en-US" sz="1000" dirty="0">
                <a:solidFill>
                  <a:srgbClr val="94A3B8"/>
                </a:solidFill>
              </a:rPr>
              <a:t>Core science never changes</a:t>
            </a:r>
            <a:endParaRPr lang="en-US" sz="1000" dirty="0"/>
          </a:p>
        </p:txBody>
      </p:sp>
      <p:sp>
        <p:nvSpPr>
          <p:cNvPr id="10" name="Shape 7"/>
          <p:cNvSpPr/>
          <p:nvPr/>
        </p:nvSpPr>
        <p:spPr>
          <a:xfrm>
            <a:off x="5943600" y="2057400"/>
            <a:ext cx="2926080" cy="1188720"/>
          </a:xfrm>
          <a:prstGeom prst="rect">
            <a:avLst/>
          </a:prstGeom>
          <a:solidFill>
            <a:srgbClr val="1A3A5C"/>
          </a:solidFill>
          <a:ln w="12700">
            <a:solidFill>
              <a:srgbClr val="1A3A5C"/>
            </a:solidFill>
            <a:prstDash val="solid"/>
          </a:ln>
          <a:effectLst>
            <a:outerShdw sx="100000" sy="100000" kx="0" ky="0" algn="bl" rotWithShape="0" blurRad="101600" dist="38100" dir="8100000">
              <a:srgbClr val="000000">
                <a:alpha val="10000"/>
              </a:srgbClr>
            </a:outerShdw>
          </a:effectLst>
        </p:spPr>
      </p:sp>
      <p:pic>
        <p:nvPicPr>
          <p:cNvPr id="11" name="Image 1" descr="preencoded.png"/>
          <p:cNvPicPr>
            <a:picLocks noChangeAspect="1"/>
          </p:cNvPicPr>
          <p:nvPr/>
        </p:nvPicPr>
        <p:blipFill>
          <a:blip r:embed="rId2"/>
          <a:stretch>
            <a:fillRect/>
          </a:stretch>
        </p:blipFill>
        <p:spPr>
          <a:xfrm>
            <a:off x="6108192" y="2404872"/>
            <a:ext cx="384048" cy="384048"/>
          </a:xfrm>
          <a:prstGeom prst="rect">
            <a:avLst/>
          </a:prstGeom>
        </p:spPr>
      </p:pic>
      <p:sp>
        <p:nvSpPr>
          <p:cNvPr id="12" name="Text 8"/>
          <p:cNvSpPr/>
          <p:nvPr/>
        </p:nvSpPr>
        <p:spPr>
          <a:xfrm>
            <a:off x="6601968" y="2221992"/>
            <a:ext cx="2103120" cy="347472"/>
          </a:xfrm>
          <a:prstGeom prst="rect">
            <a:avLst/>
          </a:prstGeom>
          <a:noFill/>
          <a:ln/>
        </p:spPr>
        <p:txBody>
          <a:bodyPr wrap="square" lIns="0" tIns="0" rIns="0" bIns="0" rtlCol="0" anchor="ctr"/>
          <a:lstStyle/>
          <a:p>
            <a:pPr indent="0" marL="0">
              <a:buNone/>
            </a:pPr>
            <a:r>
              <a:rPr lang="en-US" sz="1200" b="1" dirty="0">
                <a:solidFill>
                  <a:srgbClr val="FFFFFF"/>
                </a:solidFill>
              </a:rPr>
              <a:t>Configurable Workflows</a:t>
            </a:r>
            <a:endParaRPr lang="en-US" sz="1200" dirty="0"/>
          </a:p>
        </p:txBody>
      </p:sp>
      <p:sp>
        <p:nvSpPr>
          <p:cNvPr id="13" name="Text 9"/>
          <p:cNvSpPr/>
          <p:nvPr/>
        </p:nvSpPr>
        <p:spPr>
          <a:xfrm>
            <a:off x="6601968" y="2624328"/>
            <a:ext cx="2103120" cy="475488"/>
          </a:xfrm>
          <a:prstGeom prst="rect">
            <a:avLst/>
          </a:prstGeom>
          <a:noFill/>
          <a:ln/>
        </p:spPr>
        <p:txBody>
          <a:bodyPr wrap="square" lIns="0" tIns="0" rIns="0" bIns="0" rtlCol="0" anchor="ctr"/>
          <a:lstStyle/>
          <a:p>
            <a:pPr indent="0" marL="0">
              <a:buNone/>
            </a:pPr>
            <a:r>
              <a:rPr lang="en-US" sz="1000" dirty="0">
                <a:solidFill>
                  <a:srgbClr val="94A3B8"/>
                </a:solidFill>
              </a:rPr>
              <a:t>Retailers wire their own process</a:t>
            </a:r>
            <a:endParaRPr lang="en-US" sz="1000" dirty="0"/>
          </a:p>
        </p:txBody>
      </p:sp>
      <p:sp>
        <p:nvSpPr>
          <p:cNvPr id="14" name="Shape 10"/>
          <p:cNvSpPr/>
          <p:nvPr/>
        </p:nvSpPr>
        <p:spPr>
          <a:xfrm>
            <a:off x="5943600" y="3474720"/>
            <a:ext cx="2926080" cy="1188720"/>
          </a:xfrm>
          <a:prstGeom prst="rect">
            <a:avLst/>
          </a:prstGeom>
          <a:solidFill>
            <a:srgbClr val="1A3A5C"/>
          </a:solidFill>
          <a:ln w="12700">
            <a:solidFill>
              <a:srgbClr val="1A3A5C"/>
            </a:solidFill>
            <a:prstDash val="solid"/>
          </a:ln>
          <a:effectLst>
            <a:outerShdw sx="100000" sy="100000" kx="0" ky="0" algn="bl" rotWithShape="0" blurRad="101600" dist="38100" dir="8100000">
              <a:srgbClr val="000000">
                <a:alpha val="10000"/>
              </a:srgbClr>
            </a:outerShdw>
          </a:effectLst>
        </p:spPr>
      </p:sp>
      <p:pic>
        <p:nvPicPr>
          <p:cNvPr id="15" name="Image 2" descr="preencoded.png"/>
          <p:cNvPicPr>
            <a:picLocks noChangeAspect="1"/>
          </p:cNvPicPr>
          <p:nvPr/>
        </p:nvPicPr>
        <p:blipFill>
          <a:blip r:embed="rId3"/>
          <a:stretch>
            <a:fillRect/>
          </a:stretch>
        </p:blipFill>
        <p:spPr>
          <a:xfrm>
            <a:off x="6108192" y="3822192"/>
            <a:ext cx="384048" cy="384048"/>
          </a:xfrm>
          <a:prstGeom prst="rect">
            <a:avLst/>
          </a:prstGeom>
        </p:spPr>
      </p:pic>
      <p:sp>
        <p:nvSpPr>
          <p:cNvPr id="16" name="Text 11"/>
          <p:cNvSpPr/>
          <p:nvPr/>
        </p:nvSpPr>
        <p:spPr>
          <a:xfrm>
            <a:off x="6601968" y="3639312"/>
            <a:ext cx="2103120" cy="347472"/>
          </a:xfrm>
          <a:prstGeom prst="rect">
            <a:avLst/>
          </a:prstGeom>
          <a:noFill/>
          <a:ln/>
        </p:spPr>
        <p:txBody>
          <a:bodyPr wrap="square" lIns="0" tIns="0" rIns="0" bIns="0" rtlCol="0" anchor="ctr"/>
          <a:lstStyle/>
          <a:p>
            <a:pPr indent="0" marL="0">
              <a:buNone/>
            </a:pPr>
            <a:r>
              <a:rPr lang="en-US" sz="1200" b="1" dirty="0">
                <a:solidFill>
                  <a:srgbClr val="FFFFFF"/>
                </a:solidFill>
              </a:rPr>
              <a:t>Phase Web Services</a:t>
            </a:r>
            <a:endParaRPr lang="en-US" sz="1200" dirty="0"/>
          </a:p>
        </p:txBody>
      </p:sp>
      <p:sp>
        <p:nvSpPr>
          <p:cNvPr id="17" name="Text 12"/>
          <p:cNvSpPr/>
          <p:nvPr/>
        </p:nvSpPr>
        <p:spPr>
          <a:xfrm>
            <a:off x="6601968" y="4041648"/>
            <a:ext cx="2103120" cy="475488"/>
          </a:xfrm>
          <a:prstGeom prst="rect">
            <a:avLst/>
          </a:prstGeom>
          <a:noFill/>
          <a:ln/>
        </p:spPr>
        <p:txBody>
          <a:bodyPr wrap="square" lIns="0" tIns="0" rIns="0" bIns="0" rtlCol="0" anchor="ctr"/>
          <a:lstStyle/>
          <a:p>
            <a:pPr indent="0" marL="0">
              <a:buNone/>
            </a:pPr>
            <a:r>
              <a:rPr lang="en-US" sz="1000" dirty="0">
                <a:solidFill>
                  <a:srgbClr val="94A3B8"/>
                </a:solidFill>
              </a:rPr>
              <a:t>Inbound &amp; outbound at every stage</a:t>
            </a:r>
            <a:endParaRPr lang="en-US" sz="1000" dirty="0"/>
          </a:p>
        </p:txBody>
      </p:sp>
      <p:sp>
        <p:nvSpPr>
          <p:cNvPr id="18" name="Text 13"/>
          <p:cNvSpPr/>
          <p:nvPr/>
        </p:nvSpPr>
        <p:spPr>
          <a:xfrm>
            <a:off x="347472" y="4754880"/>
            <a:ext cx="3657600" cy="256032"/>
          </a:xfrm>
          <a:prstGeom prst="rect">
            <a:avLst/>
          </a:prstGeom>
          <a:noFill/>
          <a:ln/>
        </p:spPr>
        <p:txBody>
          <a:bodyPr wrap="square" lIns="0" tIns="0" rIns="0" bIns="0" rtlCol="0" anchor="ctr"/>
          <a:lstStyle/>
          <a:p>
            <a:pPr indent="0" marL="0">
              <a:buNone/>
            </a:pPr>
            <a:r>
              <a:rPr lang="en-US" sz="900" dirty="0">
                <a:solidFill>
                  <a:srgbClr val="64748B"/>
                </a:solidFill>
              </a:rPr>
              <a:t>v4.0  |  June 2026</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F2044"/>
          </a:solidFill>
          <a:ln w="12700">
            <a:solidFill>
              <a:srgbClr val="0F2044"/>
            </a:solidFill>
            <a:prstDash val="solid"/>
          </a:ln>
        </p:spPr>
      </p:sp>
      <p:sp>
        <p:nvSpPr>
          <p:cNvPr id="3" name="Text 1"/>
          <p:cNvSpPr/>
          <p:nvPr/>
        </p:nvSpPr>
        <p:spPr>
          <a:xfrm>
            <a:off x="365760" y="0"/>
            <a:ext cx="6400800" cy="658368"/>
          </a:xfrm>
          <a:prstGeom prst="rect">
            <a:avLst/>
          </a:prstGeom>
          <a:noFill/>
          <a:ln/>
        </p:spPr>
        <p:txBody>
          <a:bodyPr wrap="square" lIns="0" tIns="0" rIns="0" bIns="0" rtlCol="0" anchor="ctr"/>
          <a:lstStyle/>
          <a:p>
            <a:pPr indent="0" marL="0">
              <a:buNone/>
            </a:pPr>
            <a:r>
              <a:rPr lang="en-US" sz="1000" b="1" spc="300" kern="0" dirty="0">
                <a:solidFill>
                  <a:srgbClr val="FFFFFF"/>
                </a:solidFill>
              </a:rPr>
              <a:t>END-TO-END PLANNING WORKFLOW</a:t>
            </a:r>
            <a:endParaRPr lang="en-US" sz="1000" dirty="0"/>
          </a:p>
        </p:txBody>
      </p:sp>
      <p:sp>
        <p:nvSpPr>
          <p:cNvPr id="4" name="Text 2"/>
          <p:cNvSpPr/>
          <p:nvPr/>
        </p:nvSpPr>
        <p:spPr>
          <a:xfrm>
            <a:off x="8046720" y="0"/>
            <a:ext cx="914400" cy="658368"/>
          </a:xfrm>
          <a:prstGeom prst="rect">
            <a:avLst/>
          </a:prstGeom>
          <a:noFill/>
          <a:ln/>
        </p:spPr>
        <p:txBody>
          <a:bodyPr wrap="square" lIns="0" tIns="0" rIns="0" bIns="0" rtlCol="0" anchor="ctr"/>
          <a:lstStyle/>
          <a:p>
            <a:pPr algn="r" indent="0" marL="0">
              <a:buNone/>
            </a:pPr>
            <a:r>
              <a:rPr lang="en-US" sz="900" dirty="0">
                <a:solidFill>
                  <a:srgbClr val="94A3B8"/>
                </a:solidFill>
              </a:rPr>
              <a:t>WF-01</a:t>
            </a:r>
            <a:endParaRPr lang="en-US" sz="900" dirty="0"/>
          </a:p>
        </p:txBody>
      </p:sp>
      <p:sp>
        <p:nvSpPr>
          <p:cNvPr id="5" name="Shape 3"/>
          <p:cNvSpPr/>
          <p:nvPr/>
        </p:nvSpPr>
        <p:spPr>
          <a:xfrm>
            <a:off x="164592" y="841248"/>
            <a:ext cx="1609344" cy="1389888"/>
          </a:xfrm>
          <a:prstGeom prst="rect">
            <a:avLst/>
          </a:prstGeom>
          <a:solidFill>
            <a:srgbClr val="0F2044"/>
          </a:solidFill>
          <a:ln w="12700">
            <a:solidFill>
              <a:srgbClr val="0F2044"/>
            </a:solidFill>
            <a:prstDash val="solid"/>
          </a:ln>
          <a:effectLst>
            <a:outerShdw sx="100000" sy="100000" kx="0" ky="0" algn="bl" rotWithShape="0" blurRad="101600" dist="38100" dir="8100000">
              <a:srgbClr val="000000">
                <a:alpha val="10000"/>
              </a:srgbClr>
            </a:outerShdw>
          </a:effectLst>
        </p:spPr>
      </p:sp>
      <p:sp>
        <p:nvSpPr>
          <p:cNvPr id="6" name="Text 4"/>
          <p:cNvSpPr/>
          <p:nvPr/>
        </p:nvSpPr>
        <p:spPr>
          <a:xfrm>
            <a:off x="274320" y="950976"/>
            <a:ext cx="1371600" cy="347472"/>
          </a:xfrm>
          <a:prstGeom prst="rect">
            <a:avLst/>
          </a:prstGeom>
          <a:noFill/>
          <a:ln/>
        </p:spPr>
        <p:txBody>
          <a:bodyPr wrap="square" lIns="0" tIns="0" rIns="0" bIns="0" rtlCol="0" anchor="ctr"/>
          <a:lstStyle/>
          <a:p>
            <a:pPr indent="0" marL="0">
              <a:buNone/>
            </a:pPr>
            <a:r>
              <a:rPr lang="en-US" sz="2200" b="1" dirty="0">
                <a:solidFill>
                  <a:srgbClr val="0D7377"/>
                </a:solidFill>
              </a:rPr>
              <a:t>01</a:t>
            </a:r>
            <a:endParaRPr lang="en-US" sz="2200" dirty="0"/>
          </a:p>
        </p:txBody>
      </p:sp>
      <p:sp>
        <p:nvSpPr>
          <p:cNvPr id="7" name="Text 5"/>
          <p:cNvSpPr/>
          <p:nvPr/>
        </p:nvSpPr>
        <p:spPr>
          <a:xfrm>
            <a:off x="274320" y="1316736"/>
            <a:ext cx="1389888" cy="320040"/>
          </a:xfrm>
          <a:prstGeom prst="rect">
            <a:avLst/>
          </a:prstGeom>
          <a:noFill/>
          <a:ln/>
        </p:spPr>
        <p:txBody>
          <a:bodyPr wrap="square" lIns="0" tIns="0" rIns="0" bIns="0" rtlCol="0" anchor="ctr"/>
          <a:lstStyle/>
          <a:p>
            <a:pPr indent="0" marL="0">
              <a:buNone/>
            </a:pPr>
            <a:r>
              <a:rPr lang="en-US" sz="1100" b="1" dirty="0">
                <a:solidFill>
                  <a:srgbClr val="FFFFFF"/>
                </a:solidFill>
              </a:rPr>
              <a:t>SETUP</a:t>
            </a:r>
            <a:endParaRPr lang="en-US" sz="1100" dirty="0"/>
          </a:p>
        </p:txBody>
      </p:sp>
      <p:sp>
        <p:nvSpPr>
          <p:cNvPr id="8" name="Text 6"/>
          <p:cNvSpPr/>
          <p:nvPr/>
        </p:nvSpPr>
        <p:spPr>
          <a:xfrm>
            <a:off x="274320" y="1645920"/>
            <a:ext cx="1389888" cy="502920"/>
          </a:xfrm>
          <a:prstGeom prst="rect">
            <a:avLst/>
          </a:prstGeom>
          <a:noFill/>
          <a:ln/>
        </p:spPr>
        <p:txBody>
          <a:bodyPr wrap="square" lIns="0" tIns="0" rIns="0" bIns="0" rtlCol="0" anchor="ctr"/>
          <a:lstStyle/>
          <a:p>
            <a:pPr indent="0" marL="0">
              <a:buNone/>
            </a:pPr>
            <a:r>
              <a:rPr lang="en-US" sz="900" dirty="0">
                <a:solidFill>
                  <a:srgbClr val="94A3B8"/>
                </a:solidFill>
              </a:rPr>
              <a:t>Season, clusters,</a:t>
            </a:r>
            <a:endParaRPr lang="en-US" sz="900" dirty="0"/>
          </a:p>
          <a:p>
            <a:pPr indent="0" marL="0">
              <a:buNone/>
            </a:pPr>
            <a:r>
              <a:rPr lang="en-US" sz="900" dirty="0">
                <a:solidFill>
                  <a:srgbClr val="94A3B8"/>
                </a:solidFill>
              </a:rPr>
              <a:t>OTB &amp; attributes</a:t>
            </a:r>
            <a:endParaRPr lang="en-US" sz="900" dirty="0"/>
          </a:p>
        </p:txBody>
      </p:sp>
      <p:sp>
        <p:nvSpPr>
          <p:cNvPr id="9" name="Shape 7"/>
          <p:cNvSpPr/>
          <p:nvPr/>
        </p:nvSpPr>
        <p:spPr>
          <a:xfrm>
            <a:off x="1773936" y="1536192"/>
            <a:ext cx="182880" cy="0"/>
          </a:xfrm>
          <a:prstGeom prst="line">
            <a:avLst/>
          </a:prstGeom>
          <a:noFill/>
          <a:ln w="25400">
            <a:solidFill>
              <a:srgbClr val="94A3B8"/>
            </a:solidFill>
            <a:prstDash val="solid"/>
          </a:ln>
        </p:spPr>
      </p:sp>
      <p:sp>
        <p:nvSpPr>
          <p:cNvPr id="10" name="Shape 8"/>
          <p:cNvSpPr/>
          <p:nvPr/>
        </p:nvSpPr>
        <p:spPr>
          <a:xfrm>
            <a:off x="1956816" y="841248"/>
            <a:ext cx="1609344" cy="1389888"/>
          </a:xfrm>
          <a:prstGeom prst="rect">
            <a:avLst/>
          </a:prstGeom>
          <a:solidFill>
            <a:srgbClr val="0D7377"/>
          </a:solidFill>
          <a:ln w="12700">
            <a:solidFill>
              <a:srgbClr val="0D7377"/>
            </a:solidFill>
            <a:prstDash val="solid"/>
          </a:ln>
          <a:effectLst>
            <a:outerShdw sx="100000" sy="100000" kx="0" ky="0" algn="bl" rotWithShape="0" blurRad="101600" dist="38100" dir="8100000">
              <a:srgbClr val="000000">
                <a:alpha val="10000"/>
              </a:srgbClr>
            </a:outerShdw>
          </a:effectLst>
        </p:spPr>
      </p:sp>
      <p:sp>
        <p:nvSpPr>
          <p:cNvPr id="11" name="Text 9"/>
          <p:cNvSpPr/>
          <p:nvPr/>
        </p:nvSpPr>
        <p:spPr>
          <a:xfrm>
            <a:off x="2066544" y="950976"/>
            <a:ext cx="1371600" cy="347472"/>
          </a:xfrm>
          <a:prstGeom prst="rect">
            <a:avLst/>
          </a:prstGeom>
          <a:noFill/>
          <a:ln/>
        </p:spPr>
        <p:txBody>
          <a:bodyPr wrap="square" lIns="0" tIns="0" rIns="0" bIns="0" rtlCol="0" anchor="ctr"/>
          <a:lstStyle/>
          <a:p>
            <a:pPr indent="0" marL="0">
              <a:buNone/>
            </a:pPr>
            <a:r>
              <a:rPr lang="en-US" sz="2200" b="1" dirty="0">
                <a:solidFill>
                  <a:srgbClr val="FEF3C7"/>
                </a:solidFill>
              </a:rPr>
              <a:t>02</a:t>
            </a:r>
            <a:endParaRPr lang="en-US" sz="2200" dirty="0"/>
          </a:p>
        </p:txBody>
      </p:sp>
      <p:sp>
        <p:nvSpPr>
          <p:cNvPr id="12" name="Text 10"/>
          <p:cNvSpPr/>
          <p:nvPr/>
        </p:nvSpPr>
        <p:spPr>
          <a:xfrm>
            <a:off x="2066544" y="1316736"/>
            <a:ext cx="1389888" cy="320040"/>
          </a:xfrm>
          <a:prstGeom prst="rect">
            <a:avLst/>
          </a:prstGeom>
          <a:noFill/>
          <a:ln/>
        </p:spPr>
        <p:txBody>
          <a:bodyPr wrap="square" lIns="0" tIns="0" rIns="0" bIns="0" rtlCol="0" anchor="ctr"/>
          <a:lstStyle/>
          <a:p>
            <a:pPr indent="0" marL="0">
              <a:buNone/>
            </a:pPr>
            <a:r>
              <a:rPr lang="en-US" sz="1100" b="1" dirty="0">
                <a:solidFill>
                  <a:srgbClr val="FFFFFF"/>
                </a:solidFill>
              </a:rPr>
              <a:t>HINDSIGHT</a:t>
            </a:r>
            <a:endParaRPr lang="en-US" sz="1100" dirty="0"/>
          </a:p>
        </p:txBody>
      </p:sp>
      <p:sp>
        <p:nvSpPr>
          <p:cNvPr id="13" name="Text 11"/>
          <p:cNvSpPr/>
          <p:nvPr/>
        </p:nvSpPr>
        <p:spPr>
          <a:xfrm>
            <a:off x="2066544" y="1645920"/>
            <a:ext cx="1389888" cy="502920"/>
          </a:xfrm>
          <a:prstGeom prst="rect">
            <a:avLst/>
          </a:prstGeom>
          <a:noFill/>
          <a:ln/>
        </p:spPr>
        <p:txBody>
          <a:bodyPr wrap="square" lIns="0" tIns="0" rIns="0" bIns="0" rtlCol="0" anchor="ctr"/>
          <a:lstStyle/>
          <a:p>
            <a:pPr indent="0" marL="0">
              <a:buNone/>
            </a:pPr>
            <a:r>
              <a:rPr lang="en-US" sz="900" dirty="0">
                <a:solidFill>
                  <a:srgbClr val="94A3B8"/>
                </a:solidFill>
              </a:rPr>
              <a:t>History optimisation</a:t>
            </a:r>
            <a:endParaRPr lang="en-US" sz="900" dirty="0"/>
          </a:p>
          <a:p>
            <a:pPr indent="0" marL="0">
              <a:buNone/>
            </a:pPr>
            <a:r>
              <a:rPr lang="en-US" sz="900" dirty="0">
                <a:solidFill>
                  <a:srgbClr val="94A3B8"/>
                </a:solidFill>
              </a:rPr>
              <a:t>&amp; AI insights</a:t>
            </a:r>
            <a:endParaRPr lang="en-US" sz="900" dirty="0"/>
          </a:p>
        </p:txBody>
      </p:sp>
      <p:sp>
        <p:nvSpPr>
          <p:cNvPr id="14" name="Shape 12"/>
          <p:cNvSpPr/>
          <p:nvPr/>
        </p:nvSpPr>
        <p:spPr>
          <a:xfrm>
            <a:off x="3566160" y="1536192"/>
            <a:ext cx="182880" cy="0"/>
          </a:xfrm>
          <a:prstGeom prst="line">
            <a:avLst/>
          </a:prstGeom>
          <a:noFill/>
          <a:ln w="25400">
            <a:solidFill>
              <a:srgbClr val="94A3B8"/>
            </a:solidFill>
            <a:prstDash val="solid"/>
          </a:ln>
        </p:spPr>
      </p:sp>
      <p:sp>
        <p:nvSpPr>
          <p:cNvPr id="15" name="Shape 13"/>
          <p:cNvSpPr/>
          <p:nvPr/>
        </p:nvSpPr>
        <p:spPr>
          <a:xfrm>
            <a:off x="3749040" y="841248"/>
            <a:ext cx="1609344" cy="1389888"/>
          </a:xfrm>
          <a:prstGeom prst="rect">
            <a:avLst/>
          </a:prstGeom>
          <a:solidFill>
            <a:srgbClr val="0D7377"/>
          </a:solidFill>
          <a:ln w="12700">
            <a:solidFill>
              <a:srgbClr val="0D7377"/>
            </a:solidFill>
            <a:prstDash val="solid"/>
          </a:ln>
          <a:effectLst>
            <a:outerShdw sx="100000" sy="100000" kx="0" ky="0" algn="bl" rotWithShape="0" blurRad="101600" dist="38100" dir="8100000">
              <a:srgbClr val="000000">
                <a:alpha val="10000"/>
              </a:srgbClr>
            </a:outerShdw>
          </a:effectLst>
        </p:spPr>
      </p:sp>
      <p:sp>
        <p:nvSpPr>
          <p:cNvPr id="16" name="Text 14"/>
          <p:cNvSpPr/>
          <p:nvPr/>
        </p:nvSpPr>
        <p:spPr>
          <a:xfrm>
            <a:off x="3858768" y="950976"/>
            <a:ext cx="1371600" cy="347472"/>
          </a:xfrm>
          <a:prstGeom prst="rect">
            <a:avLst/>
          </a:prstGeom>
          <a:noFill/>
          <a:ln/>
        </p:spPr>
        <p:txBody>
          <a:bodyPr wrap="square" lIns="0" tIns="0" rIns="0" bIns="0" rtlCol="0" anchor="ctr"/>
          <a:lstStyle/>
          <a:p>
            <a:pPr indent="0" marL="0">
              <a:buNone/>
            </a:pPr>
            <a:r>
              <a:rPr lang="en-US" sz="2200" b="1" dirty="0">
                <a:solidFill>
                  <a:srgbClr val="FEF3C7"/>
                </a:solidFill>
              </a:rPr>
              <a:t>03</a:t>
            </a:r>
            <a:endParaRPr lang="en-US" sz="2200" dirty="0"/>
          </a:p>
        </p:txBody>
      </p:sp>
      <p:sp>
        <p:nvSpPr>
          <p:cNvPr id="17" name="Text 15"/>
          <p:cNvSpPr/>
          <p:nvPr/>
        </p:nvSpPr>
        <p:spPr>
          <a:xfrm>
            <a:off x="3858768" y="1316736"/>
            <a:ext cx="1389888" cy="320040"/>
          </a:xfrm>
          <a:prstGeom prst="rect">
            <a:avLst/>
          </a:prstGeom>
          <a:noFill/>
          <a:ln/>
        </p:spPr>
        <p:txBody>
          <a:bodyPr wrap="square" lIns="0" tIns="0" rIns="0" bIns="0" rtlCol="0" anchor="ctr"/>
          <a:lstStyle/>
          <a:p>
            <a:pPr indent="0" marL="0">
              <a:buNone/>
            </a:pPr>
            <a:r>
              <a:rPr lang="en-US" sz="1100" b="1" dirty="0">
                <a:solidFill>
                  <a:srgbClr val="FFFFFF"/>
                </a:solidFill>
              </a:rPr>
              <a:t>STRATEGY</a:t>
            </a:r>
            <a:endParaRPr lang="en-US" sz="1100" dirty="0"/>
          </a:p>
        </p:txBody>
      </p:sp>
      <p:sp>
        <p:nvSpPr>
          <p:cNvPr id="18" name="Text 16"/>
          <p:cNvSpPr/>
          <p:nvPr/>
        </p:nvSpPr>
        <p:spPr>
          <a:xfrm>
            <a:off x="3858768" y="1645920"/>
            <a:ext cx="1389888" cy="502920"/>
          </a:xfrm>
          <a:prstGeom prst="rect">
            <a:avLst/>
          </a:prstGeom>
          <a:noFill/>
          <a:ln/>
        </p:spPr>
        <p:txBody>
          <a:bodyPr wrap="square" lIns="0" tIns="0" rIns="0" bIns="0" rtlCol="0" anchor="ctr"/>
          <a:lstStyle/>
          <a:p>
            <a:pPr indent="0" marL="0">
              <a:buNone/>
            </a:pPr>
            <a:r>
              <a:rPr lang="en-US" sz="900" dirty="0">
                <a:solidFill>
                  <a:srgbClr val="94A3B8"/>
                </a:solidFill>
              </a:rPr>
              <a:t>Assortment strategy</a:t>
            </a:r>
            <a:endParaRPr lang="en-US" sz="900" dirty="0"/>
          </a:p>
          <a:p>
            <a:pPr indent="0" marL="0">
              <a:buNone/>
            </a:pPr>
            <a:r>
              <a:rPr lang="en-US" sz="900" dirty="0">
                <a:solidFill>
                  <a:srgbClr val="94A3B8"/>
                </a:solidFill>
              </a:rPr>
              <a:t>&amp; market potential</a:t>
            </a:r>
            <a:endParaRPr lang="en-US" sz="900" dirty="0"/>
          </a:p>
        </p:txBody>
      </p:sp>
      <p:sp>
        <p:nvSpPr>
          <p:cNvPr id="19" name="Shape 17"/>
          <p:cNvSpPr/>
          <p:nvPr/>
        </p:nvSpPr>
        <p:spPr>
          <a:xfrm>
            <a:off x="5358384" y="1536192"/>
            <a:ext cx="182880" cy="0"/>
          </a:xfrm>
          <a:prstGeom prst="line">
            <a:avLst/>
          </a:prstGeom>
          <a:noFill/>
          <a:ln w="25400">
            <a:solidFill>
              <a:srgbClr val="94A3B8"/>
            </a:solidFill>
            <a:prstDash val="solid"/>
          </a:ln>
        </p:spPr>
      </p:sp>
      <p:sp>
        <p:nvSpPr>
          <p:cNvPr id="20" name="Shape 18"/>
          <p:cNvSpPr/>
          <p:nvPr/>
        </p:nvSpPr>
        <p:spPr>
          <a:xfrm>
            <a:off x="5541264" y="841248"/>
            <a:ext cx="1609344" cy="1389888"/>
          </a:xfrm>
          <a:prstGeom prst="rect">
            <a:avLst/>
          </a:prstGeom>
          <a:solidFill>
            <a:srgbClr val="0D7377"/>
          </a:solidFill>
          <a:ln w="12700">
            <a:solidFill>
              <a:srgbClr val="0D7377"/>
            </a:solidFill>
            <a:prstDash val="solid"/>
          </a:ln>
          <a:effectLst>
            <a:outerShdw sx="100000" sy="100000" kx="0" ky="0" algn="bl" rotWithShape="0" blurRad="101600" dist="38100" dir="8100000">
              <a:srgbClr val="000000">
                <a:alpha val="10000"/>
              </a:srgbClr>
            </a:outerShdw>
          </a:effectLst>
        </p:spPr>
      </p:sp>
      <p:sp>
        <p:nvSpPr>
          <p:cNvPr id="21" name="Text 19"/>
          <p:cNvSpPr/>
          <p:nvPr/>
        </p:nvSpPr>
        <p:spPr>
          <a:xfrm>
            <a:off x="5650992" y="950976"/>
            <a:ext cx="1371600" cy="347472"/>
          </a:xfrm>
          <a:prstGeom prst="rect">
            <a:avLst/>
          </a:prstGeom>
          <a:noFill/>
          <a:ln/>
        </p:spPr>
        <p:txBody>
          <a:bodyPr wrap="square" lIns="0" tIns="0" rIns="0" bIns="0" rtlCol="0" anchor="ctr"/>
          <a:lstStyle/>
          <a:p>
            <a:pPr indent="0" marL="0">
              <a:buNone/>
            </a:pPr>
            <a:r>
              <a:rPr lang="en-US" sz="2200" b="1" dirty="0">
                <a:solidFill>
                  <a:srgbClr val="FEF3C7"/>
                </a:solidFill>
              </a:rPr>
              <a:t>04</a:t>
            </a:r>
            <a:endParaRPr lang="en-US" sz="2200" dirty="0"/>
          </a:p>
        </p:txBody>
      </p:sp>
      <p:sp>
        <p:nvSpPr>
          <p:cNvPr id="22" name="Text 20"/>
          <p:cNvSpPr/>
          <p:nvPr/>
        </p:nvSpPr>
        <p:spPr>
          <a:xfrm>
            <a:off x="5650992" y="1316736"/>
            <a:ext cx="1389888" cy="320040"/>
          </a:xfrm>
          <a:prstGeom prst="rect">
            <a:avLst/>
          </a:prstGeom>
          <a:noFill/>
          <a:ln/>
        </p:spPr>
        <p:txBody>
          <a:bodyPr wrap="square" lIns="0" tIns="0" rIns="0" bIns="0" rtlCol="0" anchor="ctr"/>
          <a:lstStyle/>
          <a:p>
            <a:pPr indent="0" marL="0">
              <a:buNone/>
            </a:pPr>
            <a:r>
              <a:rPr lang="en-US" sz="1100" b="1" dirty="0">
                <a:solidFill>
                  <a:srgbClr val="FFFFFF"/>
                </a:solidFill>
              </a:rPr>
              <a:t>LINE PLAN</a:t>
            </a:r>
            <a:endParaRPr lang="en-US" sz="1100" dirty="0"/>
          </a:p>
        </p:txBody>
      </p:sp>
      <p:sp>
        <p:nvSpPr>
          <p:cNvPr id="23" name="Text 21"/>
          <p:cNvSpPr/>
          <p:nvPr/>
        </p:nvSpPr>
        <p:spPr>
          <a:xfrm>
            <a:off x="5650992" y="1645920"/>
            <a:ext cx="1389888" cy="502920"/>
          </a:xfrm>
          <a:prstGeom prst="rect">
            <a:avLst/>
          </a:prstGeom>
          <a:noFill/>
          <a:ln/>
        </p:spPr>
        <p:txBody>
          <a:bodyPr wrap="square" lIns="0" tIns="0" rIns="0" bIns="0" rtlCol="0" anchor="ctr"/>
          <a:lstStyle/>
          <a:p>
            <a:pPr indent="0" marL="0">
              <a:buNone/>
            </a:pPr>
            <a:r>
              <a:rPr lang="en-US" sz="900" dirty="0">
                <a:solidFill>
                  <a:srgbClr val="94A3B8"/>
                </a:solidFill>
              </a:rPr>
              <a:t>Placeholder generation</a:t>
            </a:r>
            <a:endParaRPr lang="en-US" sz="900" dirty="0"/>
          </a:p>
          <a:p>
            <a:pPr indent="0" marL="0">
              <a:buNone/>
            </a:pPr>
            <a:r>
              <a:rPr lang="en-US" sz="900" dirty="0">
                <a:solidFill>
                  <a:srgbClr val="94A3B8"/>
                </a:solidFill>
              </a:rPr>
              <a:t>&amp; buy quantities</a:t>
            </a:r>
            <a:endParaRPr lang="en-US" sz="900" dirty="0"/>
          </a:p>
        </p:txBody>
      </p:sp>
      <p:sp>
        <p:nvSpPr>
          <p:cNvPr id="24" name="Shape 22"/>
          <p:cNvSpPr/>
          <p:nvPr/>
        </p:nvSpPr>
        <p:spPr>
          <a:xfrm>
            <a:off x="7150608" y="1536192"/>
            <a:ext cx="182880" cy="0"/>
          </a:xfrm>
          <a:prstGeom prst="line">
            <a:avLst/>
          </a:prstGeom>
          <a:noFill/>
          <a:ln w="25400">
            <a:solidFill>
              <a:srgbClr val="94A3B8"/>
            </a:solidFill>
            <a:prstDash val="solid"/>
          </a:ln>
        </p:spPr>
      </p:sp>
      <p:sp>
        <p:nvSpPr>
          <p:cNvPr id="25" name="Shape 23"/>
          <p:cNvSpPr/>
          <p:nvPr/>
        </p:nvSpPr>
        <p:spPr>
          <a:xfrm>
            <a:off x="7333488" y="841248"/>
            <a:ext cx="1609344" cy="1389888"/>
          </a:xfrm>
          <a:prstGeom prst="rect">
            <a:avLst/>
          </a:prstGeom>
          <a:solidFill>
            <a:srgbClr val="0F2044"/>
          </a:solidFill>
          <a:ln w="12700">
            <a:solidFill>
              <a:srgbClr val="0F2044"/>
            </a:solidFill>
            <a:prstDash val="solid"/>
          </a:ln>
          <a:effectLst>
            <a:outerShdw sx="100000" sy="100000" kx="0" ky="0" algn="bl" rotWithShape="0" blurRad="101600" dist="38100" dir="8100000">
              <a:srgbClr val="000000">
                <a:alpha val="10000"/>
              </a:srgbClr>
            </a:outerShdw>
          </a:effectLst>
        </p:spPr>
      </p:sp>
      <p:sp>
        <p:nvSpPr>
          <p:cNvPr id="26" name="Text 24"/>
          <p:cNvSpPr/>
          <p:nvPr/>
        </p:nvSpPr>
        <p:spPr>
          <a:xfrm>
            <a:off x="7443216" y="950976"/>
            <a:ext cx="1371600" cy="347472"/>
          </a:xfrm>
          <a:prstGeom prst="rect">
            <a:avLst/>
          </a:prstGeom>
          <a:noFill/>
          <a:ln/>
        </p:spPr>
        <p:txBody>
          <a:bodyPr wrap="square" lIns="0" tIns="0" rIns="0" bIns="0" rtlCol="0" anchor="ctr"/>
          <a:lstStyle/>
          <a:p>
            <a:pPr indent="0" marL="0">
              <a:buNone/>
            </a:pPr>
            <a:r>
              <a:rPr lang="en-US" sz="2200" b="1" dirty="0">
                <a:solidFill>
                  <a:srgbClr val="0D7377"/>
                </a:solidFill>
              </a:rPr>
              <a:t>05</a:t>
            </a:r>
            <a:endParaRPr lang="en-US" sz="2200" dirty="0"/>
          </a:p>
        </p:txBody>
      </p:sp>
      <p:sp>
        <p:nvSpPr>
          <p:cNvPr id="27" name="Text 25"/>
          <p:cNvSpPr/>
          <p:nvPr/>
        </p:nvSpPr>
        <p:spPr>
          <a:xfrm>
            <a:off x="7443216" y="1316736"/>
            <a:ext cx="1389888" cy="320040"/>
          </a:xfrm>
          <a:prstGeom prst="rect">
            <a:avLst/>
          </a:prstGeom>
          <a:noFill/>
          <a:ln/>
        </p:spPr>
        <p:txBody>
          <a:bodyPr wrap="square" lIns="0" tIns="0" rIns="0" bIns="0" rtlCol="0" anchor="ctr"/>
          <a:lstStyle/>
          <a:p>
            <a:pPr indent="0" marL="0">
              <a:buNone/>
            </a:pPr>
            <a:r>
              <a:rPr lang="en-US" sz="1100" b="1" dirty="0">
                <a:solidFill>
                  <a:srgbClr val="FFFFFF"/>
                </a:solidFill>
              </a:rPr>
              <a:t>APPROVAL</a:t>
            </a:r>
            <a:endParaRPr lang="en-US" sz="1100" dirty="0"/>
          </a:p>
        </p:txBody>
      </p:sp>
      <p:sp>
        <p:nvSpPr>
          <p:cNvPr id="28" name="Text 26"/>
          <p:cNvSpPr/>
          <p:nvPr/>
        </p:nvSpPr>
        <p:spPr>
          <a:xfrm>
            <a:off x="7443216" y="1645920"/>
            <a:ext cx="1389888" cy="502920"/>
          </a:xfrm>
          <a:prstGeom prst="rect">
            <a:avLst/>
          </a:prstGeom>
          <a:noFill/>
          <a:ln/>
        </p:spPr>
        <p:txBody>
          <a:bodyPr wrap="square" lIns="0" tIns="0" rIns="0" bIns="0" rtlCol="0" anchor="ctr"/>
          <a:lstStyle/>
          <a:p>
            <a:pPr indent="0" marL="0">
              <a:buNone/>
            </a:pPr>
            <a:r>
              <a:rPr lang="en-US" sz="900" dirty="0">
                <a:solidFill>
                  <a:srgbClr val="94A3B8"/>
                </a:solidFill>
              </a:rPr>
              <a:t>Workflow routing</a:t>
            </a:r>
            <a:endParaRPr lang="en-US" sz="900" dirty="0"/>
          </a:p>
          <a:p>
            <a:pPr indent="0" marL="0">
              <a:buNone/>
            </a:pPr>
            <a:r>
              <a:rPr lang="en-US" sz="900" dirty="0">
                <a:solidFill>
                  <a:srgbClr val="94A3B8"/>
                </a:solidFill>
              </a:rPr>
              <a:t>&amp; plan publish</a:t>
            </a:r>
            <a:endParaRPr lang="en-US" sz="900" dirty="0"/>
          </a:p>
        </p:txBody>
      </p:sp>
      <p:sp>
        <p:nvSpPr>
          <p:cNvPr id="29" name="Shape 27"/>
          <p:cNvSpPr/>
          <p:nvPr/>
        </p:nvSpPr>
        <p:spPr>
          <a:xfrm>
            <a:off x="164592" y="2395728"/>
            <a:ext cx="8796528" cy="384048"/>
          </a:xfrm>
          <a:prstGeom prst="rect">
            <a:avLst/>
          </a:prstGeom>
          <a:solidFill>
            <a:srgbClr val="FEF3C7"/>
          </a:solidFill>
          <a:ln w="12700">
            <a:solidFill>
              <a:srgbClr val="F59E0B"/>
            </a:solidFill>
            <a:prstDash val="solid"/>
          </a:ln>
        </p:spPr>
      </p:sp>
      <p:sp>
        <p:nvSpPr>
          <p:cNvPr id="30" name="Text 28"/>
          <p:cNvSpPr/>
          <p:nvPr/>
        </p:nvSpPr>
        <p:spPr>
          <a:xfrm>
            <a:off x="274320" y="2395728"/>
            <a:ext cx="8595360" cy="384048"/>
          </a:xfrm>
          <a:prstGeom prst="rect">
            <a:avLst/>
          </a:prstGeom>
          <a:noFill/>
          <a:ln/>
        </p:spPr>
        <p:txBody>
          <a:bodyPr wrap="square" lIns="0" tIns="0" rIns="0" bIns="0" rtlCol="0" anchor="ctr"/>
          <a:lstStyle/>
          <a:p>
            <a:pPr indent="0" marL="0">
              <a:buNone/>
            </a:pPr>
            <a:r>
              <a:rPr lang="en-US" sz="950" dirty="0">
                <a:solidFill>
                  <a:srgbClr val="334155"/>
                </a:solidFill>
              </a:rPr>
              <a:t>✏  PLANNER OVERRIDE AT ANY STAGE  →  Agent learns from every change  →  Subsequent agents rerun with planner-informed context  →  Model continuously improves</a:t>
            </a:r>
            <a:endParaRPr lang="en-US" sz="950" dirty="0"/>
          </a:p>
        </p:txBody>
      </p:sp>
      <p:sp>
        <p:nvSpPr>
          <p:cNvPr id="31" name="Text 29"/>
          <p:cNvSpPr/>
          <p:nvPr/>
        </p:nvSpPr>
        <p:spPr>
          <a:xfrm>
            <a:off x="164592" y="2926080"/>
            <a:ext cx="3657600" cy="274320"/>
          </a:xfrm>
          <a:prstGeom prst="rect">
            <a:avLst/>
          </a:prstGeom>
          <a:noFill/>
          <a:ln/>
        </p:spPr>
        <p:txBody>
          <a:bodyPr wrap="square" lIns="0" tIns="0" rIns="0" bIns="0" rtlCol="0" anchor="ctr"/>
          <a:lstStyle/>
          <a:p>
            <a:pPr indent="0" marL="0">
              <a:buNone/>
            </a:pPr>
            <a:r>
              <a:rPr lang="en-US" sz="850" b="1" spc="200" kern="0" dirty="0">
                <a:solidFill>
                  <a:srgbClr val="0D7377"/>
                </a:solidFill>
              </a:rPr>
              <a:t>PHASE WEB SERVICE HOOKS</a:t>
            </a:r>
            <a:endParaRPr lang="en-US" sz="850" dirty="0"/>
          </a:p>
        </p:txBody>
      </p:sp>
      <p:sp>
        <p:nvSpPr>
          <p:cNvPr id="32" name="Shape 30"/>
          <p:cNvSpPr/>
          <p:nvPr/>
        </p:nvSpPr>
        <p:spPr>
          <a:xfrm>
            <a:off x="164592" y="3273552"/>
            <a:ext cx="1609344" cy="1572768"/>
          </a:xfrm>
          <a:prstGeom prst="rect">
            <a:avLst/>
          </a:prstGeom>
          <a:solidFill>
            <a:srgbClr val="EFF6FF"/>
          </a:solidFill>
          <a:ln w="12700">
            <a:solidFill>
              <a:srgbClr val="93C5FD"/>
            </a:solidFill>
            <a:prstDash val="solid"/>
          </a:ln>
        </p:spPr>
      </p:sp>
      <p:sp>
        <p:nvSpPr>
          <p:cNvPr id="33" name="Text 31"/>
          <p:cNvSpPr/>
          <p:nvPr/>
        </p:nvSpPr>
        <p:spPr>
          <a:xfrm>
            <a:off x="256032" y="3364992"/>
            <a:ext cx="1426464" cy="256032"/>
          </a:xfrm>
          <a:prstGeom prst="rect">
            <a:avLst/>
          </a:prstGeom>
          <a:noFill/>
          <a:ln/>
        </p:spPr>
        <p:txBody>
          <a:bodyPr wrap="square" lIns="0" tIns="0" rIns="0" bIns="0" rtlCol="0" anchor="ctr"/>
          <a:lstStyle/>
          <a:p>
            <a:pPr indent="0" marL="0">
              <a:buNone/>
            </a:pPr>
            <a:r>
              <a:rPr lang="en-US" sz="1000" b="1" dirty="0">
                <a:solidFill>
                  <a:srgbClr val="2563EB"/>
                </a:solidFill>
              </a:rPr>
              <a:t>↓ IN</a:t>
            </a:r>
            <a:endParaRPr lang="en-US" sz="1000" dirty="0"/>
          </a:p>
        </p:txBody>
      </p:sp>
      <p:sp>
        <p:nvSpPr>
          <p:cNvPr id="34" name="Text 32"/>
          <p:cNvSpPr/>
          <p:nvPr/>
        </p:nvSpPr>
        <p:spPr>
          <a:xfrm>
            <a:off x="256032" y="3621024"/>
            <a:ext cx="1426464" cy="292608"/>
          </a:xfrm>
          <a:prstGeom prst="rect">
            <a:avLst/>
          </a:prstGeom>
          <a:noFill/>
          <a:ln/>
        </p:spPr>
        <p:txBody>
          <a:bodyPr wrap="square" lIns="0" tIns="0" rIns="0" bIns="0" rtlCol="0" anchor="ctr"/>
          <a:lstStyle/>
          <a:p>
            <a:pPr indent="0" marL="0">
              <a:buNone/>
            </a:pPr>
            <a:r>
              <a:rPr lang="en-US" sz="950" b="1" dirty="0">
                <a:solidFill>
                  <a:srgbClr val="334155"/>
                </a:solidFill>
              </a:rPr>
              <a:t>PLM / MDM</a:t>
            </a:r>
            <a:endParaRPr lang="en-US" sz="950" dirty="0"/>
          </a:p>
        </p:txBody>
      </p:sp>
      <p:sp>
        <p:nvSpPr>
          <p:cNvPr id="35" name="Text 33"/>
          <p:cNvSpPr/>
          <p:nvPr/>
        </p:nvSpPr>
        <p:spPr>
          <a:xfrm>
            <a:off x="256032" y="3931920"/>
            <a:ext cx="1426464" cy="777240"/>
          </a:xfrm>
          <a:prstGeom prst="rect">
            <a:avLst/>
          </a:prstGeom>
          <a:noFill/>
          <a:ln/>
        </p:spPr>
        <p:txBody>
          <a:bodyPr wrap="square" lIns="0" tIns="0" rIns="0" bIns="0" rtlCol="0" anchor="ctr"/>
          <a:lstStyle/>
          <a:p>
            <a:pPr indent="0" marL="0">
              <a:buNone/>
            </a:pPr>
            <a:r>
              <a:rPr lang="en-US" sz="850" dirty="0">
                <a:solidFill>
                  <a:srgbClr val="64748B"/>
                </a:solidFill>
              </a:rPr>
              <a:t>Product master,</a:t>
            </a:r>
            <a:endParaRPr lang="en-US" sz="850" dirty="0"/>
          </a:p>
          <a:p>
            <a:pPr indent="0" marL="0">
              <a:buNone/>
            </a:pPr>
            <a:r>
              <a:rPr lang="en-US" sz="850" dirty="0">
                <a:solidFill>
                  <a:srgbClr val="64748B"/>
                </a:solidFill>
              </a:rPr>
              <a:t>hierarchy sync</a:t>
            </a:r>
            <a:endParaRPr lang="en-US" sz="850" dirty="0"/>
          </a:p>
        </p:txBody>
      </p:sp>
      <p:sp>
        <p:nvSpPr>
          <p:cNvPr id="36" name="Shape 34"/>
          <p:cNvSpPr/>
          <p:nvPr/>
        </p:nvSpPr>
        <p:spPr>
          <a:xfrm>
            <a:off x="1956816" y="3273552"/>
            <a:ext cx="1609344" cy="1572768"/>
          </a:xfrm>
          <a:prstGeom prst="rect">
            <a:avLst/>
          </a:prstGeom>
          <a:solidFill>
            <a:srgbClr val="EFF6FF"/>
          </a:solidFill>
          <a:ln w="12700">
            <a:solidFill>
              <a:srgbClr val="93C5FD"/>
            </a:solidFill>
            <a:prstDash val="solid"/>
          </a:ln>
        </p:spPr>
      </p:sp>
      <p:sp>
        <p:nvSpPr>
          <p:cNvPr id="37" name="Text 35"/>
          <p:cNvSpPr/>
          <p:nvPr/>
        </p:nvSpPr>
        <p:spPr>
          <a:xfrm>
            <a:off x="2048256" y="3364992"/>
            <a:ext cx="1426464" cy="256032"/>
          </a:xfrm>
          <a:prstGeom prst="rect">
            <a:avLst/>
          </a:prstGeom>
          <a:noFill/>
          <a:ln/>
        </p:spPr>
        <p:txBody>
          <a:bodyPr wrap="square" lIns="0" tIns="0" rIns="0" bIns="0" rtlCol="0" anchor="ctr"/>
          <a:lstStyle/>
          <a:p>
            <a:pPr indent="0" marL="0">
              <a:buNone/>
            </a:pPr>
            <a:r>
              <a:rPr lang="en-US" sz="1000" b="1" dirty="0">
                <a:solidFill>
                  <a:srgbClr val="2563EB"/>
                </a:solidFill>
              </a:rPr>
              <a:t>↓ IN</a:t>
            </a:r>
            <a:endParaRPr lang="en-US" sz="1000" dirty="0"/>
          </a:p>
        </p:txBody>
      </p:sp>
      <p:sp>
        <p:nvSpPr>
          <p:cNvPr id="38" name="Text 36"/>
          <p:cNvSpPr/>
          <p:nvPr/>
        </p:nvSpPr>
        <p:spPr>
          <a:xfrm>
            <a:off x="2048256" y="3621024"/>
            <a:ext cx="1426464" cy="292608"/>
          </a:xfrm>
          <a:prstGeom prst="rect">
            <a:avLst/>
          </a:prstGeom>
          <a:noFill/>
          <a:ln/>
        </p:spPr>
        <p:txBody>
          <a:bodyPr wrap="square" lIns="0" tIns="0" rIns="0" bIns="0" rtlCol="0" anchor="ctr"/>
          <a:lstStyle/>
          <a:p>
            <a:pPr indent="0" marL="0">
              <a:buNone/>
            </a:pPr>
            <a:r>
              <a:rPr lang="en-US" sz="950" b="1" dirty="0">
                <a:solidFill>
                  <a:srgbClr val="334155"/>
                </a:solidFill>
              </a:rPr>
              <a:t>Data Warehouse</a:t>
            </a:r>
            <a:endParaRPr lang="en-US" sz="950" dirty="0"/>
          </a:p>
        </p:txBody>
      </p:sp>
      <p:sp>
        <p:nvSpPr>
          <p:cNvPr id="39" name="Text 37"/>
          <p:cNvSpPr/>
          <p:nvPr/>
        </p:nvSpPr>
        <p:spPr>
          <a:xfrm>
            <a:off x="2048256" y="3931920"/>
            <a:ext cx="1426464" cy="777240"/>
          </a:xfrm>
          <a:prstGeom prst="rect">
            <a:avLst/>
          </a:prstGeom>
          <a:noFill/>
          <a:ln/>
        </p:spPr>
        <p:txBody>
          <a:bodyPr wrap="square" lIns="0" tIns="0" rIns="0" bIns="0" rtlCol="0" anchor="ctr"/>
          <a:lstStyle/>
          <a:p>
            <a:pPr indent="0" marL="0">
              <a:buNone/>
            </a:pPr>
            <a:r>
              <a:rPr lang="en-US" sz="850" dirty="0">
                <a:solidFill>
                  <a:srgbClr val="64748B"/>
                </a:solidFill>
              </a:rPr>
              <a:t>Sales history,</a:t>
            </a:r>
            <a:endParaRPr lang="en-US" sz="850" dirty="0"/>
          </a:p>
          <a:p>
            <a:pPr indent="0" marL="0">
              <a:buNone/>
            </a:pPr>
            <a:r>
              <a:rPr lang="en-US" sz="850" dirty="0">
                <a:solidFill>
                  <a:srgbClr val="64748B"/>
                </a:solidFill>
              </a:rPr>
              <a:t>returns, sell-thru</a:t>
            </a:r>
            <a:endParaRPr lang="en-US" sz="850" dirty="0"/>
          </a:p>
        </p:txBody>
      </p:sp>
      <p:sp>
        <p:nvSpPr>
          <p:cNvPr id="40" name="Shape 38"/>
          <p:cNvSpPr/>
          <p:nvPr/>
        </p:nvSpPr>
        <p:spPr>
          <a:xfrm>
            <a:off x="3749040" y="3273552"/>
            <a:ext cx="1609344" cy="1572768"/>
          </a:xfrm>
          <a:prstGeom prst="rect">
            <a:avLst/>
          </a:prstGeom>
          <a:solidFill>
            <a:srgbClr val="F0FDF4"/>
          </a:solidFill>
          <a:ln w="12700">
            <a:solidFill>
              <a:srgbClr val="6EE7B7"/>
            </a:solidFill>
            <a:prstDash val="solid"/>
          </a:ln>
        </p:spPr>
      </p:sp>
      <p:sp>
        <p:nvSpPr>
          <p:cNvPr id="41" name="Text 39"/>
          <p:cNvSpPr/>
          <p:nvPr/>
        </p:nvSpPr>
        <p:spPr>
          <a:xfrm>
            <a:off x="3840480" y="3364992"/>
            <a:ext cx="1426464" cy="256032"/>
          </a:xfrm>
          <a:prstGeom prst="rect">
            <a:avLst/>
          </a:prstGeom>
          <a:noFill/>
          <a:ln/>
        </p:spPr>
        <p:txBody>
          <a:bodyPr wrap="square" lIns="0" tIns="0" rIns="0" bIns="0" rtlCol="0" anchor="ctr"/>
          <a:lstStyle/>
          <a:p>
            <a:pPr indent="0" marL="0">
              <a:buNone/>
            </a:pPr>
            <a:r>
              <a:rPr lang="en-US" sz="1000" b="1" dirty="0">
                <a:solidFill>
                  <a:srgbClr val="059669"/>
                </a:solidFill>
              </a:rPr>
              <a:t>↑ OUT</a:t>
            </a:r>
            <a:endParaRPr lang="en-US" sz="1000" dirty="0"/>
          </a:p>
        </p:txBody>
      </p:sp>
      <p:sp>
        <p:nvSpPr>
          <p:cNvPr id="42" name="Text 40"/>
          <p:cNvSpPr/>
          <p:nvPr/>
        </p:nvSpPr>
        <p:spPr>
          <a:xfrm>
            <a:off x="3840480" y="3621024"/>
            <a:ext cx="1426464" cy="292608"/>
          </a:xfrm>
          <a:prstGeom prst="rect">
            <a:avLst/>
          </a:prstGeom>
          <a:noFill/>
          <a:ln/>
        </p:spPr>
        <p:txBody>
          <a:bodyPr wrap="square" lIns="0" tIns="0" rIns="0" bIns="0" rtlCol="0" anchor="ctr"/>
          <a:lstStyle/>
          <a:p>
            <a:pPr indent="0" marL="0">
              <a:buNone/>
            </a:pPr>
            <a:r>
              <a:rPr lang="en-US" sz="950" b="1" dirty="0">
                <a:solidFill>
                  <a:srgbClr val="334155"/>
                </a:solidFill>
              </a:rPr>
              <a:t>Size Optimisation</a:t>
            </a:r>
            <a:endParaRPr lang="en-US" sz="950" dirty="0"/>
          </a:p>
        </p:txBody>
      </p:sp>
      <p:sp>
        <p:nvSpPr>
          <p:cNvPr id="43" name="Text 41"/>
          <p:cNvSpPr/>
          <p:nvPr/>
        </p:nvSpPr>
        <p:spPr>
          <a:xfrm>
            <a:off x="3840480" y="3931920"/>
            <a:ext cx="1426464" cy="777240"/>
          </a:xfrm>
          <a:prstGeom prst="rect">
            <a:avLst/>
          </a:prstGeom>
          <a:noFill/>
          <a:ln/>
        </p:spPr>
        <p:txBody>
          <a:bodyPr wrap="square" lIns="0" tIns="0" rIns="0" bIns="0" rtlCol="0" anchor="ctr"/>
          <a:lstStyle/>
          <a:p>
            <a:pPr indent="0" marL="0">
              <a:buNone/>
            </a:pPr>
            <a:r>
              <a:rPr lang="en-US" sz="850" dirty="0">
                <a:solidFill>
                  <a:srgbClr val="64748B"/>
                </a:solidFill>
              </a:rPr>
              <a:t>Push range plan,</a:t>
            </a:r>
            <a:endParaRPr lang="en-US" sz="850" dirty="0"/>
          </a:p>
          <a:p>
            <a:pPr indent="0" marL="0">
              <a:buNone/>
            </a:pPr>
            <a:r>
              <a:rPr lang="en-US" sz="850" dirty="0">
                <a:solidFill>
                  <a:srgbClr val="64748B"/>
                </a:solidFill>
              </a:rPr>
              <a:t>receive size profiles</a:t>
            </a:r>
            <a:endParaRPr lang="en-US" sz="850" dirty="0"/>
          </a:p>
        </p:txBody>
      </p:sp>
      <p:sp>
        <p:nvSpPr>
          <p:cNvPr id="44" name="Shape 42"/>
          <p:cNvSpPr/>
          <p:nvPr/>
        </p:nvSpPr>
        <p:spPr>
          <a:xfrm>
            <a:off x="5541264" y="3273552"/>
            <a:ext cx="1609344" cy="1572768"/>
          </a:xfrm>
          <a:prstGeom prst="rect">
            <a:avLst/>
          </a:prstGeom>
          <a:solidFill>
            <a:srgbClr val="F0FDF4"/>
          </a:solidFill>
          <a:ln w="12700">
            <a:solidFill>
              <a:srgbClr val="6EE7B7"/>
            </a:solidFill>
            <a:prstDash val="solid"/>
          </a:ln>
        </p:spPr>
      </p:sp>
      <p:sp>
        <p:nvSpPr>
          <p:cNvPr id="45" name="Text 43"/>
          <p:cNvSpPr/>
          <p:nvPr/>
        </p:nvSpPr>
        <p:spPr>
          <a:xfrm>
            <a:off x="5632704" y="3364992"/>
            <a:ext cx="1426464" cy="256032"/>
          </a:xfrm>
          <a:prstGeom prst="rect">
            <a:avLst/>
          </a:prstGeom>
          <a:noFill/>
          <a:ln/>
        </p:spPr>
        <p:txBody>
          <a:bodyPr wrap="square" lIns="0" tIns="0" rIns="0" bIns="0" rtlCol="0" anchor="ctr"/>
          <a:lstStyle/>
          <a:p>
            <a:pPr indent="0" marL="0">
              <a:buNone/>
            </a:pPr>
            <a:r>
              <a:rPr lang="en-US" sz="1000" b="1" dirty="0">
                <a:solidFill>
                  <a:srgbClr val="059669"/>
                </a:solidFill>
              </a:rPr>
              <a:t>↑ OUT</a:t>
            </a:r>
            <a:endParaRPr lang="en-US" sz="1000" dirty="0"/>
          </a:p>
        </p:txBody>
      </p:sp>
      <p:sp>
        <p:nvSpPr>
          <p:cNvPr id="46" name="Text 44"/>
          <p:cNvSpPr/>
          <p:nvPr/>
        </p:nvSpPr>
        <p:spPr>
          <a:xfrm>
            <a:off x="5632704" y="3621024"/>
            <a:ext cx="1426464" cy="292608"/>
          </a:xfrm>
          <a:prstGeom prst="rect">
            <a:avLst/>
          </a:prstGeom>
          <a:noFill/>
          <a:ln/>
        </p:spPr>
        <p:txBody>
          <a:bodyPr wrap="square" lIns="0" tIns="0" rIns="0" bIns="0" rtlCol="0" anchor="ctr"/>
          <a:lstStyle/>
          <a:p>
            <a:pPr indent="0" marL="0">
              <a:buNone/>
            </a:pPr>
            <a:r>
              <a:rPr lang="en-US" sz="950" b="1" dirty="0">
                <a:solidFill>
                  <a:srgbClr val="334155"/>
                </a:solidFill>
              </a:rPr>
              <a:t>ERP / OMS</a:t>
            </a:r>
            <a:endParaRPr lang="en-US" sz="950" dirty="0"/>
          </a:p>
        </p:txBody>
      </p:sp>
      <p:sp>
        <p:nvSpPr>
          <p:cNvPr id="47" name="Text 45"/>
          <p:cNvSpPr/>
          <p:nvPr/>
        </p:nvSpPr>
        <p:spPr>
          <a:xfrm>
            <a:off x="5632704" y="3931920"/>
            <a:ext cx="1426464" cy="777240"/>
          </a:xfrm>
          <a:prstGeom prst="rect">
            <a:avLst/>
          </a:prstGeom>
          <a:noFill/>
          <a:ln/>
        </p:spPr>
        <p:txBody>
          <a:bodyPr wrap="square" lIns="0" tIns="0" rIns="0" bIns="0" rtlCol="0" anchor="ctr"/>
          <a:lstStyle/>
          <a:p>
            <a:pPr indent="0" marL="0">
              <a:buNone/>
            </a:pPr>
            <a:r>
              <a:rPr lang="en-US" sz="850" dirty="0">
                <a:solidFill>
                  <a:srgbClr val="64748B"/>
                </a:solidFill>
              </a:rPr>
              <a:t>Push buy quantities</a:t>
            </a:r>
            <a:endParaRPr lang="en-US" sz="850" dirty="0"/>
          </a:p>
          <a:p>
            <a:pPr indent="0" marL="0">
              <a:buNone/>
            </a:pPr>
            <a:r>
              <a:rPr lang="en-US" sz="850" dirty="0">
                <a:solidFill>
                  <a:srgbClr val="64748B"/>
                </a:solidFill>
              </a:rPr>
              <a:t>&amp; OTB commitment</a:t>
            </a:r>
            <a:endParaRPr lang="en-US" sz="850" dirty="0"/>
          </a:p>
        </p:txBody>
      </p:sp>
      <p:sp>
        <p:nvSpPr>
          <p:cNvPr id="48" name="Shape 46"/>
          <p:cNvSpPr/>
          <p:nvPr/>
        </p:nvSpPr>
        <p:spPr>
          <a:xfrm>
            <a:off x="7333488" y="3273552"/>
            <a:ext cx="1609344" cy="1572768"/>
          </a:xfrm>
          <a:prstGeom prst="rect">
            <a:avLst/>
          </a:prstGeom>
          <a:solidFill>
            <a:srgbClr val="F0FDF4"/>
          </a:solidFill>
          <a:ln w="12700">
            <a:solidFill>
              <a:srgbClr val="6EE7B7"/>
            </a:solidFill>
            <a:prstDash val="solid"/>
          </a:ln>
        </p:spPr>
      </p:sp>
      <p:sp>
        <p:nvSpPr>
          <p:cNvPr id="49" name="Text 47"/>
          <p:cNvSpPr/>
          <p:nvPr/>
        </p:nvSpPr>
        <p:spPr>
          <a:xfrm>
            <a:off x="7424928" y="3364992"/>
            <a:ext cx="1426464" cy="256032"/>
          </a:xfrm>
          <a:prstGeom prst="rect">
            <a:avLst/>
          </a:prstGeom>
          <a:noFill/>
          <a:ln/>
        </p:spPr>
        <p:txBody>
          <a:bodyPr wrap="square" lIns="0" tIns="0" rIns="0" bIns="0" rtlCol="0" anchor="ctr"/>
          <a:lstStyle/>
          <a:p>
            <a:pPr indent="0" marL="0">
              <a:buNone/>
            </a:pPr>
            <a:r>
              <a:rPr lang="en-US" sz="1000" b="1" dirty="0">
                <a:solidFill>
                  <a:srgbClr val="059669"/>
                </a:solidFill>
              </a:rPr>
              <a:t>↑ OUT</a:t>
            </a:r>
            <a:endParaRPr lang="en-US" sz="1000" dirty="0"/>
          </a:p>
        </p:txBody>
      </p:sp>
      <p:sp>
        <p:nvSpPr>
          <p:cNvPr id="50" name="Text 48"/>
          <p:cNvSpPr/>
          <p:nvPr/>
        </p:nvSpPr>
        <p:spPr>
          <a:xfrm>
            <a:off x="7424928" y="3621024"/>
            <a:ext cx="1426464" cy="292608"/>
          </a:xfrm>
          <a:prstGeom prst="rect">
            <a:avLst/>
          </a:prstGeom>
          <a:noFill/>
          <a:ln/>
        </p:spPr>
        <p:txBody>
          <a:bodyPr wrap="square" lIns="0" tIns="0" rIns="0" bIns="0" rtlCol="0" anchor="ctr"/>
          <a:lstStyle/>
          <a:p>
            <a:pPr indent="0" marL="0">
              <a:buNone/>
            </a:pPr>
            <a:r>
              <a:rPr lang="en-US" sz="950" b="1" dirty="0">
                <a:solidFill>
                  <a:srgbClr val="334155"/>
                </a:solidFill>
              </a:rPr>
              <a:t>Finance / Board</a:t>
            </a:r>
            <a:endParaRPr lang="en-US" sz="950" dirty="0"/>
          </a:p>
        </p:txBody>
      </p:sp>
      <p:sp>
        <p:nvSpPr>
          <p:cNvPr id="51" name="Text 49"/>
          <p:cNvSpPr/>
          <p:nvPr/>
        </p:nvSpPr>
        <p:spPr>
          <a:xfrm>
            <a:off x="7424928" y="3931920"/>
            <a:ext cx="1426464" cy="777240"/>
          </a:xfrm>
          <a:prstGeom prst="rect">
            <a:avLst/>
          </a:prstGeom>
          <a:noFill/>
          <a:ln/>
        </p:spPr>
        <p:txBody>
          <a:bodyPr wrap="square" lIns="0" tIns="0" rIns="0" bIns="0" rtlCol="0" anchor="ctr"/>
          <a:lstStyle/>
          <a:p>
            <a:pPr indent="0" marL="0">
              <a:buNone/>
            </a:pPr>
            <a:r>
              <a:rPr lang="en-US" sz="850" dirty="0">
                <a:solidFill>
                  <a:srgbClr val="64748B"/>
                </a:solidFill>
              </a:rPr>
              <a:t>Push approved plan</a:t>
            </a:r>
            <a:endParaRPr lang="en-US" sz="850" dirty="0"/>
          </a:p>
          <a:p>
            <a:pPr indent="0" marL="0">
              <a:buNone/>
            </a:pPr>
            <a:r>
              <a:rPr lang="en-US" sz="850" dirty="0">
                <a:solidFill>
                  <a:srgbClr val="64748B"/>
                </a:solidFill>
              </a:rPr>
              <a:t>for budget lock</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F2044"/>
          </a:solidFill>
          <a:ln w="12700">
            <a:solidFill>
              <a:srgbClr val="0F2044"/>
            </a:solidFill>
            <a:prstDash val="solid"/>
          </a:ln>
        </p:spPr>
      </p:sp>
      <p:sp>
        <p:nvSpPr>
          <p:cNvPr id="3" name="Text 1"/>
          <p:cNvSpPr/>
          <p:nvPr/>
        </p:nvSpPr>
        <p:spPr>
          <a:xfrm>
            <a:off x="365760" y="0"/>
            <a:ext cx="6400800" cy="658368"/>
          </a:xfrm>
          <a:prstGeom prst="rect">
            <a:avLst/>
          </a:prstGeom>
          <a:noFill/>
          <a:ln/>
        </p:spPr>
        <p:txBody>
          <a:bodyPr wrap="square" lIns="0" tIns="0" rIns="0" bIns="0" rtlCol="0" anchor="ctr"/>
          <a:lstStyle/>
          <a:p>
            <a:pPr indent="0" marL="0">
              <a:buNone/>
            </a:pPr>
            <a:r>
              <a:rPr lang="en-US" sz="1000" b="1" spc="300" kern="0" dirty="0">
                <a:solidFill>
                  <a:srgbClr val="FFFFFF"/>
                </a:solidFill>
              </a:rPr>
              <a:t>LAYER 1 — FIXED CORE ALGORITHMS</a:t>
            </a:r>
            <a:endParaRPr lang="en-US" sz="1000" dirty="0"/>
          </a:p>
        </p:txBody>
      </p:sp>
      <p:sp>
        <p:nvSpPr>
          <p:cNvPr id="4" name="Text 2"/>
          <p:cNvSpPr/>
          <p:nvPr/>
        </p:nvSpPr>
        <p:spPr>
          <a:xfrm>
            <a:off x="7863840" y="0"/>
            <a:ext cx="1097280" cy="658368"/>
          </a:xfrm>
          <a:prstGeom prst="rect">
            <a:avLst/>
          </a:prstGeom>
          <a:noFill/>
          <a:ln/>
        </p:spPr>
        <p:txBody>
          <a:bodyPr wrap="square" lIns="0" tIns="0" rIns="0" bIns="0" rtlCol="0" anchor="ctr"/>
          <a:lstStyle/>
          <a:p>
            <a:pPr algn="r" indent="0" marL="0">
              <a:buNone/>
            </a:pPr>
            <a:r>
              <a:rPr lang="en-US" sz="900" dirty="0">
                <a:solidFill>
                  <a:srgbClr val="94A3B8"/>
                </a:solidFill>
              </a:rPr>
              <a:t>ARCH-01</a:t>
            </a:r>
            <a:endParaRPr lang="en-US" sz="900" dirty="0"/>
          </a:p>
        </p:txBody>
      </p:sp>
      <p:sp>
        <p:nvSpPr>
          <p:cNvPr id="5" name="Text 3"/>
          <p:cNvSpPr/>
          <p:nvPr/>
        </p:nvSpPr>
        <p:spPr>
          <a:xfrm>
            <a:off x="365760" y="777240"/>
            <a:ext cx="8412480" cy="475488"/>
          </a:xfrm>
          <a:prstGeom prst="rect">
            <a:avLst/>
          </a:prstGeom>
          <a:noFill/>
          <a:ln/>
        </p:spPr>
        <p:txBody>
          <a:bodyPr wrap="square" lIns="0" tIns="0" rIns="0" bIns="0" rtlCol="0" anchor="ctr"/>
          <a:lstStyle/>
          <a:p>
            <a:pPr indent="0" marL="0">
              <a:buNone/>
            </a:pPr>
            <a:r>
              <a:rPr lang="en-US" sz="1100" dirty="0">
                <a:solidFill>
                  <a:srgbClr val="64748B"/>
                </a:solidFill>
              </a:rPr>
              <a:t>These algorithms are universal, retailer-agnostic, and never modified by a retailer requirement. They are the platform's scientific core — owned, tested, and deployed exclusively by the platform team.</a:t>
            </a:r>
            <a:endParaRPr lang="en-US" sz="1100" dirty="0"/>
          </a:p>
        </p:txBody>
      </p:sp>
      <p:sp>
        <p:nvSpPr>
          <p:cNvPr id="6" name="Shape 4"/>
          <p:cNvSpPr/>
          <p:nvPr/>
        </p:nvSpPr>
        <p:spPr>
          <a:xfrm>
            <a:off x="201168" y="1389888"/>
            <a:ext cx="2743200" cy="178308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7" name="Shape 5"/>
          <p:cNvSpPr/>
          <p:nvPr/>
        </p:nvSpPr>
        <p:spPr>
          <a:xfrm>
            <a:off x="201168" y="1389888"/>
            <a:ext cx="2743200" cy="64008"/>
          </a:xfrm>
          <a:prstGeom prst="rect">
            <a:avLst/>
          </a:prstGeom>
          <a:solidFill>
            <a:srgbClr val="0D7377"/>
          </a:solidFill>
          <a:ln w="12700">
            <a:solidFill>
              <a:srgbClr val="0D7377"/>
            </a:solidFill>
            <a:prstDash val="solid"/>
          </a:ln>
        </p:spPr>
      </p:sp>
      <p:pic>
        <p:nvPicPr>
          <p:cNvPr id="8" name="Image 0" descr="preencoded.png"/>
          <p:cNvPicPr>
            <a:picLocks noChangeAspect="1"/>
          </p:cNvPicPr>
          <p:nvPr/>
        </p:nvPicPr>
        <p:blipFill>
          <a:blip r:embed="rId1"/>
          <a:stretch>
            <a:fillRect/>
          </a:stretch>
        </p:blipFill>
        <p:spPr>
          <a:xfrm>
            <a:off x="338328" y="1554480"/>
            <a:ext cx="310896" cy="310896"/>
          </a:xfrm>
          <a:prstGeom prst="rect">
            <a:avLst/>
          </a:prstGeom>
        </p:spPr>
      </p:pic>
      <p:sp>
        <p:nvSpPr>
          <p:cNvPr id="9" name="Text 6"/>
          <p:cNvSpPr/>
          <p:nvPr/>
        </p:nvSpPr>
        <p:spPr>
          <a:xfrm>
            <a:off x="731520" y="1499616"/>
            <a:ext cx="2029968" cy="347472"/>
          </a:xfrm>
          <a:prstGeom prst="rect">
            <a:avLst/>
          </a:prstGeom>
          <a:noFill/>
          <a:ln/>
        </p:spPr>
        <p:txBody>
          <a:bodyPr wrap="square" lIns="0" tIns="0" rIns="0" bIns="0" rtlCol="0" anchor="ctr"/>
          <a:lstStyle/>
          <a:p>
            <a:pPr indent="0" marL="0">
              <a:buNone/>
            </a:pPr>
            <a:r>
              <a:rPr lang="en-US" sz="1100" b="1" dirty="0">
                <a:solidFill>
                  <a:srgbClr val="0F2044"/>
                </a:solidFill>
              </a:rPr>
              <a:t>History Optimisation</a:t>
            </a:r>
            <a:endParaRPr lang="en-US" sz="1100" dirty="0"/>
          </a:p>
        </p:txBody>
      </p:sp>
      <p:sp>
        <p:nvSpPr>
          <p:cNvPr id="10" name="Shape 7"/>
          <p:cNvSpPr/>
          <p:nvPr/>
        </p:nvSpPr>
        <p:spPr>
          <a:xfrm>
            <a:off x="731520" y="1865376"/>
            <a:ext cx="749808" cy="201168"/>
          </a:xfrm>
          <a:prstGeom prst="rect">
            <a:avLst/>
          </a:prstGeom>
          <a:solidFill>
            <a:srgbClr val="0D7377"/>
          </a:solidFill>
          <a:ln w="12700">
            <a:solidFill>
              <a:srgbClr val="0D7377"/>
            </a:solidFill>
            <a:prstDash val="solid"/>
          </a:ln>
        </p:spPr>
      </p:sp>
      <p:sp>
        <p:nvSpPr>
          <p:cNvPr id="11" name="Text 8"/>
          <p:cNvSpPr/>
          <p:nvPr/>
        </p:nvSpPr>
        <p:spPr>
          <a:xfrm>
            <a:off x="731520" y="1865376"/>
            <a:ext cx="749808" cy="201168"/>
          </a:xfrm>
          <a:prstGeom prst="rect">
            <a:avLst/>
          </a:prstGeom>
          <a:noFill/>
          <a:ln/>
        </p:spPr>
        <p:txBody>
          <a:bodyPr wrap="square" lIns="0" tIns="0" rIns="0" bIns="0" rtlCol="0" anchor="ctr"/>
          <a:lstStyle/>
          <a:p>
            <a:pPr algn="ctr" indent="0" marL="0">
              <a:buNone/>
            </a:pPr>
            <a:r>
              <a:rPr lang="en-US" sz="700" b="1" dirty="0">
                <a:solidFill>
                  <a:srgbClr val="FFFFFF"/>
                </a:solidFill>
              </a:rPr>
              <a:t>HINDSIGHT</a:t>
            </a:r>
            <a:endParaRPr lang="en-US" sz="700" dirty="0"/>
          </a:p>
        </p:txBody>
      </p:sp>
      <p:sp>
        <p:nvSpPr>
          <p:cNvPr id="12" name="Text 9"/>
          <p:cNvSpPr/>
          <p:nvPr/>
        </p:nvSpPr>
        <p:spPr>
          <a:xfrm>
            <a:off x="338328" y="2157984"/>
            <a:ext cx="2468880" cy="841248"/>
          </a:xfrm>
          <a:prstGeom prst="rect">
            <a:avLst/>
          </a:prstGeom>
          <a:noFill/>
          <a:ln/>
        </p:spPr>
        <p:txBody>
          <a:bodyPr wrap="square" lIns="0" tIns="0" rIns="0" bIns="0" rtlCol="0" anchor="ctr"/>
          <a:lstStyle/>
          <a:p>
            <a:pPr indent="0" marL="0">
              <a:buNone/>
            </a:pPr>
            <a:r>
              <a:rPr lang="en-US" sz="850" dirty="0">
                <a:solidFill>
                  <a:srgbClr val="64748B"/>
                </a:solidFill>
              </a:rPr>
              <a:t>Cleans raw sales data: removes cannibalisation, adjusts for stockouts, isolates true demand signal. Applies statistical smoothing across weeks, handles promotions and markdowns. Output: clean baseline demand per option per cluster.</a:t>
            </a:r>
            <a:endParaRPr lang="en-US" sz="850" dirty="0"/>
          </a:p>
        </p:txBody>
      </p:sp>
      <p:sp>
        <p:nvSpPr>
          <p:cNvPr id="13" name="Shape 10"/>
          <p:cNvSpPr/>
          <p:nvPr/>
        </p:nvSpPr>
        <p:spPr>
          <a:xfrm>
            <a:off x="3145536" y="1389888"/>
            <a:ext cx="2743200" cy="178308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14" name="Shape 11"/>
          <p:cNvSpPr/>
          <p:nvPr/>
        </p:nvSpPr>
        <p:spPr>
          <a:xfrm>
            <a:off x="3145536" y="1389888"/>
            <a:ext cx="2743200" cy="64008"/>
          </a:xfrm>
          <a:prstGeom prst="rect">
            <a:avLst/>
          </a:prstGeom>
          <a:solidFill>
            <a:srgbClr val="0D7377"/>
          </a:solidFill>
          <a:ln w="12700">
            <a:solidFill>
              <a:srgbClr val="0D7377"/>
            </a:solidFill>
            <a:prstDash val="solid"/>
          </a:ln>
        </p:spPr>
      </p:sp>
      <p:pic>
        <p:nvPicPr>
          <p:cNvPr id="15" name="Image 1" descr="preencoded.png"/>
          <p:cNvPicPr>
            <a:picLocks noChangeAspect="1"/>
          </p:cNvPicPr>
          <p:nvPr/>
        </p:nvPicPr>
        <p:blipFill>
          <a:blip r:embed="rId2"/>
          <a:stretch>
            <a:fillRect/>
          </a:stretch>
        </p:blipFill>
        <p:spPr>
          <a:xfrm>
            <a:off x="3282696" y="1554480"/>
            <a:ext cx="310896" cy="310896"/>
          </a:xfrm>
          <a:prstGeom prst="rect">
            <a:avLst/>
          </a:prstGeom>
        </p:spPr>
      </p:pic>
      <p:sp>
        <p:nvSpPr>
          <p:cNvPr id="16" name="Text 12"/>
          <p:cNvSpPr/>
          <p:nvPr/>
        </p:nvSpPr>
        <p:spPr>
          <a:xfrm>
            <a:off x="3675888" y="1499616"/>
            <a:ext cx="2029968" cy="347472"/>
          </a:xfrm>
          <a:prstGeom prst="rect">
            <a:avLst/>
          </a:prstGeom>
          <a:noFill/>
          <a:ln/>
        </p:spPr>
        <p:txBody>
          <a:bodyPr wrap="square" lIns="0" tIns="0" rIns="0" bIns="0" rtlCol="0" anchor="ctr"/>
          <a:lstStyle/>
          <a:p>
            <a:pPr indent="0" marL="0">
              <a:buNone/>
            </a:pPr>
            <a:r>
              <a:rPr lang="en-US" sz="1100" b="1" dirty="0">
                <a:solidFill>
                  <a:srgbClr val="0F2044"/>
                </a:solidFill>
              </a:rPr>
              <a:t>Placeholder Generation</a:t>
            </a:r>
            <a:endParaRPr lang="en-US" sz="1100" dirty="0"/>
          </a:p>
        </p:txBody>
      </p:sp>
      <p:sp>
        <p:nvSpPr>
          <p:cNvPr id="17" name="Shape 13"/>
          <p:cNvSpPr/>
          <p:nvPr/>
        </p:nvSpPr>
        <p:spPr>
          <a:xfrm>
            <a:off x="3675888" y="1865376"/>
            <a:ext cx="749808" cy="201168"/>
          </a:xfrm>
          <a:prstGeom prst="rect">
            <a:avLst/>
          </a:prstGeom>
          <a:solidFill>
            <a:srgbClr val="0D7377"/>
          </a:solidFill>
          <a:ln w="12700">
            <a:solidFill>
              <a:srgbClr val="0D7377"/>
            </a:solidFill>
            <a:prstDash val="solid"/>
          </a:ln>
        </p:spPr>
      </p:sp>
      <p:sp>
        <p:nvSpPr>
          <p:cNvPr id="18" name="Text 14"/>
          <p:cNvSpPr/>
          <p:nvPr/>
        </p:nvSpPr>
        <p:spPr>
          <a:xfrm>
            <a:off x="3675888" y="1865376"/>
            <a:ext cx="749808" cy="201168"/>
          </a:xfrm>
          <a:prstGeom prst="rect">
            <a:avLst/>
          </a:prstGeom>
          <a:noFill/>
          <a:ln/>
        </p:spPr>
        <p:txBody>
          <a:bodyPr wrap="square" lIns="0" tIns="0" rIns="0" bIns="0" rtlCol="0" anchor="ctr"/>
          <a:lstStyle/>
          <a:p>
            <a:pPr algn="ctr" indent="0" marL="0">
              <a:buNone/>
            </a:pPr>
            <a:r>
              <a:rPr lang="en-US" sz="700" b="1" dirty="0">
                <a:solidFill>
                  <a:srgbClr val="FFFFFF"/>
                </a:solidFill>
              </a:rPr>
              <a:t>LINE PLAN</a:t>
            </a:r>
            <a:endParaRPr lang="en-US" sz="700" dirty="0"/>
          </a:p>
        </p:txBody>
      </p:sp>
      <p:sp>
        <p:nvSpPr>
          <p:cNvPr id="19" name="Text 15"/>
          <p:cNvSpPr/>
          <p:nvPr/>
        </p:nvSpPr>
        <p:spPr>
          <a:xfrm>
            <a:off x="3282696" y="2157984"/>
            <a:ext cx="2468880" cy="841248"/>
          </a:xfrm>
          <a:prstGeom prst="rect">
            <a:avLst/>
          </a:prstGeom>
          <a:noFill/>
          <a:ln/>
        </p:spPr>
        <p:txBody>
          <a:bodyPr wrap="square" lIns="0" tIns="0" rIns="0" bIns="0" rtlCol="0" anchor="ctr"/>
          <a:lstStyle/>
          <a:p>
            <a:pPr indent="0" marL="0">
              <a:buNone/>
            </a:pPr>
            <a:r>
              <a:rPr lang="en-US" sz="850" dirty="0">
                <a:solidFill>
                  <a:srgbClr val="64748B"/>
                </a:solidFill>
              </a:rPr>
              <a:t>Determines how many options are needed at each hierarchy node, across clusters and price tiers. Generates structured placeholders with attribute profiles derived from hindsight and strategy parameters. Output: placeholder grid, ready for buyer population.</a:t>
            </a:r>
            <a:endParaRPr lang="en-US" sz="850" dirty="0"/>
          </a:p>
        </p:txBody>
      </p:sp>
      <p:sp>
        <p:nvSpPr>
          <p:cNvPr id="20" name="Shape 16"/>
          <p:cNvSpPr/>
          <p:nvPr/>
        </p:nvSpPr>
        <p:spPr>
          <a:xfrm>
            <a:off x="6089904" y="1389888"/>
            <a:ext cx="2743200" cy="178308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21" name="Shape 17"/>
          <p:cNvSpPr/>
          <p:nvPr/>
        </p:nvSpPr>
        <p:spPr>
          <a:xfrm>
            <a:off x="6089904" y="1389888"/>
            <a:ext cx="2743200" cy="64008"/>
          </a:xfrm>
          <a:prstGeom prst="rect">
            <a:avLst/>
          </a:prstGeom>
          <a:solidFill>
            <a:srgbClr val="0D7377"/>
          </a:solidFill>
          <a:ln w="12700">
            <a:solidFill>
              <a:srgbClr val="0D7377"/>
            </a:solidFill>
            <a:prstDash val="solid"/>
          </a:ln>
        </p:spPr>
      </p:sp>
      <p:pic>
        <p:nvPicPr>
          <p:cNvPr id="22" name="Image 2" descr="preencoded.png"/>
          <p:cNvPicPr>
            <a:picLocks noChangeAspect="1"/>
          </p:cNvPicPr>
          <p:nvPr/>
        </p:nvPicPr>
        <p:blipFill>
          <a:blip r:embed="rId3"/>
          <a:stretch>
            <a:fillRect/>
          </a:stretch>
        </p:blipFill>
        <p:spPr>
          <a:xfrm>
            <a:off x="6227064" y="1554480"/>
            <a:ext cx="310896" cy="310896"/>
          </a:xfrm>
          <a:prstGeom prst="rect">
            <a:avLst/>
          </a:prstGeom>
        </p:spPr>
      </p:pic>
      <p:sp>
        <p:nvSpPr>
          <p:cNvPr id="23" name="Text 18"/>
          <p:cNvSpPr/>
          <p:nvPr/>
        </p:nvSpPr>
        <p:spPr>
          <a:xfrm>
            <a:off x="6620256" y="1499616"/>
            <a:ext cx="2029968" cy="347472"/>
          </a:xfrm>
          <a:prstGeom prst="rect">
            <a:avLst/>
          </a:prstGeom>
          <a:noFill/>
          <a:ln/>
        </p:spPr>
        <p:txBody>
          <a:bodyPr wrap="square" lIns="0" tIns="0" rIns="0" bIns="0" rtlCol="0" anchor="ctr"/>
          <a:lstStyle/>
          <a:p>
            <a:pPr indent="0" marL="0">
              <a:buNone/>
            </a:pPr>
            <a:r>
              <a:rPr lang="en-US" sz="1100" b="1" dirty="0">
                <a:solidFill>
                  <a:srgbClr val="0F2044"/>
                </a:solidFill>
              </a:rPr>
              <a:t>Assortment Strategy</a:t>
            </a:r>
            <a:endParaRPr lang="en-US" sz="1100" dirty="0"/>
          </a:p>
        </p:txBody>
      </p:sp>
      <p:sp>
        <p:nvSpPr>
          <p:cNvPr id="24" name="Shape 19"/>
          <p:cNvSpPr/>
          <p:nvPr/>
        </p:nvSpPr>
        <p:spPr>
          <a:xfrm>
            <a:off x="6620256" y="1865376"/>
            <a:ext cx="749808" cy="201168"/>
          </a:xfrm>
          <a:prstGeom prst="rect">
            <a:avLst/>
          </a:prstGeom>
          <a:solidFill>
            <a:srgbClr val="0D7377"/>
          </a:solidFill>
          <a:ln w="12700">
            <a:solidFill>
              <a:srgbClr val="0D7377"/>
            </a:solidFill>
            <a:prstDash val="solid"/>
          </a:ln>
        </p:spPr>
      </p:sp>
      <p:sp>
        <p:nvSpPr>
          <p:cNvPr id="25" name="Text 20"/>
          <p:cNvSpPr/>
          <p:nvPr/>
        </p:nvSpPr>
        <p:spPr>
          <a:xfrm>
            <a:off x="6620256" y="1865376"/>
            <a:ext cx="749808" cy="201168"/>
          </a:xfrm>
          <a:prstGeom prst="rect">
            <a:avLst/>
          </a:prstGeom>
          <a:noFill/>
          <a:ln/>
        </p:spPr>
        <p:txBody>
          <a:bodyPr wrap="square" lIns="0" tIns="0" rIns="0" bIns="0" rtlCol="0" anchor="ctr"/>
          <a:lstStyle/>
          <a:p>
            <a:pPr algn="ctr" indent="0" marL="0">
              <a:buNone/>
            </a:pPr>
            <a:r>
              <a:rPr lang="en-US" sz="700" b="1" dirty="0">
                <a:solidFill>
                  <a:srgbClr val="FFFFFF"/>
                </a:solidFill>
              </a:rPr>
              <a:t>STRATEGY</a:t>
            </a:r>
            <a:endParaRPr lang="en-US" sz="700" dirty="0"/>
          </a:p>
        </p:txBody>
      </p:sp>
      <p:sp>
        <p:nvSpPr>
          <p:cNvPr id="26" name="Text 21"/>
          <p:cNvSpPr/>
          <p:nvPr/>
        </p:nvSpPr>
        <p:spPr>
          <a:xfrm>
            <a:off x="6227064" y="2157984"/>
            <a:ext cx="2468880" cy="841248"/>
          </a:xfrm>
          <a:prstGeom prst="rect">
            <a:avLst/>
          </a:prstGeom>
          <a:noFill/>
          <a:ln/>
        </p:spPr>
        <p:txBody>
          <a:bodyPr wrap="square" lIns="0" tIns="0" rIns="0" bIns="0" rtlCol="0" anchor="ctr"/>
          <a:lstStyle/>
          <a:p>
            <a:pPr indent="0" marL="0">
              <a:buNone/>
            </a:pPr>
            <a:r>
              <a:rPr lang="en-US" sz="850" dirty="0">
                <a:solidFill>
                  <a:srgbClr val="64748B"/>
                </a:solidFill>
              </a:rPr>
              <a:t>Calculates optimum option count, attribute mix, and price architecture per category and cluster. Generates 3 scenarios (conservative / balanced / aggressive) scored against historical performance and market benchmarks.</a:t>
            </a:r>
            <a:endParaRPr lang="en-US" sz="850" dirty="0"/>
          </a:p>
        </p:txBody>
      </p:sp>
      <p:sp>
        <p:nvSpPr>
          <p:cNvPr id="27" name="Shape 22"/>
          <p:cNvSpPr/>
          <p:nvPr/>
        </p:nvSpPr>
        <p:spPr>
          <a:xfrm>
            <a:off x="201168" y="3291840"/>
            <a:ext cx="2944368" cy="178308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28" name="Shape 23"/>
          <p:cNvSpPr/>
          <p:nvPr/>
        </p:nvSpPr>
        <p:spPr>
          <a:xfrm>
            <a:off x="201168" y="3291840"/>
            <a:ext cx="2944368" cy="64008"/>
          </a:xfrm>
          <a:prstGeom prst="rect">
            <a:avLst/>
          </a:prstGeom>
          <a:solidFill>
            <a:srgbClr val="0D7377"/>
          </a:solidFill>
          <a:ln w="12700">
            <a:solidFill>
              <a:srgbClr val="0D7377"/>
            </a:solidFill>
            <a:prstDash val="solid"/>
          </a:ln>
        </p:spPr>
      </p:sp>
      <p:pic>
        <p:nvPicPr>
          <p:cNvPr id="29" name="Image 3" descr="preencoded.png"/>
          <p:cNvPicPr>
            <a:picLocks noChangeAspect="1"/>
          </p:cNvPicPr>
          <p:nvPr/>
        </p:nvPicPr>
        <p:blipFill>
          <a:blip r:embed="rId4"/>
          <a:stretch>
            <a:fillRect/>
          </a:stretch>
        </p:blipFill>
        <p:spPr>
          <a:xfrm>
            <a:off x="338328" y="3456432"/>
            <a:ext cx="310896" cy="310896"/>
          </a:xfrm>
          <a:prstGeom prst="rect">
            <a:avLst/>
          </a:prstGeom>
        </p:spPr>
      </p:pic>
      <p:sp>
        <p:nvSpPr>
          <p:cNvPr id="30" name="Text 24"/>
          <p:cNvSpPr/>
          <p:nvPr/>
        </p:nvSpPr>
        <p:spPr>
          <a:xfrm>
            <a:off x="731520" y="3401568"/>
            <a:ext cx="2231136" cy="347472"/>
          </a:xfrm>
          <a:prstGeom prst="rect">
            <a:avLst/>
          </a:prstGeom>
          <a:noFill/>
          <a:ln/>
        </p:spPr>
        <p:txBody>
          <a:bodyPr wrap="square" lIns="0" tIns="0" rIns="0" bIns="0" rtlCol="0" anchor="ctr"/>
          <a:lstStyle/>
          <a:p>
            <a:pPr indent="0" marL="0">
              <a:buNone/>
            </a:pPr>
            <a:r>
              <a:rPr lang="en-US" sz="1100" b="1" dirty="0">
                <a:solidFill>
                  <a:srgbClr val="0F2044"/>
                </a:solidFill>
              </a:rPr>
              <a:t>Market Potential Calc.</a:t>
            </a:r>
            <a:endParaRPr lang="en-US" sz="1100" dirty="0"/>
          </a:p>
        </p:txBody>
      </p:sp>
      <p:sp>
        <p:nvSpPr>
          <p:cNvPr id="31" name="Shape 25"/>
          <p:cNvSpPr/>
          <p:nvPr/>
        </p:nvSpPr>
        <p:spPr>
          <a:xfrm>
            <a:off x="731520" y="3767328"/>
            <a:ext cx="749808" cy="201168"/>
          </a:xfrm>
          <a:prstGeom prst="rect">
            <a:avLst/>
          </a:prstGeom>
          <a:solidFill>
            <a:srgbClr val="0D7377"/>
          </a:solidFill>
          <a:ln w="12700">
            <a:solidFill>
              <a:srgbClr val="0D7377"/>
            </a:solidFill>
            <a:prstDash val="solid"/>
          </a:ln>
        </p:spPr>
      </p:sp>
      <p:sp>
        <p:nvSpPr>
          <p:cNvPr id="32" name="Text 26"/>
          <p:cNvSpPr/>
          <p:nvPr/>
        </p:nvSpPr>
        <p:spPr>
          <a:xfrm>
            <a:off x="731520" y="3767328"/>
            <a:ext cx="749808" cy="201168"/>
          </a:xfrm>
          <a:prstGeom prst="rect">
            <a:avLst/>
          </a:prstGeom>
          <a:noFill/>
          <a:ln/>
        </p:spPr>
        <p:txBody>
          <a:bodyPr wrap="square" lIns="0" tIns="0" rIns="0" bIns="0" rtlCol="0" anchor="ctr"/>
          <a:lstStyle/>
          <a:p>
            <a:pPr algn="ctr" indent="0" marL="0">
              <a:buNone/>
            </a:pPr>
            <a:r>
              <a:rPr lang="en-US" sz="700" b="1" dirty="0">
                <a:solidFill>
                  <a:srgbClr val="FFFFFF"/>
                </a:solidFill>
              </a:rPr>
              <a:t>STRATEGY</a:t>
            </a:r>
            <a:endParaRPr lang="en-US" sz="700" dirty="0"/>
          </a:p>
        </p:txBody>
      </p:sp>
      <p:sp>
        <p:nvSpPr>
          <p:cNvPr id="33" name="Text 27"/>
          <p:cNvSpPr/>
          <p:nvPr/>
        </p:nvSpPr>
        <p:spPr>
          <a:xfrm>
            <a:off x="338328" y="4059936"/>
            <a:ext cx="2670048" cy="841248"/>
          </a:xfrm>
          <a:prstGeom prst="rect">
            <a:avLst/>
          </a:prstGeom>
          <a:noFill/>
          <a:ln/>
        </p:spPr>
        <p:txBody>
          <a:bodyPr wrap="square" lIns="0" tIns="0" rIns="0" bIns="0" rtlCol="0" anchor="ctr"/>
          <a:lstStyle/>
          <a:p>
            <a:pPr indent="0" marL="0">
              <a:buNone/>
            </a:pPr>
            <a:r>
              <a:rPr lang="en-US" sz="850" dirty="0">
                <a:solidFill>
                  <a:srgbClr val="64748B"/>
                </a:solidFill>
              </a:rPr>
              <a:t>Estimates addressable revenue per category, cluster and channel. Combines internal sell-through benchmarks with external market index data. Outputs a market opportunity score used to weight assortment breadth decisions.</a:t>
            </a:r>
            <a:endParaRPr lang="en-US" sz="850" dirty="0"/>
          </a:p>
        </p:txBody>
      </p:sp>
      <p:sp>
        <p:nvSpPr>
          <p:cNvPr id="34" name="Shape 28"/>
          <p:cNvSpPr/>
          <p:nvPr/>
        </p:nvSpPr>
        <p:spPr>
          <a:xfrm>
            <a:off x="3145536" y="3291840"/>
            <a:ext cx="2944368" cy="178308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35" name="Shape 29"/>
          <p:cNvSpPr/>
          <p:nvPr/>
        </p:nvSpPr>
        <p:spPr>
          <a:xfrm>
            <a:off x="3145536" y="3291840"/>
            <a:ext cx="2944368" cy="64008"/>
          </a:xfrm>
          <a:prstGeom prst="rect">
            <a:avLst/>
          </a:prstGeom>
          <a:solidFill>
            <a:srgbClr val="0D7377"/>
          </a:solidFill>
          <a:ln w="12700">
            <a:solidFill>
              <a:srgbClr val="0D7377"/>
            </a:solidFill>
            <a:prstDash val="solid"/>
          </a:ln>
        </p:spPr>
      </p:sp>
      <p:pic>
        <p:nvPicPr>
          <p:cNvPr id="36" name="Image 4" descr="preencoded.png"/>
          <p:cNvPicPr>
            <a:picLocks noChangeAspect="1"/>
          </p:cNvPicPr>
          <p:nvPr/>
        </p:nvPicPr>
        <p:blipFill>
          <a:blip r:embed="rId5"/>
          <a:stretch>
            <a:fillRect/>
          </a:stretch>
        </p:blipFill>
        <p:spPr>
          <a:xfrm>
            <a:off x="3282696" y="3456432"/>
            <a:ext cx="310896" cy="310896"/>
          </a:xfrm>
          <a:prstGeom prst="rect">
            <a:avLst/>
          </a:prstGeom>
        </p:spPr>
      </p:pic>
      <p:sp>
        <p:nvSpPr>
          <p:cNvPr id="37" name="Text 30"/>
          <p:cNvSpPr/>
          <p:nvPr/>
        </p:nvSpPr>
        <p:spPr>
          <a:xfrm>
            <a:off x="3675888" y="3401568"/>
            <a:ext cx="2231136" cy="347472"/>
          </a:xfrm>
          <a:prstGeom prst="rect">
            <a:avLst/>
          </a:prstGeom>
          <a:noFill/>
          <a:ln/>
        </p:spPr>
        <p:txBody>
          <a:bodyPr wrap="square" lIns="0" tIns="0" rIns="0" bIns="0" rtlCol="0" anchor="ctr"/>
          <a:lstStyle/>
          <a:p>
            <a:pPr indent="0" marL="0">
              <a:buNone/>
            </a:pPr>
            <a:r>
              <a:rPr lang="en-US" sz="1100" b="1" dirty="0">
                <a:solidFill>
                  <a:srgbClr val="0F2044"/>
                </a:solidFill>
              </a:rPr>
              <a:t>Buy Quantity Engine</a:t>
            </a:r>
            <a:endParaRPr lang="en-US" sz="1100" dirty="0"/>
          </a:p>
        </p:txBody>
      </p:sp>
      <p:sp>
        <p:nvSpPr>
          <p:cNvPr id="38" name="Shape 31"/>
          <p:cNvSpPr/>
          <p:nvPr/>
        </p:nvSpPr>
        <p:spPr>
          <a:xfrm>
            <a:off x="3675888" y="3767328"/>
            <a:ext cx="749808" cy="201168"/>
          </a:xfrm>
          <a:prstGeom prst="rect">
            <a:avLst/>
          </a:prstGeom>
          <a:solidFill>
            <a:srgbClr val="0D7377"/>
          </a:solidFill>
          <a:ln w="12700">
            <a:solidFill>
              <a:srgbClr val="0D7377"/>
            </a:solidFill>
            <a:prstDash val="solid"/>
          </a:ln>
        </p:spPr>
      </p:sp>
      <p:sp>
        <p:nvSpPr>
          <p:cNvPr id="39" name="Text 32"/>
          <p:cNvSpPr/>
          <p:nvPr/>
        </p:nvSpPr>
        <p:spPr>
          <a:xfrm>
            <a:off x="3675888" y="3767328"/>
            <a:ext cx="749808" cy="201168"/>
          </a:xfrm>
          <a:prstGeom prst="rect">
            <a:avLst/>
          </a:prstGeom>
          <a:noFill/>
          <a:ln/>
        </p:spPr>
        <p:txBody>
          <a:bodyPr wrap="square" lIns="0" tIns="0" rIns="0" bIns="0" rtlCol="0" anchor="ctr"/>
          <a:lstStyle/>
          <a:p>
            <a:pPr algn="ctr" indent="0" marL="0">
              <a:buNone/>
            </a:pPr>
            <a:r>
              <a:rPr lang="en-US" sz="700" b="1" dirty="0">
                <a:solidFill>
                  <a:srgbClr val="FFFFFF"/>
                </a:solidFill>
              </a:rPr>
              <a:t>LINE PLAN</a:t>
            </a:r>
            <a:endParaRPr lang="en-US" sz="700" dirty="0"/>
          </a:p>
        </p:txBody>
      </p:sp>
      <p:sp>
        <p:nvSpPr>
          <p:cNvPr id="40" name="Text 33"/>
          <p:cNvSpPr/>
          <p:nvPr/>
        </p:nvSpPr>
        <p:spPr>
          <a:xfrm>
            <a:off x="3282696" y="4059936"/>
            <a:ext cx="2670048" cy="841248"/>
          </a:xfrm>
          <a:prstGeom prst="rect">
            <a:avLst/>
          </a:prstGeom>
          <a:noFill/>
          <a:ln/>
        </p:spPr>
        <p:txBody>
          <a:bodyPr wrap="square" lIns="0" tIns="0" rIns="0" bIns="0" rtlCol="0" anchor="ctr"/>
          <a:lstStyle/>
          <a:p>
            <a:pPr indent="0" marL="0">
              <a:buNone/>
            </a:pPr>
            <a:r>
              <a:rPr lang="en-US" sz="850" dirty="0">
                <a:solidFill>
                  <a:srgbClr val="64748B"/>
                </a:solidFill>
              </a:rPr>
              <a:t>Calculates unit buys per option per cluster from confirmed OTB, option count, size ratios and cover weeks targets. Applies safety stock logic and minimum order quantity constraints. Output: finalised buy sheet per placeholder.</a:t>
            </a:r>
            <a:endParaRPr lang="en-US" sz="850" dirty="0"/>
          </a:p>
        </p:txBody>
      </p:sp>
      <p:sp>
        <p:nvSpPr>
          <p:cNvPr id="41" name="Shape 34"/>
          <p:cNvSpPr/>
          <p:nvPr/>
        </p:nvSpPr>
        <p:spPr>
          <a:xfrm>
            <a:off x="201168" y="4736592"/>
            <a:ext cx="8741664" cy="274320"/>
          </a:xfrm>
          <a:prstGeom prst="rect">
            <a:avLst/>
          </a:prstGeom>
          <a:solidFill>
            <a:srgbClr val="0F2044"/>
          </a:solidFill>
          <a:ln w="12700">
            <a:solidFill>
              <a:srgbClr val="0F2044"/>
            </a:solidFill>
            <a:prstDash val="solid"/>
          </a:ln>
        </p:spPr>
      </p:sp>
      <p:sp>
        <p:nvSpPr>
          <p:cNvPr id="42" name="Text 35"/>
          <p:cNvSpPr/>
          <p:nvPr/>
        </p:nvSpPr>
        <p:spPr>
          <a:xfrm>
            <a:off x="320040" y="4736592"/>
            <a:ext cx="8503920" cy="274320"/>
          </a:xfrm>
          <a:prstGeom prst="rect">
            <a:avLst/>
          </a:prstGeom>
          <a:noFill/>
          <a:ln/>
        </p:spPr>
        <p:txBody>
          <a:bodyPr wrap="square" lIns="0" tIns="0" rIns="0" bIns="0" rtlCol="0" anchor="ctr"/>
          <a:lstStyle/>
          <a:p>
            <a:pPr indent="0" marL="0">
              <a:buNone/>
            </a:pPr>
            <a:r>
              <a:rPr lang="en-US" sz="900" dirty="0">
                <a:solidFill>
                  <a:srgbClr val="FFFFFF"/>
                </a:solidFill>
              </a:rPr>
              <a:t>🏛  GOLDEN RULE: If a retailer requirement changes any of these algorithms → it is a platform roadmap item, not a retailer extension. Never shortcut it into core.</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F2044"/>
          </a:solidFill>
          <a:ln w="12700">
            <a:solidFill>
              <a:srgbClr val="0F2044"/>
            </a:solidFill>
            <a:prstDash val="solid"/>
          </a:ln>
        </p:spPr>
      </p:sp>
      <p:sp>
        <p:nvSpPr>
          <p:cNvPr id="3" name="Text 1"/>
          <p:cNvSpPr/>
          <p:nvPr/>
        </p:nvSpPr>
        <p:spPr>
          <a:xfrm>
            <a:off x="365760" y="0"/>
            <a:ext cx="7315200" cy="658368"/>
          </a:xfrm>
          <a:prstGeom prst="rect">
            <a:avLst/>
          </a:prstGeom>
          <a:noFill/>
          <a:ln/>
        </p:spPr>
        <p:txBody>
          <a:bodyPr wrap="square" lIns="0" tIns="0" rIns="0" bIns="0" rtlCol="0" anchor="ctr"/>
          <a:lstStyle/>
          <a:p>
            <a:pPr indent="0" marL="0">
              <a:buNone/>
            </a:pPr>
            <a:r>
              <a:rPr lang="en-US" sz="1000" b="1" spc="300" kern="0" dirty="0">
                <a:solidFill>
                  <a:srgbClr val="FFFFFF"/>
                </a:solidFill>
              </a:rPr>
              <a:t>LAYER 2 — CONFIGURABLE WORKFLOW BETWEEN MODULES</a:t>
            </a:r>
            <a:endParaRPr lang="en-US" sz="1000" dirty="0"/>
          </a:p>
        </p:txBody>
      </p:sp>
      <p:sp>
        <p:nvSpPr>
          <p:cNvPr id="4" name="Text 2"/>
          <p:cNvSpPr/>
          <p:nvPr/>
        </p:nvSpPr>
        <p:spPr>
          <a:xfrm>
            <a:off x="7863840" y="0"/>
            <a:ext cx="1097280" cy="658368"/>
          </a:xfrm>
          <a:prstGeom prst="rect">
            <a:avLst/>
          </a:prstGeom>
          <a:noFill/>
          <a:ln/>
        </p:spPr>
        <p:txBody>
          <a:bodyPr wrap="square" lIns="0" tIns="0" rIns="0" bIns="0" rtlCol="0" anchor="ctr"/>
          <a:lstStyle/>
          <a:p>
            <a:pPr algn="r" indent="0" marL="0">
              <a:buNone/>
            </a:pPr>
            <a:r>
              <a:rPr lang="en-US" sz="900" dirty="0">
                <a:solidFill>
                  <a:srgbClr val="94A3B8"/>
                </a:solidFill>
              </a:rPr>
              <a:t>ARCH-02</a:t>
            </a:r>
            <a:endParaRPr lang="en-US" sz="900" dirty="0"/>
          </a:p>
        </p:txBody>
      </p:sp>
      <p:sp>
        <p:nvSpPr>
          <p:cNvPr id="5" name="Text 3"/>
          <p:cNvSpPr/>
          <p:nvPr/>
        </p:nvSpPr>
        <p:spPr>
          <a:xfrm>
            <a:off x="365760" y="749808"/>
            <a:ext cx="8412480" cy="411480"/>
          </a:xfrm>
          <a:prstGeom prst="rect">
            <a:avLst/>
          </a:prstGeom>
          <a:noFill/>
          <a:ln/>
        </p:spPr>
        <p:txBody>
          <a:bodyPr wrap="square" lIns="0" tIns="0" rIns="0" bIns="0" rtlCol="0" anchor="ctr"/>
          <a:lstStyle/>
          <a:p>
            <a:pPr indent="0" marL="0">
              <a:buNone/>
            </a:pPr>
            <a:r>
              <a:rPr lang="en-US" sz="1100" dirty="0">
                <a:solidFill>
                  <a:srgbClr val="64748B"/>
                </a:solidFill>
              </a:rPr>
              <a:t>The algorithms never change. How they connect — which stages a retailer runs, in what order, what triggers a transition, and what external services fire — is fully configurable per tenant.</a:t>
            </a:r>
            <a:endParaRPr lang="en-US" sz="1100" dirty="0"/>
          </a:p>
        </p:txBody>
      </p:sp>
      <p:sp>
        <p:nvSpPr>
          <p:cNvPr id="6" name="Shape 4"/>
          <p:cNvSpPr/>
          <p:nvPr/>
        </p:nvSpPr>
        <p:spPr>
          <a:xfrm>
            <a:off x="201168" y="1298448"/>
            <a:ext cx="5303520" cy="1097280"/>
          </a:xfrm>
          <a:prstGeom prst="rect">
            <a:avLst/>
          </a:prstGeom>
          <a:solidFill>
            <a:srgbClr val="EFF6FF"/>
          </a:solidFill>
          <a:ln w="12700">
            <a:solidFill>
              <a:srgbClr val="93C5FD"/>
            </a:solidFill>
            <a:prstDash val="solid"/>
          </a:ln>
          <a:effectLst>
            <a:outerShdw sx="100000" sy="100000" kx="0" ky="0" algn="bl" rotWithShape="0" blurRad="101600" dist="38100" dir="8100000">
              <a:srgbClr val="000000">
                <a:alpha val="10000"/>
              </a:srgbClr>
            </a:outerShdw>
          </a:effectLst>
        </p:spPr>
      </p:sp>
      <p:sp>
        <p:nvSpPr>
          <p:cNvPr id="7" name="Text 5"/>
          <p:cNvSpPr/>
          <p:nvPr/>
        </p:nvSpPr>
        <p:spPr>
          <a:xfrm>
            <a:off x="365760" y="1389888"/>
            <a:ext cx="4937760" cy="256032"/>
          </a:xfrm>
          <a:prstGeom prst="rect">
            <a:avLst/>
          </a:prstGeom>
          <a:noFill/>
          <a:ln/>
        </p:spPr>
        <p:txBody>
          <a:bodyPr wrap="square" lIns="0" tIns="0" rIns="0" bIns="0" rtlCol="0" anchor="ctr"/>
          <a:lstStyle/>
          <a:p>
            <a:pPr indent="0" marL="0">
              <a:buNone/>
            </a:pPr>
            <a:r>
              <a:rPr lang="en-US" sz="1000" b="1" dirty="0">
                <a:solidFill>
                  <a:srgbClr val="0F2044"/>
                </a:solidFill>
              </a:rPr>
              <a:t>RETAILER A — Fast Fashion</a:t>
            </a:r>
            <a:endParaRPr lang="en-US" sz="1000" dirty="0"/>
          </a:p>
        </p:txBody>
      </p:sp>
      <p:sp>
        <p:nvSpPr>
          <p:cNvPr id="8" name="Text 6"/>
          <p:cNvSpPr/>
          <p:nvPr/>
        </p:nvSpPr>
        <p:spPr>
          <a:xfrm>
            <a:off x="365760" y="1645920"/>
            <a:ext cx="4937760" cy="274320"/>
          </a:xfrm>
          <a:prstGeom prst="rect">
            <a:avLst/>
          </a:prstGeom>
          <a:noFill/>
          <a:ln/>
        </p:spPr>
        <p:txBody>
          <a:bodyPr wrap="square" lIns="0" tIns="0" rIns="0" bIns="0" rtlCol="0" anchor="ctr"/>
          <a:lstStyle/>
          <a:p>
            <a:pPr indent="0" marL="0">
              <a:buNone/>
            </a:pPr>
            <a:r>
              <a:rPr lang="en-US" sz="850" b="1" dirty="0">
                <a:solidFill>
                  <a:srgbClr val="334155"/>
                </a:solidFill>
              </a:rPr>
              <a:t xml:space="preserve">Flow: </a:t>
            </a:r>
            <a:pPr indent="0" marL="0">
              <a:buNone/>
            </a:pPr>
            <a:r>
              <a:rPr lang="en-US" sz="850" dirty="0">
                <a:solidFill>
                  <a:srgbClr val="64748B"/>
                </a:solidFill>
              </a:rPr>
              <a:t>Setup → Hindsight → Line Plan (skips Strategy — uses last season weights)</a:t>
            </a:r>
            <a:endParaRPr lang="en-US" sz="850" dirty="0"/>
          </a:p>
        </p:txBody>
      </p:sp>
      <p:sp>
        <p:nvSpPr>
          <p:cNvPr id="9" name="Text 7"/>
          <p:cNvSpPr/>
          <p:nvPr/>
        </p:nvSpPr>
        <p:spPr>
          <a:xfrm>
            <a:off x="365760" y="1892808"/>
            <a:ext cx="4937760" cy="256032"/>
          </a:xfrm>
          <a:prstGeom prst="rect">
            <a:avLst/>
          </a:prstGeom>
          <a:noFill/>
          <a:ln/>
        </p:spPr>
        <p:txBody>
          <a:bodyPr wrap="square" lIns="0" tIns="0" rIns="0" bIns="0" rtlCol="0" anchor="ctr"/>
          <a:lstStyle/>
          <a:p>
            <a:pPr indent="0" marL="0">
              <a:buNone/>
            </a:pPr>
            <a:r>
              <a:rPr lang="en-US" sz="850" b="1" dirty="0">
                <a:solidFill>
                  <a:srgbClr val="334155"/>
                </a:solidFill>
              </a:rPr>
              <a:t xml:space="preserve">Hooks: </a:t>
            </a:r>
            <a:pPr indent="0" marL="0">
              <a:buNone/>
            </a:pPr>
            <a:r>
              <a:rPr lang="en-US" sz="850" dirty="0">
                <a:solidFill>
                  <a:srgbClr val="64748B"/>
                </a:solidFill>
              </a:rPr>
              <a:t>↓ History from DWH before Hindsight  |  ↑ Buy quantities to OMS after Line Plan</a:t>
            </a:r>
            <a:endParaRPr lang="en-US" sz="850" dirty="0"/>
          </a:p>
        </p:txBody>
      </p:sp>
      <p:sp>
        <p:nvSpPr>
          <p:cNvPr id="10" name="Text 8"/>
          <p:cNvSpPr/>
          <p:nvPr/>
        </p:nvSpPr>
        <p:spPr>
          <a:xfrm>
            <a:off x="365760" y="2121408"/>
            <a:ext cx="4937760" cy="219456"/>
          </a:xfrm>
          <a:prstGeom prst="rect">
            <a:avLst/>
          </a:prstGeom>
          <a:noFill/>
          <a:ln/>
        </p:spPr>
        <p:txBody>
          <a:bodyPr wrap="square" lIns="0" tIns="0" rIns="0" bIns="0" rtlCol="0" anchor="ctr"/>
          <a:lstStyle/>
          <a:p>
            <a:pPr indent="0" marL="0">
              <a:buNone/>
            </a:pPr>
            <a:r>
              <a:rPr lang="en-US" sz="800" b="1" dirty="0">
                <a:solidFill>
                  <a:srgbClr val="334155"/>
                </a:solidFill>
              </a:rPr>
              <a:t xml:space="preserve">Config: </a:t>
            </a:r>
            <a:pPr indent="0" marL="0">
              <a:buNone/>
            </a:pPr>
            <a:r>
              <a:rPr lang="en-US" sz="800" dirty="0">
                <a:solidFill>
                  <a:srgbClr val="64748B"/>
                </a:solidFill>
              </a:rPr>
              <a:t>DOS threshold: 8 wks  |  Min options: 6  |  Auto-approve OTB &lt; £200k</a:t>
            </a:r>
            <a:endParaRPr lang="en-US" sz="800" dirty="0"/>
          </a:p>
        </p:txBody>
      </p:sp>
      <p:sp>
        <p:nvSpPr>
          <p:cNvPr id="11" name="Shape 9"/>
          <p:cNvSpPr/>
          <p:nvPr/>
        </p:nvSpPr>
        <p:spPr>
          <a:xfrm>
            <a:off x="201168" y="2532888"/>
            <a:ext cx="5303520" cy="1097280"/>
          </a:xfrm>
          <a:prstGeom prst="rect">
            <a:avLst/>
          </a:prstGeom>
          <a:solidFill>
            <a:srgbClr val="F5F3FF"/>
          </a:solidFill>
          <a:ln w="12700">
            <a:solidFill>
              <a:srgbClr val="C4B5FD"/>
            </a:solidFill>
            <a:prstDash val="solid"/>
          </a:ln>
          <a:effectLst>
            <a:outerShdw sx="100000" sy="100000" kx="0" ky="0" algn="bl" rotWithShape="0" blurRad="101600" dist="38100" dir="8100000">
              <a:srgbClr val="000000">
                <a:alpha val="10000"/>
              </a:srgbClr>
            </a:outerShdw>
          </a:effectLst>
        </p:spPr>
      </p:sp>
      <p:sp>
        <p:nvSpPr>
          <p:cNvPr id="12" name="Text 10"/>
          <p:cNvSpPr/>
          <p:nvPr/>
        </p:nvSpPr>
        <p:spPr>
          <a:xfrm>
            <a:off x="365760" y="2624328"/>
            <a:ext cx="4937760" cy="256032"/>
          </a:xfrm>
          <a:prstGeom prst="rect">
            <a:avLst/>
          </a:prstGeom>
          <a:noFill/>
          <a:ln/>
        </p:spPr>
        <p:txBody>
          <a:bodyPr wrap="square" lIns="0" tIns="0" rIns="0" bIns="0" rtlCol="0" anchor="ctr"/>
          <a:lstStyle/>
          <a:p>
            <a:pPr indent="0" marL="0">
              <a:buNone/>
            </a:pPr>
            <a:r>
              <a:rPr lang="en-US" sz="1000" b="1" dirty="0">
                <a:solidFill>
                  <a:srgbClr val="0F2044"/>
                </a:solidFill>
              </a:rPr>
              <a:t>RETAILER B — Luxury</a:t>
            </a:r>
            <a:endParaRPr lang="en-US" sz="1000" dirty="0"/>
          </a:p>
        </p:txBody>
      </p:sp>
      <p:sp>
        <p:nvSpPr>
          <p:cNvPr id="13" name="Text 11"/>
          <p:cNvSpPr/>
          <p:nvPr/>
        </p:nvSpPr>
        <p:spPr>
          <a:xfrm>
            <a:off x="365760" y="2880360"/>
            <a:ext cx="4937760" cy="274320"/>
          </a:xfrm>
          <a:prstGeom prst="rect">
            <a:avLst/>
          </a:prstGeom>
          <a:noFill/>
          <a:ln/>
        </p:spPr>
        <p:txBody>
          <a:bodyPr wrap="square" lIns="0" tIns="0" rIns="0" bIns="0" rtlCol="0" anchor="ctr"/>
          <a:lstStyle/>
          <a:p>
            <a:pPr indent="0" marL="0">
              <a:buNone/>
            </a:pPr>
            <a:r>
              <a:rPr lang="en-US" sz="850" b="1" dirty="0">
                <a:solidFill>
                  <a:srgbClr val="334155"/>
                </a:solidFill>
              </a:rPr>
              <a:t xml:space="preserve">Flow: </a:t>
            </a:r>
            <a:pPr indent="0" marL="0">
              <a:buNone/>
            </a:pPr>
            <a:r>
              <a:rPr lang="en-US" sz="850" dirty="0">
                <a:solidFill>
                  <a:srgbClr val="64748B"/>
                </a:solidFill>
              </a:rPr>
              <a:t>Setup → Hindsight → Strategy → Strategy sign-off gate → Line Plan → Approval</a:t>
            </a:r>
            <a:endParaRPr lang="en-US" sz="850" dirty="0"/>
          </a:p>
        </p:txBody>
      </p:sp>
      <p:sp>
        <p:nvSpPr>
          <p:cNvPr id="14" name="Text 12"/>
          <p:cNvSpPr/>
          <p:nvPr/>
        </p:nvSpPr>
        <p:spPr>
          <a:xfrm>
            <a:off x="365760" y="3127248"/>
            <a:ext cx="4937760" cy="256032"/>
          </a:xfrm>
          <a:prstGeom prst="rect">
            <a:avLst/>
          </a:prstGeom>
          <a:noFill/>
          <a:ln/>
        </p:spPr>
        <p:txBody>
          <a:bodyPr wrap="square" lIns="0" tIns="0" rIns="0" bIns="0" rtlCol="0" anchor="ctr"/>
          <a:lstStyle/>
          <a:p>
            <a:pPr indent="0" marL="0">
              <a:buNone/>
            </a:pPr>
            <a:r>
              <a:rPr lang="en-US" sz="850" b="1" dirty="0">
                <a:solidFill>
                  <a:srgbClr val="334155"/>
                </a:solidFill>
              </a:rPr>
              <a:t xml:space="preserve">Hooks: </a:t>
            </a:r>
            <a:pPr indent="0" marL="0">
              <a:buNone/>
            </a:pPr>
            <a:r>
              <a:rPr lang="en-US" sz="850" dirty="0">
                <a:solidFill>
                  <a:srgbClr val="64748B"/>
                </a:solidFill>
              </a:rPr>
              <a:t>↓ PLM product data before Setup  |  ↑ Range plan to PLM after Strategy  |  ↑ Final plan to ERP</a:t>
            </a:r>
            <a:endParaRPr lang="en-US" sz="850" dirty="0"/>
          </a:p>
        </p:txBody>
      </p:sp>
      <p:sp>
        <p:nvSpPr>
          <p:cNvPr id="15" name="Text 13"/>
          <p:cNvSpPr/>
          <p:nvPr/>
        </p:nvSpPr>
        <p:spPr>
          <a:xfrm>
            <a:off x="365760" y="3355848"/>
            <a:ext cx="4937760" cy="219456"/>
          </a:xfrm>
          <a:prstGeom prst="rect">
            <a:avLst/>
          </a:prstGeom>
          <a:noFill/>
          <a:ln/>
        </p:spPr>
        <p:txBody>
          <a:bodyPr wrap="square" lIns="0" tIns="0" rIns="0" bIns="0" rtlCol="0" anchor="ctr"/>
          <a:lstStyle/>
          <a:p>
            <a:pPr indent="0" marL="0">
              <a:buNone/>
            </a:pPr>
            <a:r>
              <a:rPr lang="en-US" sz="800" b="1" dirty="0">
                <a:solidFill>
                  <a:srgbClr val="334155"/>
                </a:solidFill>
              </a:rPr>
              <a:t xml:space="preserve">Config: </a:t>
            </a:r>
            <a:pPr indent="0" marL="0">
              <a:buNone/>
            </a:pPr>
            <a:r>
              <a:rPr lang="en-US" sz="800" dirty="0">
                <a:solidFill>
                  <a:srgbClr val="64748B"/>
                </a:solidFill>
              </a:rPr>
              <a:t>Price tier: ≥1 option &gt; £500  |  Dual approval &gt; £1M  |  Cohesion floor: 80</a:t>
            </a:r>
            <a:endParaRPr lang="en-US" sz="800" dirty="0"/>
          </a:p>
        </p:txBody>
      </p:sp>
      <p:sp>
        <p:nvSpPr>
          <p:cNvPr id="16" name="Shape 14"/>
          <p:cNvSpPr/>
          <p:nvPr/>
        </p:nvSpPr>
        <p:spPr>
          <a:xfrm>
            <a:off x="201168" y="3767328"/>
            <a:ext cx="5303520" cy="1097280"/>
          </a:xfrm>
          <a:prstGeom prst="rect">
            <a:avLst/>
          </a:prstGeom>
          <a:solidFill>
            <a:srgbClr val="F0FDF4"/>
          </a:solidFill>
          <a:ln w="12700">
            <a:solidFill>
              <a:srgbClr val="6EE7B7"/>
            </a:solidFill>
            <a:prstDash val="solid"/>
          </a:ln>
          <a:effectLst>
            <a:outerShdw sx="100000" sy="100000" kx="0" ky="0" algn="bl" rotWithShape="0" blurRad="101600" dist="38100" dir="8100000">
              <a:srgbClr val="000000">
                <a:alpha val="10000"/>
              </a:srgbClr>
            </a:outerShdw>
          </a:effectLst>
        </p:spPr>
      </p:sp>
      <p:sp>
        <p:nvSpPr>
          <p:cNvPr id="17" name="Text 15"/>
          <p:cNvSpPr/>
          <p:nvPr/>
        </p:nvSpPr>
        <p:spPr>
          <a:xfrm>
            <a:off x="365760" y="3858768"/>
            <a:ext cx="4937760" cy="256032"/>
          </a:xfrm>
          <a:prstGeom prst="rect">
            <a:avLst/>
          </a:prstGeom>
          <a:noFill/>
          <a:ln/>
        </p:spPr>
        <p:txBody>
          <a:bodyPr wrap="square" lIns="0" tIns="0" rIns="0" bIns="0" rtlCol="0" anchor="ctr"/>
          <a:lstStyle/>
          <a:p>
            <a:pPr indent="0" marL="0">
              <a:buNone/>
            </a:pPr>
            <a:r>
              <a:rPr lang="en-US" sz="1000" b="1" dirty="0">
                <a:solidFill>
                  <a:srgbClr val="0F2044"/>
                </a:solidFill>
              </a:rPr>
              <a:t>RETAILER C — Grocery / FMCG</a:t>
            </a:r>
            <a:endParaRPr lang="en-US" sz="1000" dirty="0"/>
          </a:p>
        </p:txBody>
      </p:sp>
      <p:sp>
        <p:nvSpPr>
          <p:cNvPr id="18" name="Text 16"/>
          <p:cNvSpPr/>
          <p:nvPr/>
        </p:nvSpPr>
        <p:spPr>
          <a:xfrm>
            <a:off x="365760" y="4114800"/>
            <a:ext cx="4937760" cy="274320"/>
          </a:xfrm>
          <a:prstGeom prst="rect">
            <a:avLst/>
          </a:prstGeom>
          <a:noFill/>
          <a:ln/>
        </p:spPr>
        <p:txBody>
          <a:bodyPr wrap="square" lIns="0" tIns="0" rIns="0" bIns="0" rtlCol="0" anchor="ctr"/>
          <a:lstStyle/>
          <a:p>
            <a:pPr indent="0" marL="0">
              <a:buNone/>
            </a:pPr>
            <a:r>
              <a:rPr lang="en-US" sz="850" b="1" dirty="0">
                <a:solidFill>
                  <a:srgbClr val="334155"/>
                </a:solidFill>
              </a:rPr>
              <a:t xml:space="preserve">Flow: </a:t>
            </a:r>
            <a:pPr indent="0" marL="0">
              <a:buNone/>
            </a:pPr>
            <a:r>
              <a:rPr lang="en-US" sz="850" dirty="0">
                <a:solidFill>
                  <a:srgbClr val="64748B"/>
                </a:solidFill>
              </a:rPr>
              <a:t>Setup → Hindsight → Market Potential (external data pull) → Strategy → Line Plan</a:t>
            </a:r>
            <a:endParaRPr lang="en-US" sz="850" dirty="0"/>
          </a:p>
        </p:txBody>
      </p:sp>
      <p:sp>
        <p:nvSpPr>
          <p:cNvPr id="19" name="Text 17"/>
          <p:cNvSpPr/>
          <p:nvPr/>
        </p:nvSpPr>
        <p:spPr>
          <a:xfrm>
            <a:off x="365760" y="4361688"/>
            <a:ext cx="4937760" cy="256032"/>
          </a:xfrm>
          <a:prstGeom prst="rect">
            <a:avLst/>
          </a:prstGeom>
          <a:noFill/>
          <a:ln/>
        </p:spPr>
        <p:txBody>
          <a:bodyPr wrap="square" lIns="0" tIns="0" rIns="0" bIns="0" rtlCol="0" anchor="ctr"/>
          <a:lstStyle/>
          <a:p>
            <a:pPr indent="0" marL="0">
              <a:buNone/>
            </a:pPr>
            <a:r>
              <a:rPr lang="en-US" sz="850" b="1" dirty="0">
                <a:solidFill>
                  <a:srgbClr val="334155"/>
                </a:solidFill>
              </a:rPr>
              <a:t xml:space="preserve">Hooks: </a:t>
            </a:r>
            <a:pPr indent="0" marL="0">
              <a:buNone/>
            </a:pPr>
            <a:r>
              <a:rPr lang="en-US" sz="850" dirty="0">
                <a:solidFill>
                  <a:srgbClr val="64748B"/>
                </a:solidFill>
              </a:rPr>
              <a:t>↓ Market index data before Strategy  |  ↑ Confirmed OTB to Finance system post-Approval</a:t>
            </a:r>
            <a:endParaRPr lang="en-US" sz="850" dirty="0"/>
          </a:p>
        </p:txBody>
      </p:sp>
      <p:sp>
        <p:nvSpPr>
          <p:cNvPr id="20" name="Text 18"/>
          <p:cNvSpPr/>
          <p:nvPr/>
        </p:nvSpPr>
        <p:spPr>
          <a:xfrm>
            <a:off x="365760" y="4590288"/>
            <a:ext cx="4937760" cy="219456"/>
          </a:xfrm>
          <a:prstGeom prst="rect">
            <a:avLst/>
          </a:prstGeom>
          <a:noFill/>
          <a:ln/>
        </p:spPr>
        <p:txBody>
          <a:bodyPr wrap="square" lIns="0" tIns="0" rIns="0" bIns="0" rtlCol="0" anchor="ctr"/>
          <a:lstStyle/>
          <a:p>
            <a:pPr indent="0" marL="0">
              <a:buNone/>
            </a:pPr>
            <a:r>
              <a:rPr lang="en-US" sz="800" b="1" dirty="0">
                <a:solidFill>
                  <a:srgbClr val="334155"/>
                </a:solidFill>
              </a:rPr>
              <a:t xml:space="preserve">Config: </a:t>
            </a:r>
            <a:pPr indent="0" marL="0">
              <a:buNone/>
            </a:pPr>
            <a:r>
              <a:rPr lang="en-US" sz="800" dirty="0">
                <a:solidFill>
                  <a:srgbClr val="64748B"/>
                </a:solidFill>
              </a:rPr>
              <a:t>Cover weeks: 4–6  |  Cluster count: 12  |  Regional spread rules via extension</a:t>
            </a:r>
            <a:endParaRPr lang="en-US" sz="800" dirty="0"/>
          </a:p>
        </p:txBody>
      </p:sp>
      <p:sp>
        <p:nvSpPr>
          <p:cNvPr id="21" name="Shape 19"/>
          <p:cNvSpPr/>
          <p:nvPr/>
        </p:nvSpPr>
        <p:spPr>
          <a:xfrm>
            <a:off x="5760720" y="1298448"/>
            <a:ext cx="3182112" cy="3703320"/>
          </a:xfrm>
          <a:prstGeom prst="rect">
            <a:avLst/>
          </a:prstGeom>
          <a:solidFill>
            <a:srgbClr val="F7F9FC"/>
          </a:solidFill>
          <a:ln w="12700">
            <a:solidFill>
              <a:srgbClr val="E2E8F0"/>
            </a:solidFill>
            <a:prstDash val="solid"/>
          </a:ln>
        </p:spPr>
      </p:sp>
      <p:sp>
        <p:nvSpPr>
          <p:cNvPr id="22" name="Text 20"/>
          <p:cNvSpPr/>
          <p:nvPr/>
        </p:nvSpPr>
        <p:spPr>
          <a:xfrm>
            <a:off x="5925312" y="1417320"/>
            <a:ext cx="2834640" cy="274320"/>
          </a:xfrm>
          <a:prstGeom prst="rect">
            <a:avLst/>
          </a:prstGeom>
          <a:noFill/>
          <a:ln/>
        </p:spPr>
        <p:txBody>
          <a:bodyPr wrap="square" lIns="0" tIns="0" rIns="0" bIns="0" rtlCol="0" anchor="ctr"/>
          <a:lstStyle/>
          <a:p>
            <a:pPr indent="0" marL="0">
              <a:buNone/>
            </a:pPr>
            <a:r>
              <a:rPr lang="en-US" sz="900" b="1" spc="200" kern="0" dirty="0">
                <a:solidFill>
                  <a:srgbClr val="0D7377"/>
                </a:solidFill>
              </a:rPr>
              <a:t>WHAT IS CONFIGURABLE</a:t>
            </a:r>
            <a:endParaRPr lang="en-US" sz="900" dirty="0"/>
          </a:p>
        </p:txBody>
      </p:sp>
      <p:sp>
        <p:nvSpPr>
          <p:cNvPr id="23" name="Text 21"/>
          <p:cNvSpPr/>
          <p:nvPr/>
        </p:nvSpPr>
        <p:spPr>
          <a:xfrm>
            <a:off x="5870448" y="1755648"/>
            <a:ext cx="2926080" cy="2194560"/>
          </a:xfrm>
          <a:prstGeom prst="rect">
            <a:avLst/>
          </a:prstGeom>
          <a:noFill/>
          <a:ln/>
        </p:spPr>
        <p:txBody>
          <a:bodyPr wrap="square" lIns="0" tIns="0" rIns="0" bIns="0" rtlCol="0" anchor="ctr"/>
          <a:lstStyle/>
          <a:p>
            <a:pPr marL="342900" indent="-342900">
              <a:buSzPct val="100000"/>
              <a:buChar char="•"/>
            </a:pPr>
            <a:r>
              <a:rPr lang="en-US" sz="950" dirty="0">
                <a:solidFill>
                  <a:srgbClr val="334155"/>
                </a:solidFill>
              </a:rPr>
              <a:t>Which stages the retailer runs</a:t>
            </a:r>
            <a:endParaRPr lang="en-US" sz="950" dirty="0"/>
          </a:p>
          <a:p>
            <a:pPr marL="342900" indent="-342900">
              <a:buSzPct val="100000"/>
              <a:buChar char="•"/>
            </a:pPr>
            <a:r>
              <a:rPr lang="en-US" sz="950" dirty="0">
                <a:solidFill>
                  <a:srgbClr val="334155"/>
                </a:solidFill>
              </a:rPr>
              <a:t>Stage sequence &amp; skip rules</a:t>
            </a:r>
            <a:endParaRPr lang="en-US" sz="950" dirty="0"/>
          </a:p>
          <a:p>
            <a:pPr marL="342900" indent="-342900">
              <a:buSzPct val="100000"/>
              <a:buChar char="•"/>
            </a:pPr>
            <a:r>
              <a:rPr lang="en-US" sz="950" dirty="0">
                <a:solidFill>
                  <a:srgbClr val="334155"/>
                </a:solidFill>
              </a:rPr>
              <a:t>Trigger conditions between stages</a:t>
            </a:r>
            <a:endParaRPr lang="en-US" sz="950" dirty="0"/>
          </a:p>
          <a:p>
            <a:pPr marL="342900" indent="-342900">
              <a:buSzPct val="100000"/>
              <a:buChar char="•"/>
            </a:pPr>
            <a:r>
              <a:rPr lang="en-US" sz="950" dirty="0">
                <a:solidFill>
                  <a:srgbClr val="334155"/>
                </a:solidFill>
              </a:rPr>
              <a:t>Gate / sign-off requirements</a:t>
            </a:r>
            <a:endParaRPr lang="en-US" sz="950" dirty="0"/>
          </a:p>
          <a:p>
            <a:pPr marL="342900" indent="-342900">
              <a:buSzPct val="100000"/>
              <a:buChar char="•"/>
            </a:pPr>
            <a:r>
              <a:rPr lang="en-US" sz="950" dirty="0">
                <a:solidFill>
                  <a:srgbClr val="334155"/>
                </a:solidFill>
              </a:rPr>
              <a:t>Which web service hooks are active</a:t>
            </a:r>
            <a:endParaRPr lang="en-US" sz="950" dirty="0"/>
          </a:p>
          <a:p>
            <a:pPr marL="342900" indent="-342900">
              <a:buSzPct val="100000"/>
              <a:buChar char="•"/>
            </a:pPr>
            <a:r>
              <a:rPr lang="en-US" sz="950" dirty="0">
                <a:solidFill>
                  <a:srgbClr val="334155"/>
                </a:solidFill>
              </a:rPr>
              <a:t>Blocking vs non-blocking hooks</a:t>
            </a:r>
            <a:endParaRPr lang="en-US" sz="950" dirty="0"/>
          </a:p>
          <a:p>
            <a:pPr marL="342900" indent="-342900">
              <a:buSzPct val="100000"/>
              <a:buChar char="•"/>
            </a:pPr>
            <a:r>
              <a:rPr lang="en-US" sz="950" dirty="0">
                <a:solidFill>
                  <a:srgbClr val="334155"/>
                </a:solidFill>
              </a:rPr>
              <a:t>Approval routing &amp; thresholds</a:t>
            </a:r>
            <a:endParaRPr lang="en-US" sz="950" dirty="0"/>
          </a:p>
          <a:p>
            <a:pPr marL="342900" indent="-342900">
              <a:buSzPct val="100000"/>
              <a:buChar char="•"/>
            </a:pPr>
            <a:r>
              <a:rPr lang="en-US" sz="950" dirty="0">
                <a:solidFill>
                  <a:srgbClr val="334155"/>
                </a:solidFill>
              </a:rPr>
              <a:t>Parameter values (DOS, OTB, etc.)</a:t>
            </a:r>
            <a:endParaRPr lang="en-US" sz="950" dirty="0"/>
          </a:p>
          <a:p>
            <a:pPr marL="342900" indent="-342900">
              <a:buSzPct val="100000"/>
              <a:buChar char="•"/>
            </a:pPr>
            <a:r>
              <a:rPr lang="en-US" sz="950" dirty="0">
                <a:solidFill>
                  <a:srgbClr val="334155"/>
                </a:solidFill>
              </a:rPr>
              <a:t>Agent learning scope &amp; exclusions</a:t>
            </a:r>
            <a:endParaRPr lang="en-US" sz="950" dirty="0"/>
          </a:p>
          <a:p>
            <a:pPr indent="0" marL="0">
              <a:buNone/>
            </a:pPr>
            <a:endParaRPr lang="en-US" sz="950" dirty="0"/>
          </a:p>
        </p:txBody>
      </p:sp>
      <p:sp>
        <p:nvSpPr>
          <p:cNvPr id="24" name="Shape 22"/>
          <p:cNvSpPr/>
          <p:nvPr/>
        </p:nvSpPr>
        <p:spPr>
          <a:xfrm>
            <a:off x="5760720" y="3310128"/>
            <a:ext cx="3182112" cy="36576"/>
          </a:xfrm>
          <a:prstGeom prst="rect">
            <a:avLst/>
          </a:prstGeom>
          <a:solidFill>
            <a:srgbClr val="E2E8F0"/>
          </a:solidFill>
          <a:ln w="12700">
            <a:solidFill>
              <a:srgbClr val="E2E8F0"/>
            </a:solidFill>
            <a:prstDash val="solid"/>
          </a:ln>
        </p:spPr>
      </p:sp>
      <p:sp>
        <p:nvSpPr>
          <p:cNvPr id="25" name="Text 23"/>
          <p:cNvSpPr/>
          <p:nvPr/>
        </p:nvSpPr>
        <p:spPr>
          <a:xfrm>
            <a:off x="5925312" y="3401568"/>
            <a:ext cx="2834640" cy="274320"/>
          </a:xfrm>
          <a:prstGeom prst="rect">
            <a:avLst/>
          </a:prstGeom>
          <a:noFill/>
          <a:ln/>
        </p:spPr>
        <p:txBody>
          <a:bodyPr wrap="square" lIns="0" tIns="0" rIns="0" bIns="0" rtlCol="0" anchor="ctr"/>
          <a:lstStyle/>
          <a:p>
            <a:pPr indent="0" marL="0">
              <a:buNone/>
            </a:pPr>
            <a:r>
              <a:rPr lang="en-US" sz="900" b="1" spc="200" kern="0" dirty="0">
                <a:solidFill>
                  <a:srgbClr val="DC2626"/>
                </a:solidFill>
              </a:rPr>
              <a:t>WHAT IS NEVER CONFIGURABLE</a:t>
            </a:r>
            <a:endParaRPr lang="en-US" sz="900" dirty="0"/>
          </a:p>
        </p:txBody>
      </p:sp>
      <p:sp>
        <p:nvSpPr>
          <p:cNvPr id="26" name="Text 24"/>
          <p:cNvSpPr/>
          <p:nvPr/>
        </p:nvSpPr>
        <p:spPr>
          <a:xfrm>
            <a:off x="5870448" y="3712464"/>
            <a:ext cx="2926080" cy="1188720"/>
          </a:xfrm>
          <a:prstGeom prst="rect">
            <a:avLst/>
          </a:prstGeom>
          <a:noFill/>
          <a:ln/>
        </p:spPr>
        <p:txBody>
          <a:bodyPr wrap="square" lIns="0" tIns="0" rIns="0" bIns="0" rtlCol="0" anchor="ctr"/>
          <a:lstStyle/>
          <a:p>
            <a:pPr marL="342900" indent="-342900">
              <a:buSzPct val="100000"/>
              <a:buChar char="•"/>
            </a:pPr>
            <a:r>
              <a:rPr lang="en-US" sz="950" dirty="0">
                <a:solidFill>
                  <a:srgbClr val="334155"/>
                </a:solidFill>
              </a:rPr>
              <a:t>The planning algorithms themselves</a:t>
            </a:r>
            <a:endParaRPr lang="en-US" sz="950" dirty="0"/>
          </a:p>
          <a:p>
            <a:pPr marL="342900" indent="-342900">
              <a:buSzPct val="100000"/>
              <a:buChar char="•"/>
            </a:pPr>
            <a:r>
              <a:rPr lang="en-US" sz="950" dirty="0">
                <a:solidFill>
                  <a:srgbClr val="334155"/>
                </a:solidFill>
              </a:rPr>
              <a:t>Core data model &amp; schema</a:t>
            </a:r>
            <a:endParaRPr lang="en-US" sz="950" dirty="0"/>
          </a:p>
          <a:p>
            <a:pPr marL="342900" indent="-342900">
              <a:buSzPct val="100000"/>
              <a:buChar char="•"/>
            </a:pPr>
            <a:r>
              <a:rPr lang="en-US" sz="950" dirty="0">
                <a:solidFill>
                  <a:srgbClr val="334155"/>
                </a:solidFill>
              </a:rPr>
              <a:t>Tenant isolation boundaries</a:t>
            </a:r>
            <a:endParaRPr lang="en-US" sz="950" dirty="0"/>
          </a:p>
          <a:p>
            <a:pPr marL="342900" indent="-342900">
              <a:buSzPct val="100000"/>
              <a:buChar char="•"/>
            </a:pPr>
            <a:r>
              <a:rPr lang="en-US" sz="950" dirty="0">
                <a:solidFill>
                  <a:srgbClr val="334155"/>
                </a:solidFill>
              </a:rPr>
              <a:t>OLAP cube aggregation logic</a:t>
            </a:r>
            <a:endParaRPr lang="en-US" sz="950" dirty="0"/>
          </a:p>
          <a:p>
            <a:pPr indent="0" marL="0">
              <a:buNone/>
            </a:pP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F2044"/>
          </a:solidFill>
          <a:ln w="12700">
            <a:solidFill>
              <a:srgbClr val="0F2044"/>
            </a:solidFill>
            <a:prstDash val="solid"/>
          </a:ln>
        </p:spPr>
      </p:sp>
      <p:sp>
        <p:nvSpPr>
          <p:cNvPr id="3" name="Text 1"/>
          <p:cNvSpPr/>
          <p:nvPr/>
        </p:nvSpPr>
        <p:spPr>
          <a:xfrm>
            <a:off x="365760" y="0"/>
            <a:ext cx="7315200" cy="658368"/>
          </a:xfrm>
          <a:prstGeom prst="rect">
            <a:avLst/>
          </a:prstGeom>
          <a:noFill/>
          <a:ln/>
        </p:spPr>
        <p:txBody>
          <a:bodyPr wrap="square" lIns="0" tIns="0" rIns="0" bIns="0" rtlCol="0" anchor="ctr"/>
          <a:lstStyle/>
          <a:p>
            <a:pPr indent="0" marL="0">
              <a:buNone/>
            </a:pPr>
            <a:r>
              <a:rPr lang="en-US" sz="1000" b="1" spc="300" kern="0" dirty="0">
                <a:solidFill>
                  <a:srgbClr val="FFFFFF"/>
                </a:solidFill>
              </a:rPr>
              <a:t>THREE-LAYER ARCHITECTURE — DESIGN PRINCIPLES</a:t>
            </a:r>
            <a:endParaRPr lang="en-US" sz="1000" dirty="0"/>
          </a:p>
        </p:txBody>
      </p:sp>
      <p:sp>
        <p:nvSpPr>
          <p:cNvPr id="4" name="Text 2"/>
          <p:cNvSpPr/>
          <p:nvPr/>
        </p:nvSpPr>
        <p:spPr>
          <a:xfrm>
            <a:off x="7863840" y="0"/>
            <a:ext cx="1097280" cy="658368"/>
          </a:xfrm>
          <a:prstGeom prst="rect">
            <a:avLst/>
          </a:prstGeom>
          <a:noFill/>
          <a:ln/>
        </p:spPr>
        <p:txBody>
          <a:bodyPr wrap="square" lIns="0" tIns="0" rIns="0" bIns="0" rtlCol="0" anchor="ctr"/>
          <a:lstStyle/>
          <a:p>
            <a:pPr algn="r" indent="0" marL="0">
              <a:buNone/>
            </a:pPr>
            <a:r>
              <a:rPr lang="en-US" sz="900" dirty="0">
                <a:solidFill>
                  <a:srgbClr val="94A3B8"/>
                </a:solidFill>
              </a:rPr>
              <a:t>ARCH-03</a:t>
            </a:r>
            <a:endParaRPr lang="en-US" sz="900" dirty="0"/>
          </a:p>
        </p:txBody>
      </p:sp>
      <p:sp>
        <p:nvSpPr>
          <p:cNvPr id="5" name="Shape 3"/>
          <p:cNvSpPr/>
          <p:nvPr/>
        </p:nvSpPr>
        <p:spPr>
          <a:xfrm>
            <a:off x="201168" y="777240"/>
            <a:ext cx="8741664" cy="1078992"/>
          </a:xfrm>
          <a:prstGeom prst="rect">
            <a:avLst/>
          </a:prstGeom>
          <a:solidFill>
            <a:srgbClr val="E8F4FF"/>
          </a:solidFill>
          <a:ln w="19050">
            <a:solidFill>
              <a:srgbClr val="1A3A5C"/>
            </a:solidFill>
            <a:prstDash val="solid"/>
          </a:ln>
        </p:spPr>
      </p:sp>
      <p:sp>
        <p:nvSpPr>
          <p:cNvPr id="6" name="Shape 4"/>
          <p:cNvSpPr/>
          <p:nvPr/>
        </p:nvSpPr>
        <p:spPr>
          <a:xfrm>
            <a:off x="201168" y="777240"/>
            <a:ext cx="475488" cy="1078992"/>
          </a:xfrm>
          <a:prstGeom prst="rect">
            <a:avLst/>
          </a:prstGeom>
          <a:solidFill>
            <a:srgbClr val="1A3A5C"/>
          </a:solidFill>
          <a:ln w="12700">
            <a:solidFill>
              <a:srgbClr val="1A3A5C"/>
            </a:solidFill>
            <a:prstDash val="solid"/>
          </a:ln>
        </p:spPr>
      </p:sp>
      <p:sp>
        <p:nvSpPr>
          <p:cNvPr id="7" name="Text 5"/>
          <p:cNvSpPr/>
          <p:nvPr/>
        </p:nvSpPr>
        <p:spPr>
          <a:xfrm>
            <a:off x="201168" y="777240"/>
            <a:ext cx="475488" cy="1078992"/>
          </a:xfrm>
          <a:prstGeom prst="rect">
            <a:avLst/>
          </a:prstGeom>
          <a:noFill/>
          <a:ln/>
        </p:spPr>
        <p:txBody>
          <a:bodyPr wrap="square" lIns="0" tIns="0" rIns="0" bIns="0" rtlCol="0" anchor="ctr"/>
          <a:lstStyle/>
          <a:p>
            <a:pPr algn="ctr" indent="0" marL="0">
              <a:buNone/>
            </a:pPr>
            <a:r>
              <a:rPr lang="en-US" sz="2000" b="1" dirty="0">
                <a:solidFill>
                  <a:srgbClr val="FFFFFF"/>
                </a:solidFill>
              </a:rPr>
              <a:t>3</a:t>
            </a:r>
            <a:endParaRPr lang="en-US" sz="2000" dirty="0"/>
          </a:p>
        </p:txBody>
      </p:sp>
      <p:sp>
        <p:nvSpPr>
          <p:cNvPr id="8" name="Text 6"/>
          <p:cNvSpPr/>
          <p:nvPr/>
        </p:nvSpPr>
        <p:spPr>
          <a:xfrm>
            <a:off x="777240" y="868680"/>
            <a:ext cx="8046720" cy="274320"/>
          </a:xfrm>
          <a:prstGeom prst="rect">
            <a:avLst/>
          </a:prstGeom>
          <a:noFill/>
          <a:ln/>
        </p:spPr>
        <p:txBody>
          <a:bodyPr wrap="square" lIns="0" tIns="0" rIns="0" bIns="0" rtlCol="0" anchor="ctr"/>
          <a:lstStyle/>
          <a:p>
            <a:pPr indent="0" marL="0">
              <a:buNone/>
            </a:pPr>
            <a:r>
              <a:rPr lang="en-US" sz="1050" b="1" dirty="0">
                <a:solidFill>
                  <a:srgbClr val="1A3A5C"/>
                </a:solidFill>
              </a:rPr>
              <a:t>LAYER 3  —  RETAILER EXTENSIONS</a:t>
            </a:r>
            <a:endParaRPr lang="en-US" sz="1050" dirty="0"/>
          </a:p>
        </p:txBody>
      </p:sp>
      <p:sp>
        <p:nvSpPr>
          <p:cNvPr id="9" name="Text 7"/>
          <p:cNvSpPr/>
          <p:nvPr/>
        </p:nvSpPr>
        <p:spPr>
          <a:xfrm>
            <a:off x="777240" y="1161288"/>
            <a:ext cx="8046720" cy="228600"/>
          </a:xfrm>
          <a:prstGeom prst="rect">
            <a:avLst/>
          </a:prstGeom>
          <a:noFill/>
          <a:ln/>
        </p:spPr>
        <p:txBody>
          <a:bodyPr wrap="square" lIns="0" tIns="0" rIns="0" bIns="0" rtlCol="0" anchor="ctr"/>
          <a:lstStyle/>
          <a:p>
            <a:pPr indent="0" marL="0">
              <a:buNone/>
            </a:pPr>
            <a:r>
              <a:rPr lang="en-US" sz="850" dirty="0">
                <a:solidFill>
                  <a:srgbClr val="64748B"/>
                </a:solidFill>
              </a:rPr>
              <a:t>Retailer-owned · separate repo per tenant · isolated namespace · independent CI/CD</a:t>
            </a:r>
            <a:endParaRPr lang="en-US" sz="850" dirty="0"/>
          </a:p>
        </p:txBody>
      </p:sp>
      <p:sp>
        <p:nvSpPr>
          <p:cNvPr id="10" name="Text 8"/>
          <p:cNvSpPr/>
          <p:nvPr/>
        </p:nvSpPr>
        <p:spPr>
          <a:xfrm>
            <a:off x="868680" y="1435608"/>
            <a:ext cx="2468880" cy="201168"/>
          </a:xfrm>
          <a:prstGeom prst="rect">
            <a:avLst/>
          </a:prstGeom>
          <a:noFill/>
          <a:ln/>
        </p:spPr>
        <p:txBody>
          <a:bodyPr wrap="square" lIns="0" tIns="0" rIns="0" bIns="0" rtlCol="0" anchor="ctr"/>
          <a:lstStyle/>
          <a:p>
            <a:pPr indent="0" marL="0">
              <a:buNone/>
            </a:pPr>
            <a:r>
              <a:rPr lang="en-US" sz="900" b="1" dirty="0">
                <a:solidFill>
                  <a:srgbClr val="1A3A5C"/>
                </a:solidFill>
              </a:rPr>
              <a:t>Retailer A</a:t>
            </a:r>
            <a:endParaRPr lang="en-US" sz="900" dirty="0"/>
          </a:p>
        </p:txBody>
      </p:sp>
      <p:sp>
        <p:nvSpPr>
          <p:cNvPr id="11" name="Text 9"/>
          <p:cNvSpPr/>
          <p:nvPr/>
        </p:nvSpPr>
        <p:spPr>
          <a:xfrm>
            <a:off x="868680" y="1618488"/>
            <a:ext cx="2468880" cy="182880"/>
          </a:xfrm>
          <a:prstGeom prst="rect">
            <a:avLst/>
          </a:prstGeom>
          <a:noFill/>
          <a:ln/>
        </p:spPr>
        <p:txBody>
          <a:bodyPr wrap="square" lIns="0" tIns="0" rIns="0" bIns="0" rtlCol="0" anchor="ctr"/>
          <a:lstStyle/>
          <a:p>
            <a:pPr indent="0" marL="0">
              <a:buNone/>
            </a:pPr>
            <a:r>
              <a:rPr lang="en-US" sz="750" dirty="0">
                <a:solidFill>
                  <a:srgbClr val="64748B"/>
                </a:solidFill>
              </a:rPr>
              <a:t>▸ Fast fashion DOS rules   ▸ Lead time suppression   ▸ Drop cadence config</a:t>
            </a:r>
            <a:endParaRPr lang="en-US" sz="750" dirty="0"/>
          </a:p>
        </p:txBody>
      </p:sp>
      <p:sp>
        <p:nvSpPr>
          <p:cNvPr id="12" name="Text 10"/>
          <p:cNvSpPr/>
          <p:nvPr/>
        </p:nvSpPr>
        <p:spPr>
          <a:xfrm>
            <a:off x="3566160" y="1435608"/>
            <a:ext cx="2468880" cy="201168"/>
          </a:xfrm>
          <a:prstGeom prst="rect">
            <a:avLst/>
          </a:prstGeom>
          <a:noFill/>
          <a:ln/>
        </p:spPr>
        <p:txBody>
          <a:bodyPr wrap="square" lIns="0" tIns="0" rIns="0" bIns="0" rtlCol="0" anchor="ctr"/>
          <a:lstStyle/>
          <a:p>
            <a:pPr indent="0" marL="0">
              <a:buNone/>
            </a:pPr>
            <a:r>
              <a:rPr lang="en-US" sz="900" b="1" dirty="0">
                <a:solidFill>
                  <a:srgbClr val="1A3A5C"/>
                </a:solidFill>
              </a:rPr>
              <a:t>Retailer B</a:t>
            </a:r>
            <a:endParaRPr lang="en-US" sz="900" dirty="0"/>
          </a:p>
        </p:txBody>
      </p:sp>
      <p:sp>
        <p:nvSpPr>
          <p:cNvPr id="13" name="Text 11"/>
          <p:cNvSpPr/>
          <p:nvPr/>
        </p:nvSpPr>
        <p:spPr>
          <a:xfrm>
            <a:off x="3566160" y="1618488"/>
            <a:ext cx="2468880" cy="182880"/>
          </a:xfrm>
          <a:prstGeom prst="rect">
            <a:avLst/>
          </a:prstGeom>
          <a:noFill/>
          <a:ln/>
        </p:spPr>
        <p:txBody>
          <a:bodyPr wrap="square" lIns="0" tIns="0" rIns="0" bIns="0" rtlCol="0" anchor="ctr"/>
          <a:lstStyle/>
          <a:p>
            <a:pPr indent="0" marL="0">
              <a:buNone/>
            </a:pPr>
            <a:r>
              <a:rPr lang="en-US" sz="750" dirty="0">
                <a:solidFill>
                  <a:srgbClr val="64748B"/>
                </a:solidFill>
              </a:rPr>
              <a:t>▸ Luxury tier suppression   ▸ Bespoke approval routing   ▸ PLM range sync</a:t>
            </a:r>
            <a:endParaRPr lang="en-US" sz="750" dirty="0"/>
          </a:p>
        </p:txBody>
      </p:sp>
      <p:sp>
        <p:nvSpPr>
          <p:cNvPr id="14" name="Text 12"/>
          <p:cNvSpPr/>
          <p:nvPr/>
        </p:nvSpPr>
        <p:spPr>
          <a:xfrm>
            <a:off x="6263640" y="1435608"/>
            <a:ext cx="2468880" cy="201168"/>
          </a:xfrm>
          <a:prstGeom prst="rect">
            <a:avLst/>
          </a:prstGeom>
          <a:noFill/>
          <a:ln/>
        </p:spPr>
        <p:txBody>
          <a:bodyPr wrap="square" lIns="0" tIns="0" rIns="0" bIns="0" rtlCol="0" anchor="ctr"/>
          <a:lstStyle/>
          <a:p>
            <a:pPr indent="0" marL="0">
              <a:buNone/>
            </a:pPr>
            <a:r>
              <a:rPr lang="en-US" sz="900" b="1" dirty="0">
                <a:solidFill>
                  <a:srgbClr val="1A3A5C"/>
                </a:solidFill>
              </a:rPr>
              <a:t>Retailer C</a:t>
            </a:r>
            <a:endParaRPr lang="en-US" sz="900" dirty="0"/>
          </a:p>
        </p:txBody>
      </p:sp>
      <p:sp>
        <p:nvSpPr>
          <p:cNvPr id="15" name="Text 13"/>
          <p:cNvSpPr/>
          <p:nvPr/>
        </p:nvSpPr>
        <p:spPr>
          <a:xfrm>
            <a:off x="6263640" y="1618488"/>
            <a:ext cx="2468880" cy="182880"/>
          </a:xfrm>
          <a:prstGeom prst="rect">
            <a:avLst/>
          </a:prstGeom>
          <a:noFill/>
          <a:ln/>
        </p:spPr>
        <p:txBody>
          <a:bodyPr wrap="square" lIns="0" tIns="0" rIns="0" bIns="0" rtlCol="0" anchor="ctr"/>
          <a:lstStyle/>
          <a:p>
            <a:pPr indent="0" marL="0">
              <a:buNone/>
            </a:pPr>
            <a:r>
              <a:rPr lang="en-US" sz="750" dirty="0">
                <a:solidFill>
                  <a:srgbClr val="64748B"/>
                </a:solidFill>
              </a:rPr>
              <a:t>▸ Regional cluster logic   ▸ Outlet channel rules   ▸ Market data feed</a:t>
            </a:r>
            <a:endParaRPr lang="en-US" sz="750" dirty="0"/>
          </a:p>
        </p:txBody>
      </p:sp>
      <p:sp>
        <p:nvSpPr>
          <p:cNvPr id="16" name="Shape 14"/>
          <p:cNvSpPr/>
          <p:nvPr/>
        </p:nvSpPr>
        <p:spPr>
          <a:xfrm>
            <a:off x="201168" y="1993392"/>
            <a:ext cx="8741664" cy="1078992"/>
          </a:xfrm>
          <a:prstGeom prst="rect">
            <a:avLst/>
          </a:prstGeom>
          <a:solidFill>
            <a:srgbClr val="E6F7F6"/>
          </a:solidFill>
          <a:ln w="19050">
            <a:solidFill>
              <a:srgbClr val="0D7377"/>
            </a:solidFill>
            <a:prstDash val="solid"/>
          </a:ln>
        </p:spPr>
      </p:sp>
      <p:sp>
        <p:nvSpPr>
          <p:cNvPr id="17" name="Shape 15"/>
          <p:cNvSpPr/>
          <p:nvPr/>
        </p:nvSpPr>
        <p:spPr>
          <a:xfrm>
            <a:off x="201168" y="1993392"/>
            <a:ext cx="475488" cy="1078992"/>
          </a:xfrm>
          <a:prstGeom prst="rect">
            <a:avLst/>
          </a:prstGeom>
          <a:solidFill>
            <a:srgbClr val="0D7377"/>
          </a:solidFill>
          <a:ln w="12700">
            <a:solidFill>
              <a:srgbClr val="0D7377"/>
            </a:solidFill>
            <a:prstDash val="solid"/>
          </a:ln>
        </p:spPr>
      </p:sp>
      <p:sp>
        <p:nvSpPr>
          <p:cNvPr id="18" name="Text 16"/>
          <p:cNvSpPr/>
          <p:nvPr/>
        </p:nvSpPr>
        <p:spPr>
          <a:xfrm>
            <a:off x="201168" y="1993392"/>
            <a:ext cx="475488" cy="1078992"/>
          </a:xfrm>
          <a:prstGeom prst="rect">
            <a:avLst/>
          </a:prstGeom>
          <a:noFill/>
          <a:ln/>
        </p:spPr>
        <p:txBody>
          <a:bodyPr wrap="square" lIns="0" tIns="0" rIns="0" bIns="0" rtlCol="0" anchor="ctr"/>
          <a:lstStyle/>
          <a:p>
            <a:pPr algn="ctr" indent="0" marL="0">
              <a:buNone/>
            </a:pPr>
            <a:r>
              <a:rPr lang="en-US" sz="2000" b="1" dirty="0">
                <a:solidFill>
                  <a:srgbClr val="FFFFFF"/>
                </a:solidFill>
              </a:rPr>
              <a:t>2</a:t>
            </a:r>
            <a:endParaRPr lang="en-US" sz="2000" dirty="0"/>
          </a:p>
        </p:txBody>
      </p:sp>
      <p:sp>
        <p:nvSpPr>
          <p:cNvPr id="19" name="Text 17"/>
          <p:cNvSpPr/>
          <p:nvPr/>
        </p:nvSpPr>
        <p:spPr>
          <a:xfrm>
            <a:off x="777240" y="2084832"/>
            <a:ext cx="8046720" cy="274320"/>
          </a:xfrm>
          <a:prstGeom prst="rect">
            <a:avLst/>
          </a:prstGeom>
          <a:noFill/>
          <a:ln/>
        </p:spPr>
        <p:txBody>
          <a:bodyPr wrap="square" lIns="0" tIns="0" rIns="0" bIns="0" rtlCol="0" anchor="ctr"/>
          <a:lstStyle/>
          <a:p>
            <a:pPr indent="0" marL="0">
              <a:buNone/>
            </a:pPr>
            <a:r>
              <a:rPr lang="en-US" sz="1050" b="1" dirty="0">
                <a:solidFill>
                  <a:srgbClr val="0D7377"/>
                </a:solidFill>
              </a:rPr>
              <a:t>LAYER 2  —  EXTENSION FRAMEWORK  +  WEB SERVICE HOOKS</a:t>
            </a:r>
            <a:endParaRPr lang="en-US" sz="1050" dirty="0"/>
          </a:p>
        </p:txBody>
      </p:sp>
      <p:sp>
        <p:nvSpPr>
          <p:cNvPr id="20" name="Text 18"/>
          <p:cNvSpPr/>
          <p:nvPr/>
        </p:nvSpPr>
        <p:spPr>
          <a:xfrm>
            <a:off x="777240" y="2377440"/>
            <a:ext cx="8046720" cy="228600"/>
          </a:xfrm>
          <a:prstGeom prst="rect">
            <a:avLst/>
          </a:prstGeom>
          <a:noFill/>
          <a:ln/>
        </p:spPr>
        <p:txBody>
          <a:bodyPr wrap="square" lIns="0" tIns="0" rIns="0" bIns="0" rtlCol="0" anchor="ctr"/>
          <a:lstStyle/>
          <a:p>
            <a:pPr indent="0" marL="0">
              <a:buNone/>
            </a:pPr>
            <a:r>
              <a:rPr lang="en-US" sz="850" dirty="0">
                <a:solidFill>
                  <a:srgbClr val="64748B"/>
                </a:solidFill>
              </a:rPr>
              <a:t>Platform-owned · declares all hook points including phase web service gateways · only platform team adds hooks</a:t>
            </a:r>
            <a:endParaRPr lang="en-US" sz="850" dirty="0"/>
          </a:p>
        </p:txBody>
      </p:sp>
      <p:sp>
        <p:nvSpPr>
          <p:cNvPr id="21" name="Text 19"/>
          <p:cNvSpPr/>
          <p:nvPr/>
        </p:nvSpPr>
        <p:spPr>
          <a:xfrm>
            <a:off x="777240" y="2651760"/>
            <a:ext cx="8046720" cy="347472"/>
          </a:xfrm>
          <a:prstGeom prst="rect">
            <a:avLst/>
          </a:prstGeom>
          <a:noFill/>
          <a:ln/>
        </p:spPr>
        <p:txBody>
          <a:bodyPr wrap="square" lIns="0" tIns="0" rIns="0" bIns="0" rtlCol="0" anchor="ctr"/>
          <a:lstStyle/>
          <a:p>
            <a:pPr indent="0" marL="0">
              <a:buNone/>
            </a:pPr>
            <a:r>
              <a:rPr lang="en-US" sz="850" b="1" dirty="0">
                <a:solidFill>
                  <a:srgbClr val="0D7377"/>
                </a:solidFill>
              </a:rPr>
              <a:t>H1 Pre-process   ·   H2 Score modifier   ·   H3 Suppression   ·   H4 Output transform   ·   H5 Approval workflow   ·   H6 Phase WS gateway   ·   H7 Feature flag</a:t>
            </a:r>
            <a:endParaRPr lang="en-US" sz="850" dirty="0"/>
          </a:p>
        </p:txBody>
      </p:sp>
      <p:sp>
        <p:nvSpPr>
          <p:cNvPr id="22" name="Shape 20"/>
          <p:cNvSpPr/>
          <p:nvPr/>
        </p:nvSpPr>
        <p:spPr>
          <a:xfrm>
            <a:off x="201168" y="3218688"/>
            <a:ext cx="8741664" cy="1078992"/>
          </a:xfrm>
          <a:prstGeom prst="rect">
            <a:avLst/>
          </a:prstGeom>
          <a:solidFill>
            <a:srgbClr val="E8F4F8"/>
          </a:solidFill>
          <a:ln w="19050">
            <a:solidFill>
              <a:srgbClr val="0F2044"/>
            </a:solidFill>
            <a:prstDash val="solid"/>
          </a:ln>
        </p:spPr>
      </p:sp>
      <p:sp>
        <p:nvSpPr>
          <p:cNvPr id="23" name="Shape 21"/>
          <p:cNvSpPr/>
          <p:nvPr/>
        </p:nvSpPr>
        <p:spPr>
          <a:xfrm>
            <a:off x="201168" y="3218688"/>
            <a:ext cx="475488" cy="1078992"/>
          </a:xfrm>
          <a:prstGeom prst="rect">
            <a:avLst/>
          </a:prstGeom>
          <a:solidFill>
            <a:srgbClr val="0F2044"/>
          </a:solidFill>
          <a:ln w="12700">
            <a:solidFill>
              <a:srgbClr val="0F2044"/>
            </a:solidFill>
            <a:prstDash val="solid"/>
          </a:ln>
        </p:spPr>
      </p:sp>
      <p:sp>
        <p:nvSpPr>
          <p:cNvPr id="24" name="Text 22"/>
          <p:cNvSpPr/>
          <p:nvPr/>
        </p:nvSpPr>
        <p:spPr>
          <a:xfrm>
            <a:off x="201168" y="3218688"/>
            <a:ext cx="475488" cy="1078992"/>
          </a:xfrm>
          <a:prstGeom prst="rect">
            <a:avLst/>
          </a:prstGeom>
          <a:noFill/>
          <a:ln/>
        </p:spPr>
        <p:txBody>
          <a:bodyPr wrap="square" lIns="0" tIns="0" rIns="0" bIns="0" rtlCol="0" anchor="ctr"/>
          <a:lstStyle/>
          <a:p>
            <a:pPr algn="ctr" indent="0" marL="0">
              <a:buNone/>
            </a:pPr>
            <a:r>
              <a:rPr lang="en-US" sz="2000" b="1" dirty="0">
                <a:solidFill>
                  <a:srgbClr val="FFFFFF"/>
                </a:solidFill>
              </a:rPr>
              <a:t>1</a:t>
            </a:r>
            <a:endParaRPr lang="en-US" sz="2000" dirty="0"/>
          </a:p>
        </p:txBody>
      </p:sp>
      <p:sp>
        <p:nvSpPr>
          <p:cNvPr id="25" name="Text 23"/>
          <p:cNvSpPr/>
          <p:nvPr/>
        </p:nvSpPr>
        <p:spPr>
          <a:xfrm>
            <a:off x="777240" y="3310128"/>
            <a:ext cx="8046720" cy="274320"/>
          </a:xfrm>
          <a:prstGeom prst="rect">
            <a:avLst/>
          </a:prstGeom>
          <a:noFill/>
          <a:ln/>
        </p:spPr>
        <p:txBody>
          <a:bodyPr wrap="square" lIns="0" tIns="0" rIns="0" bIns="0" rtlCol="0" anchor="ctr"/>
          <a:lstStyle/>
          <a:p>
            <a:pPr indent="0" marL="0">
              <a:buNone/>
            </a:pPr>
            <a:r>
              <a:rPr lang="en-US" sz="1050" b="1" dirty="0">
                <a:solidFill>
                  <a:srgbClr val="0F2044"/>
                </a:solidFill>
              </a:rPr>
              <a:t>LAYER 1  —  CORE ENGINE — FIXED PLANNING ALGORITHMS</a:t>
            </a:r>
            <a:endParaRPr lang="en-US" sz="1050" dirty="0"/>
          </a:p>
        </p:txBody>
      </p:sp>
      <p:sp>
        <p:nvSpPr>
          <p:cNvPr id="26" name="Text 24"/>
          <p:cNvSpPr/>
          <p:nvPr/>
        </p:nvSpPr>
        <p:spPr>
          <a:xfrm>
            <a:off x="777240" y="3602736"/>
            <a:ext cx="8046720" cy="228600"/>
          </a:xfrm>
          <a:prstGeom prst="rect">
            <a:avLst/>
          </a:prstGeom>
          <a:noFill/>
          <a:ln/>
        </p:spPr>
        <p:txBody>
          <a:bodyPr wrap="square" lIns="0" tIns="0" rIns="0" bIns="0" rtlCol="0" anchor="ctr"/>
          <a:lstStyle/>
          <a:p>
            <a:pPr indent="0" marL="0">
              <a:buNone/>
            </a:pPr>
            <a:r>
              <a:rPr lang="en-US" sz="850" dirty="0">
                <a:solidFill>
                  <a:srgbClr val="64748B"/>
                </a:solidFill>
              </a:rPr>
              <a:t>Platform-owned · universal retailer-agnostic logic · single binary · never contains retailer-specific code</a:t>
            </a:r>
            <a:endParaRPr lang="en-US" sz="850" dirty="0"/>
          </a:p>
        </p:txBody>
      </p:sp>
      <p:sp>
        <p:nvSpPr>
          <p:cNvPr id="27" name="Text 25"/>
          <p:cNvSpPr/>
          <p:nvPr/>
        </p:nvSpPr>
        <p:spPr>
          <a:xfrm>
            <a:off x="777240" y="3877056"/>
            <a:ext cx="8046720" cy="347472"/>
          </a:xfrm>
          <a:prstGeom prst="rect">
            <a:avLst/>
          </a:prstGeom>
          <a:noFill/>
          <a:ln/>
        </p:spPr>
        <p:txBody>
          <a:bodyPr wrap="square" lIns="0" tIns="0" rIns="0" bIns="0" rtlCol="0" anchor="ctr"/>
          <a:lstStyle/>
          <a:p>
            <a:pPr indent="0" marL="0">
              <a:buNone/>
            </a:pPr>
            <a:r>
              <a:rPr lang="en-US" sz="900" b="1" dirty="0">
                <a:solidFill>
                  <a:srgbClr val="0D7377"/>
                </a:solidFill>
              </a:rPr>
              <a:t>■  History Optimisation     ■  Placeholder Generation     ■  Assortment Strategy     ■  Market Potential Calc.     ■  Buy Quantity Engine</a:t>
            </a:r>
            <a:endParaRPr lang="en-US" sz="900" dirty="0"/>
          </a:p>
        </p:txBody>
      </p:sp>
      <p:sp>
        <p:nvSpPr>
          <p:cNvPr id="28" name="Shape 26"/>
          <p:cNvSpPr/>
          <p:nvPr/>
        </p:nvSpPr>
        <p:spPr>
          <a:xfrm>
            <a:off x="201168" y="4407408"/>
            <a:ext cx="2084832" cy="594360"/>
          </a:xfrm>
          <a:prstGeom prst="rect">
            <a:avLst/>
          </a:prstGeom>
          <a:solidFill>
            <a:srgbClr val="0F2044"/>
          </a:solidFill>
          <a:ln w="12700">
            <a:solidFill>
              <a:srgbClr val="0F2044"/>
            </a:solidFill>
            <a:prstDash val="solid"/>
          </a:ln>
          <a:effectLst>
            <a:outerShdw sx="100000" sy="100000" kx="0" ky="0" algn="bl" rotWithShape="0" blurRad="101600" dist="38100" dir="8100000">
              <a:srgbClr val="000000">
                <a:alpha val="10000"/>
              </a:srgbClr>
            </a:outerShdw>
          </a:effectLst>
        </p:spPr>
      </p:sp>
      <p:pic>
        <p:nvPicPr>
          <p:cNvPr id="29" name="Image 0" descr="preencoded.png"/>
          <p:cNvPicPr>
            <a:picLocks noChangeAspect="1"/>
          </p:cNvPicPr>
          <p:nvPr/>
        </p:nvPicPr>
        <p:blipFill>
          <a:blip r:embed="rId1"/>
          <a:stretch>
            <a:fillRect/>
          </a:stretch>
        </p:blipFill>
        <p:spPr>
          <a:xfrm>
            <a:off x="310896" y="4572000"/>
            <a:ext cx="256032" cy="256032"/>
          </a:xfrm>
          <a:prstGeom prst="rect">
            <a:avLst/>
          </a:prstGeom>
        </p:spPr>
      </p:pic>
      <p:sp>
        <p:nvSpPr>
          <p:cNvPr id="30" name="Text 27"/>
          <p:cNvSpPr/>
          <p:nvPr/>
        </p:nvSpPr>
        <p:spPr>
          <a:xfrm>
            <a:off x="640080" y="4498848"/>
            <a:ext cx="1572768" cy="438912"/>
          </a:xfrm>
          <a:prstGeom prst="rect">
            <a:avLst/>
          </a:prstGeom>
          <a:noFill/>
          <a:ln/>
        </p:spPr>
        <p:txBody>
          <a:bodyPr wrap="square" lIns="0" tIns="0" rIns="0" bIns="0" rtlCol="0" anchor="ctr"/>
          <a:lstStyle/>
          <a:p>
            <a:pPr indent="0" marL="0">
              <a:buNone/>
            </a:pPr>
            <a:r>
              <a:rPr lang="en-US" sz="750" dirty="0">
                <a:solidFill>
                  <a:srgbClr val="FFFFFF"/>
                </a:solidFill>
              </a:rPr>
              <a:t>Extension Without Modification — retailer requirement NEVER changes core code</a:t>
            </a:r>
            <a:endParaRPr lang="en-US" sz="750" dirty="0"/>
          </a:p>
        </p:txBody>
      </p:sp>
      <p:sp>
        <p:nvSpPr>
          <p:cNvPr id="31" name="Shape 28"/>
          <p:cNvSpPr/>
          <p:nvPr/>
        </p:nvSpPr>
        <p:spPr>
          <a:xfrm>
            <a:off x="2414016" y="4407408"/>
            <a:ext cx="2084832" cy="594360"/>
          </a:xfrm>
          <a:prstGeom prst="rect">
            <a:avLst/>
          </a:prstGeom>
          <a:solidFill>
            <a:srgbClr val="0F2044"/>
          </a:solidFill>
          <a:ln w="12700">
            <a:solidFill>
              <a:srgbClr val="0F2044"/>
            </a:solidFill>
            <a:prstDash val="solid"/>
          </a:ln>
          <a:effectLst>
            <a:outerShdw sx="100000" sy="100000" kx="0" ky="0" algn="bl" rotWithShape="0" blurRad="101600" dist="38100" dir="8100000">
              <a:srgbClr val="000000">
                <a:alpha val="10000"/>
              </a:srgbClr>
            </a:outerShdw>
          </a:effectLst>
        </p:spPr>
      </p:sp>
      <p:pic>
        <p:nvPicPr>
          <p:cNvPr id="32" name="Image 1" descr="preencoded.png"/>
          <p:cNvPicPr>
            <a:picLocks noChangeAspect="1"/>
          </p:cNvPicPr>
          <p:nvPr/>
        </p:nvPicPr>
        <p:blipFill>
          <a:blip r:embed="rId2"/>
          <a:stretch>
            <a:fillRect/>
          </a:stretch>
        </p:blipFill>
        <p:spPr>
          <a:xfrm>
            <a:off x="2523744" y="4572000"/>
            <a:ext cx="256032" cy="256032"/>
          </a:xfrm>
          <a:prstGeom prst="rect">
            <a:avLst/>
          </a:prstGeom>
        </p:spPr>
      </p:pic>
      <p:sp>
        <p:nvSpPr>
          <p:cNvPr id="33" name="Text 29"/>
          <p:cNvSpPr/>
          <p:nvPr/>
        </p:nvSpPr>
        <p:spPr>
          <a:xfrm>
            <a:off x="2852928" y="4498848"/>
            <a:ext cx="1572768" cy="438912"/>
          </a:xfrm>
          <a:prstGeom prst="rect">
            <a:avLst/>
          </a:prstGeom>
          <a:noFill/>
          <a:ln/>
        </p:spPr>
        <p:txBody>
          <a:bodyPr wrap="square" lIns="0" tIns="0" rIns="0" bIns="0" rtlCol="0" anchor="ctr"/>
          <a:lstStyle/>
          <a:p>
            <a:pPr indent="0" marL="0">
              <a:buNone/>
            </a:pPr>
            <a:r>
              <a:rPr lang="en-US" sz="750" dirty="0">
                <a:solidFill>
                  <a:srgbClr val="FFFFFF"/>
                </a:solidFill>
              </a:rPr>
              <a:t>Versioned I/O Contracts — breaking changes require deprecation cycle</a:t>
            </a:r>
            <a:endParaRPr lang="en-US" sz="750" dirty="0"/>
          </a:p>
        </p:txBody>
      </p:sp>
      <p:sp>
        <p:nvSpPr>
          <p:cNvPr id="34" name="Shape 30"/>
          <p:cNvSpPr/>
          <p:nvPr/>
        </p:nvSpPr>
        <p:spPr>
          <a:xfrm>
            <a:off x="4626864" y="4407408"/>
            <a:ext cx="2084832" cy="594360"/>
          </a:xfrm>
          <a:prstGeom prst="rect">
            <a:avLst/>
          </a:prstGeom>
          <a:solidFill>
            <a:srgbClr val="0F2044"/>
          </a:solidFill>
          <a:ln w="12700">
            <a:solidFill>
              <a:srgbClr val="0F2044"/>
            </a:solidFill>
            <a:prstDash val="solid"/>
          </a:ln>
          <a:effectLst>
            <a:outerShdw sx="100000" sy="100000" kx="0" ky="0" algn="bl" rotWithShape="0" blurRad="101600" dist="38100" dir="8100000">
              <a:srgbClr val="000000">
                <a:alpha val="10000"/>
              </a:srgbClr>
            </a:outerShdw>
          </a:effectLst>
        </p:spPr>
      </p:sp>
      <p:pic>
        <p:nvPicPr>
          <p:cNvPr id="35" name="Image 2" descr="preencoded.png"/>
          <p:cNvPicPr>
            <a:picLocks noChangeAspect="1"/>
          </p:cNvPicPr>
          <p:nvPr/>
        </p:nvPicPr>
        <p:blipFill>
          <a:blip r:embed="rId3"/>
          <a:stretch>
            <a:fillRect/>
          </a:stretch>
        </p:blipFill>
        <p:spPr>
          <a:xfrm>
            <a:off x="4736592" y="4572000"/>
            <a:ext cx="256032" cy="256032"/>
          </a:xfrm>
          <a:prstGeom prst="rect">
            <a:avLst/>
          </a:prstGeom>
        </p:spPr>
      </p:pic>
      <p:sp>
        <p:nvSpPr>
          <p:cNvPr id="36" name="Text 31"/>
          <p:cNvSpPr/>
          <p:nvPr/>
        </p:nvSpPr>
        <p:spPr>
          <a:xfrm>
            <a:off x="5065776" y="4498848"/>
            <a:ext cx="1572768" cy="438912"/>
          </a:xfrm>
          <a:prstGeom prst="rect">
            <a:avLst/>
          </a:prstGeom>
          <a:noFill/>
          <a:ln/>
        </p:spPr>
        <p:txBody>
          <a:bodyPr wrap="square" lIns="0" tIns="0" rIns="0" bIns="0" rtlCol="0" anchor="ctr"/>
          <a:lstStyle/>
          <a:p>
            <a:pPr indent="0" marL="0">
              <a:buNone/>
            </a:pPr>
            <a:r>
              <a:rPr lang="en-US" sz="750" dirty="0">
                <a:solidFill>
                  <a:srgbClr val="FFFFFF"/>
                </a:solidFill>
              </a:rPr>
              <a:t>Tenant Isolation — crash in one extension cannot affect any other tenant</a:t>
            </a:r>
            <a:endParaRPr lang="en-US" sz="750" dirty="0"/>
          </a:p>
        </p:txBody>
      </p:sp>
      <p:sp>
        <p:nvSpPr>
          <p:cNvPr id="37" name="Shape 32"/>
          <p:cNvSpPr/>
          <p:nvPr/>
        </p:nvSpPr>
        <p:spPr>
          <a:xfrm>
            <a:off x="6839712" y="4407408"/>
            <a:ext cx="2084832" cy="594360"/>
          </a:xfrm>
          <a:prstGeom prst="rect">
            <a:avLst/>
          </a:prstGeom>
          <a:solidFill>
            <a:srgbClr val="0F2044"/>
          </a:solidFill>
          <a:ln w="12700">
            <a:solidFill>
              <a:srgbClr val="0F2044"/>
            </a:solidFill>
            <a:prstDash val="solid"/>
          </a:ln>
          <a:effectLst>
            <a:outerShdw sx="100000" sy="100000" kx="0" ky="0" algn="bl" rotWithShape="0" blurRad="101600" dist="38100" dir="8100000">
              <a:srgbClr val="000000">
                <a:alpha val="10000"/>
              </a:srgbClr>
            </a:outerShdw>
          </a:effectLst>
        </p:spPr>
      </p:sp>
      <p:pic>
        <p:nvPicPr>
          <p:cNvPr id="38" name="Image 3" descr="preencoded.png"/>
          <p:cNvPicPr>
            <a:picLocks noChangeAspect="1"/>
          </p:cNvPicPr>
          <p:nvPr/>
        </p:nvPicPr>
        <p:blipFill>
          <a:blip r:embed="rId4"/>
          <a:stretch>
            <a:fillRect/>
          </a:stretch>
        </p:blipFill>
        <p:spPr>
          <a:xfrm>
            <a:off x="6949440" y="4572000"/>
            <a:ext cx="256032" cy="256032"/>
          </a:xfrm>
          <a:prstGeom prst="rect">
            <a:avLst/>
          </a:prstGeom>
        </p:spPr>
      </p:pic>
      <p:sp>
        <p:nvSpPr>
          <p:cNvPr id="39" name="Text 33"/>
          <p:cNvSpPr/>
          <p:nvPr/>
        </p:nvSpPr>
        <p:spPr>
          <a:xfrm>
            <a:off x="7278624" y="4498848"/>
            <a:ext cx="1572768" cy="438912"/>
          </a:xfrm>
          <a:prstGeom prst="rect">
            <a:avLst/>
          </a:prstGeom>
          <a:noFill/>
          <a:ln/>
        </p:spPr>
        <p:txBody>
          <a:bodyPr wrap="square" lIns="0" tIns="0" rIns="0" bIns="0" rtlCol="0" anchor="ctr"/>
          <a:lstStyle/>
          <a:p>
            <a:pPr indent="0" marL="0">
              <a:buNone/>
            </a:pPr>
            <a:r>
              <a:rPr lang="en-US" sz="750" dirty="0">
                <a:solidFill>
                  <a:srgbClr val="FFFFFF"/>
                </a:solidFill>
              </a:rPr>
              <a:t>Hook Ownership — only platform team adds hooks to the framework</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7377"/>
          </a:solidFill>
          <a:ln w="12700">
            <a:solidFill>
              <a:srgbClr val="0D7377"/>
            </a:solidFill>
            <a:prstDash val="solid"/>
          </a:ln>
        </p:spPr>
      </p:sp>
      <p:sp>
        <p:nvSpPr>
          <p:cNvPr id="3" name="Text 1"/>
          <p:cNvSpPr/>
          <p:nvPr/>
        </p:nvSpPr>
        <p:spPr>
          <a:xfrm>
            <a:off x="365760" y="0"/>
            <a:ext cx="7772400" cy="658368"/>
          </a:xfrm>
          <a:prstGeom prst="rect">
            <a:avLst/>
          </a:prstGeom>
          <a:noFill/>
          <a:ln/>
        </p:spPr>
        <p:txBody>
          <a:bodyPr wrap="square" lIns="0" tIns="0" rIns="0" bIns="0" rtlCol="0" anchor="ctr"/>
          <a:lstStyle/>
          <a:p>
            <a:pPr indent="0" marL="0">
              <a:buNone/>
            </a:pPr>
            <a:r>
              <a:rPr lang="en-US" sz="1000" b="1" spc="300" kern="0" dirty="0">
                <a:solidFill>
                  <a:srgbClr val="FFFFFF"/>
                </a:solidFill>
              </a:rPr>
              <a:t>PHASE WEB SERVICE HOOKS — INBOUND &amp; OUTBOUND INTEGRATION</a:t>
            </a:r>
            <a:endParaRPr lang="en-US" sz="1000" dirty="0"/>
          </a:p>
        </p:txBody>
      </p:sp>
      <p:sp>
        <p:nvSpPr>
          <p:cNvPr id="4" name="Text 2"/>
          <p:cNvSpPr/>
          <p:nvPr/>
        </p:nvSpPr>
        <p:spPr>
          <a:xfrm>
            <a:off x="7863840" y="0"/>
            <a:ext cx="1097280" cy="658368"/>
          </a:xfrm>
          <a:prstGeom prst="rect">
            <a:avLst/>
          </a:prstGeom>
          <a:noFill/>
          <a:ln/>
        </p:spPr>
        <p:txBody>
          <a:bodyPr wrap="square" lIns="0" tIns="0" rIns="0" bIns="0" rtlCol="0" anchor="ctr"/>
          <a:lstStyle/>
          <a:p>
            <a:pPr algn="r" indent="0" marL="0">
              <a:buNone/>
            </a:pPr>
            <a:r>
              <a:rPr lang="en-US" sz="900" dirty="0">
                <a:solidFill>
                  <a:srgbClr val="B2EBE8"/>
                </a:solidFill>
              </a:rPr>
              <a:t>ARCH-04</a:t>
            </a:r>
            <a:endParaRPr lang="en-US" sz="900" dirty="0"/>
          </a:p>
        </p:txBody>
      </p:sp>
      <p:sp>
        <p:nvSpPr>
          <p:cNvPr id="5" name="Shape 3"/>
          <p:cNvSpPr/>
          <p:nvPr/>
        </p:nvSpPr>
        <p:spPr>
          <a:xfrm>
            <a:off x="201168" y="777240"/>
            <a:ext cx="4224528" cy="987552"/>
          </a:xfrm>
          <a:prstGeom prst="rect">
            <a:avLst/>
          </a:prstGeom>
          <a:solidFill>
            <a:srgbClr val="EFF6FF"/>
          </a:solidFill>
          <a:ln w="19050">
            <a:solidFill>
              <a:srgbClr val="93C5FD"/>
            </a:solidFill>
            <a:prstDash val="solid"/>
          </a:ln>
        </p:spPr>
      </p:sp>
      <p:sp>
        <p:nvSpPr>
          <p:cNvPr id="6" name="Text 4"/>
          <p:cNvSpPr/>
          <p:nvPr/>
        </p:nvSpPr>
        <p:spPr>
          <a:xfrm>
            <a:off x="338328" y="868680"/>
            <a:ext cx="3931920" cy="256032"/>
          </a:xfrm>
          <a:prstGeom prst="rect">
            <a:avLst/>
          </a:prstGeom>
          <a:noFill/>
          <a:ln/>
        </p:spPr>
        <p:txBody>
          <a:bodyPr wrap="square" lIns="0" tIns="0" rIns="0" bIns="0" rtlCol="0" anchor="ctr"/>
          <a:lstStyle/>
          <a:p>
            <a:pPr indent="0" marL="0">
              <a:buNone/>
            </a:pPr>
            <a:r>
              <a:rPr lang="en-US" sz="1000" b="1" dirty="0">
                <a:solidFill>
                  <a:srgbClr val="2563EB"/>
                </a:solidFill>
              </a:rPr>
              <a:t>INBOUND (BLOCKING)</a:t>
            </a:r>
            <a:endParaRPr lang="en-US" sz="1000" dirty="0"/>
          </a:p>
        </p:txBody>
      </p:sp>
      <p:sp>
        <p:nvSpPr>
          <p:cNvPr id="7" name="Text 5"/>
          <p:cNvSpPr/>
          <p:nvPr/>
        </p:nvSpPr>
        <p:spPr>
          <a:xfrm>
            <a:off x="338328" y="1143000"/>
            <a:ext cx="3931920" cy="566928"/>
          </a:xfrm>
          <a:prstGeom prst="rect">
            <a:avLst/>
          </a:prstGeom>
          <a:noFill/>
          <a:ln/>
        </p:spPr>
        <p:txBody>
          <a:bodyPr wrap="square" lIns="0" tIns="0" rIns="0" bIns="0" rtlCol="0" anchor="ctr"/>
          <a:lstStyle/>
          <a:p>
            <a:pPr indent="0" marL="0">
              <a:buNone/>
            </a:pPr>
            <a:r>
              <a:rPr lang="en-US" sz="850" dirty="0">
                <a:solidFill>
                  <a:srgbClr val="64748B"/>
                </a:solidFill>
              </a:rPr>
              <a:t>Hook fires BEFORE a planning module runs. Fetches data from external system, transforms to core schema, injects as enrichment. If the external call fails and data is mandatory, the hook blocks phase progression and surfaces an error to the planner.</a:t>
            </a:r>
            <a:endParaRPr lang="en-US" sz="850" dirty="0"/>
          </a:p>
        </p:txBody>
      </p:sp>
      <p:sp>
        <p:nvSpPr>
          <p:cNvPr id="8" name="Shape 6"/>
          <p:cNvSpPr/>
          <p:nvPr/>
        </p:nvSpPr>
        <p:spPr>
          <a:xfrm>
            <a:off x="4681728" y="777240"/>
            <a:ext cx="4224528" cy="987552"/>
          </a:xfrm>
          <a:prstGeom prst="rect">
            <a:avLst/>
          </a:prstGeom>
          <a:solidFill>
            <a:srgbClr val="F0FDF4"/>
          </a:solidFill>
          <a:ln w="19050">
            <a:solidFill>
              <a:srgbClr val="6EE7B7"/>
            </a:solidFill>
            <a:prstDash val="solid"/>
          </a:ln>
        </p:spPr>
      </p:sp>
      <p:sp>
        <p:nvSpPr>
          <p:cNvPr id="9" name="Text 7"/>
          <p:cNvSpPr/>
          <p:nvPr/>
        </p:nvSpPr>
        <p:spPr>
          <a:xfrm>
            <a:off x="4818888" y="868680"/>
            <a:ext cx="3931920" cy="256032"/>
          </a:xfrm>
          <a:prstGeom prst="rect">
            <a:avLst/>
          </a:prstGeom>
          <a:noFill/>
          <a:ln/>
        </p:spPr>
        <p:txBody>
          <a:bodyPr wrap="square" lIns="0" tIns="0" rIns="0" bIns="0" rtlCol="0" anchor="ctr"/>
          <a:lstStyle/>
          <a:p>
            <a:pPr indent="0" marL="0">
              <a:buNone/>
            </a:pPr>
            <a:r>
              <a:rPr lang="en-US" sz="1000" b="1" dirty="0">
                <a:solidFill>
                  <a:srgbClr val="059669"/>
                </a:solidFill>
              </a:rPr>
              <a:t>OUTBOUND (NON-BLOCKING)</a:t>
            </a:r>
            <a:endParaRPr lang="en-US" sz="1000" dirty="0"/>
          </a:p>
        </p:txBody>
      </p:sp>
      <p:sp>
        <p:nvSpPr>
          <p:cNvPr id="10" name="Text 8"/>
          <p:cNvSpPr/>
          <p:nvPr/>
        </p:nvSpPr>
        <p:spPr>
          <a:xfrm>
            <a:off x="4818888" y="1143000"/>
            <a:ext cx="3931920" cy="566928"/>
          </a:xfrm>
          <a:prstGeom prst="rect">
            <a:avLst/>
          </a:prstGeom>
          <a:noFill/>
          <a:ln/>
        </p:spPr>
        <p:txBody>
          <a:bodyPr wrap="square" lIns="0" tIns="0" rIns="0" bIns="0" rtlCol="0" anchor="ctr"/>
          <a:lstStyle/>
          <a:p>
            <a:pPr indent="0" marL="0">
              <a:buNone/>
            </a:pPr>
            <a:r>
              <a:rPr lang="en-US" sz="850" dirty="0">
                <a:solidFill>
                  <a:srgbClr val="64748B"/>
                </a:solidFill>
              </a:rPr>
              <a:t>Hook fires AFTER a planning module completes. Packages output, posts to external system. Core pipeline continues regardless of hook success. Hook failure is logged and surfaced as a warning — the planning state is never rolled back for an outbound failure.</a:t>
            </a:r>
            <a:endParaRPr lang="en-US" sz="850" dirty="0"/>
          </a:p>
        </p:txBody>
      </p:sp>
      <p:sp>
        <p:nvSpPr>
          <p:cNvPr id="11" name="Shape 9"/>
          <p:cNvSpPr/>
          <p:nvPr/>
        </p:nvSpPr>
        <p:spPr>
          <a:xfrm>
            <a:off x="201168" y="1901952"/>
            <a:ext cx="8741664" cy="274320"/>
          </a:xfrm>
          <a:prstGeom prst="rect">
            <a:avLst/>
          </a:prstGeom>
          <a:solidFill>
            <a:srgbClr val="0F2044"/>
          </a:solidFill>
          <a:ln w="12700">
            <a:solidFill>
              <a:srgbClr val="0F2044"/>
            </a:solidFill>
            <a:prstDash val="solid"/>
          </a:ln>
        </p:spPr>
      </p:sp>
      <p:sp>
        <p:nvSpPr>
          <p:cNvPr id="12" name="Text 10"/>
          <p:cNvSpPr/>
          <p:nvPr/>
        </p:nvSpPr>
        <p:spPr>
          <a:xfrm>
            <a:off x="246888" y="1901952"/>
            <a:ext cx="960120" cy="274320"/>
          </a:xfrm>
          <a:prstGeom prst="rect">
            <a:avLst/>
          </a:prstGeom>
          <a:noFill/>
          <a:ln/>
        </p:spPr>
        <p:txBody>
          <a:bodyPr wrap="square" lIns="0" tIns="0" rIns="0" bIns="0" rtlCol="0" anchor="ctr"/>
          <a:lstStyle/>
          <a:p>
            <a:pPr indent="0" marL="0">
              <a:buNone/>
            </a:pPr>
            <a:r>
              <a:rPr lang="en-US" sz="750" b="1" dirty="0">
                <a:solidFill>
                  <a:srgbClr val="FFFFFF"/>
                </a:solidFill>
              </a:rPr>
              <a:t>STAGE</a:t>
            </a:r>
            <a:endParaRPr lang="en-US" sz="750" dirty="0"/>
          </a:p>
        </p:txBody>
      </p:sp>
      <p:sp>
        <p:nvSpPr>
          <p:cNvPr id="13" name="Text 11"/>
          <p:cNvSpPr/>
          <p:nvPr/>
        </p:nvSpPr>
        <p:spPr>
          <a:xfrm>
            <a:off x="1252728" y="1901952"/>
            <a:ext cx="429768" cy="274320"/>
          </a:xfrm>
          <a:prstGeom prst="rect">
            <a:avLst/>
          </a:prstGeom>
          <a:noFill/>
          <a:ln/>
        </p:spPr>
        <p:txBody>
          <a:bodyPr wrap="square" lIns="0" tIns="0" rIns="0" bIns="0" rtlCol="0" anchor="ctr"/>
          <a:lstStyle/>
          <a:p>
            <a:pPr indent="0" marL="0">
              <a:buNone/>
            </a:pPr>
            <a:r>
              <a:rPr lang="en-US" sz="750" b="1" dirty="0">
                <a:solidFill>
                  <a:srgbClr val="FFFFFF"/>
                </a:solidFill>
              </a:rPr>
              <a:t>DIR</a:t>
            </a:r>
            <a:endParaRPr lang="en-US" sz="750" dirty="0"/>
          </a:p>
        </p:txBody>
      </p:sp>
      <p:sp>
        <p:nvSpPr>
          <p:cNvPr id="14" name="Text 12"/>
          <p:cNvSpPr/>
          <p:nvPr/>
        </p:nvSpPr>
        <p:spPr>
          <a:xfrm>
            <a:off x="1728216" y="1901952"/>
            <a:ext cx="521208" cy="274320"/>
          </a:xfrm>
          <a:prstGeom prst="rect">
            <a:avLst/>
          </a:prstGeom>
          <a:noFill/>
          <a:ln/>
        </p:spPr>
        <p:txBody>
          <a:bodyPr wrap="square" lIns="0" tIns="0" rIns="0" bIns="0" rtlCol="0" anchor="ctr"/>
          <a:lstStyle/>
          <a:p>
            <a:pPr indent="0" marL="0">
              <a:buNone/>
            </a:pPr>
            <a:r>
              <a:rPr lang="en-US" sz="750" b="1" dirty="0">
                <a:solidFill>
                  <a:srgbClr val="FFFFFF"/>
                </a:solidFill>
              </a:rPr>
              <a:t>TIMING</a:t>
            </a:r>
            <a:endParaRPr lang="en-US" sz="750" dirty="0"/>
          </a:p>
        </p:txBody>
      </p:sp>
      <p:sp>
        <p:nvSpPr>
          <p:cNvPr id="15" name="Text 13"/>
          <p:cNvSpPr/>
          <p:nvPr/>
        </p:nvSpPr>
        <p:spPr>
          <a:xfrm>
            <a:off x="2295144" y="1901952"/>
            <a:ext cx="548640" cy="274320"/>
          </a:xfrm>
          <a:prstGeom prst="rect">
            <a:avLst/>
          </a:prstGeom>
          <a:noFill/>
          <a:ln/>
        </p:spPr>
        <p:txBody>
          <a:bodyPr wrap="square" lIns="0" tIns="0" rIns="0" bIns="0" rtlCol="0" anchor="ctr"/>
          <a:lstStyle/>
          <a:p>
            <a:pPr indent="0" marL="0">
              <a:buNone/>
            </a:pPr>
            <a:r>
              <a:rPr lang="en-US" sz="750" b="1" dirty="0">
                <a:solidFill>
                  <a:srgbClr val="FFFFFF"/>
                </a:solidFill>
              </a:rPr>
              <a:t>BLOCKING?</a:t>
            </a:r>
            <a:endParaRPr lang="en-US" sz="750" dirty="0"/>
          </a:p>
        </p:txBody>
      </p:sp>
      <p:sp>
        <p:nvSpPr>
          <p:cNvPr id="16" name="Text 14"/>
          <p:cNvSpPr/>
          <p:nvPr/>
        </p:nvSpPr>
        <p:spPr>
          <a:xfrm>
            <a:off x="2889504" y="1901952"/>
            <a:ext cx="1252728" cy="274320"/>
          </a:xfrm>
          <a:prstGeom prst="rect">
            <a:avLst/>
          </a:prstGeom>
          <a:noFill/>
          <a:ln/>
        </p:spPr>
        <p:txBody>
          <a:bodyPr wrap="square" lIns="0" tIns="0" rIns="0" bIns="0" rtlCol="0" anchor="ctr"/>
          <a:lstStyle/>
          <a:p>
            <a:pPr indent="0" marL="0">
              <a:buNone/>
            </a:pPr>
            <a:r>
              <a:rPr lang="en-US" sz="750" b="1" dirty="0">
                <a:solidFill>
                  <a:srgbClr val="FFFFFF"/>
                </a:solidFill>
              </a:rPr>
              <a:t>EXTERNAL SYSTEM</a:t>
            </a:r>
            <a:endParaRPr lang="en-US" sz="750" dirty="0"/>
          </a:p>
        </p:txBody>
      </p:sp>
      <p:sp>
        <p:nvSpPr>
          <p:cNvPr id="17" name="Text 15"/>
          <p:cNvSpPr/>
          <p:nvPr/>
        </p:nvSpPr>
        <p:spPr>
          <a:xfrm>
            <a:off x="4187952" y="1901952"/>
            <a:ext cx="2770632" cy="274320"/>
          </a:xfrm>
          <a:prstGeom prst="rect">
            <a:avLst/>
          </a:prstGeom>
          <a:noFill/>
          <a:ln/>
        </p:spPr>
        <p:txBody>
          <a:bodyPr wrap="square" lIns="0" tIns="0" rIns="0" bIns="0" rtlCol="0" anchor="ctr"/>
          <a:lstStyle/>
          <a:p>
            <a:pPr indent="0" marL="0">
              <a:buNone/>
            </a:pPr>
            <a:r>
              <a:rPr lang="en-US" sz="750" b="1" dirty="0">
                <a:solidFill>
                  <a:srgbClr val="FFFFFF"/>
                </a:solidFill>
              </a:rPr>
              <a:t>PURPOSE</a:t>
            </a:r>
            <a:endParaRPr lang="en-US" sz="750" dirty="0"/>
          </a:p>
        </p:txBody>
      </p:sp>
      <p:sp>
        <p:nvSpPr>
          <p:cNvPr id="18" name="Text 16"/>
          <p:cNvSpPr/>
          <p:nvPr/>
        </p:nvSpPr>
        <p:spPr>
          <a:xfrm>
            <a:off x="7004304" y="1901952"/>
            <a:ext cx="2139696" cy="274320"/>
          </a:xfrm>
          <a:prstGeom prst="rect">
            <a:avLst/>
          </a:prstGeom>
          <a:noFill/>
          <a:ln/>
        </p:spPr>
        <p:txBody>
          <a:bodyPr wrap="square" lIns="0" tIns="0" rIns="0" bIns="0" rtlCol="0" anchor="ctr"/>
          <a:lstStyle/>
          <a:p>
            <a:pPr indent="0" marL="0">
              <a:buNone/>
            </a:pPr>
            <a:r>
              <a:rPr lang="en-US" sz="750" b="1" dirty="0">
                <a:solidFill>
                  <a:srgbClr val="FFFFFF"/>
                </a:solidFill>
              </a:rPr>
              <a:t>SCHEMA CONTRACT</a:t>
            </a:r>
            <a:endParaRPr lang="en-US" sz="750" dirty="0"/>
          </a:p>
        </p:txBody>
      </p:sp>
      <p:sp>
        <p:nvSpPr>
          <p:cNvPr id="19" name="Shape 17"/>
          <p:cNvSpPr/>
          <p:nvPr/>
        </p:nvSpPr>
        <p:spPr>
          <a:xfrm>
            <a:off x="201168" y="2176272"/>
            <a:ext cx="8741664" cy="393192"/>
          </a:xfrm>
          <a:prstGeom prst="rect">
            <a:avLst/>
          </a:prstGeom>
          <a:solidFill>
            <a:srgbClr val="FFFFFF"/>
          </a:solidFill>
          <a:ln w="6350">
            <a:solidFill>
              <a:srgbClr val="E2E8F0"/>
            </a:solidFill>
            <a:prstDash val="solid"/>
          </a:ln>
        </p:spPr>
      </p:sp>
      <p:sp>
        <p:nvSpPr>
          <p:cNvPr id="20" name="Text 18"/>
          <p:cNvSpPr/>
          <p:nvPr/>
        </p:nvSpPr>
        <p:spPr>
          <a:xfrm>
            <a:off x="246888" y="2212848"/>
            <a:ext cx="932688" cy="320040"/>
          </a:xfrm>
          <a:prstGeom prst="rect">
            <a:avLst/>
          </a:prstGeom>
          <a:noFill/>
          <a:ln/>
        </p:spPr>
        <p:txBody>
          <a:bodyPr wrap="square" lIns="0" tIns="0" rIns="0" bIns="0" rtlCol="0" anchor="ctr"/>
          <a:lstStyle/>
          <a:p>
            <a:pPr indent="0" marL="0">
              <a:buNone/>
            </a:pPr>
            <a:r>
              <a:rPr lang="en-US" sz="800" b="1" dirty="0">
                <a:solidFill>
                  <a:srgbClr val="0F2044"/>
                </a:solidFill>
              </a:rPr>
              <a:t>SETUP</a:t>
            </a:r>
            <a:endParaRPr lang="en-US" sz="800" dirty="0"/>
          </a:p>
        </p:txBody>
      </p:sp>
      <p:sp>
        <p:nvSpPr>
          <p:cNvPr id="21" name="Text 19"/>
          <p:cNvSpPr/>
          <p:nvPr/>
        </p:nvSpPr>
        <p:spPr>
          <a:xfrm>
            <a:off x="1252728" y="2212848"/>
            <a:ext cx="402336" cy="320040"/>
          </a:xfrm>
          <a:prstGeom prst="rect">
            <a:avLst/>
          </a:prstGeom>
          <a:noFill/>
          <a:ln/>
        </p:spPr>
        <p:txBody>
          <a:bodyPr wrap="square" lIns="0" tIns="0" rIns="0" bIns="0" rtlCol="0" anchor="ctr"/>
          <a:lstStyle/>
          <a:p>
            <a:pPr indent="0" marL="0">
              <a:buNone/>
            </a:pPr>
            <a:r>
              <a:rPr lang="en-US" sz="800" b="1" dirty="0">
                <a:solidFill>
                  <a:srgbClr val="2563EB"/>
                </a:solidFill>
              </a:rPr>
              <a:t>IN</a:t>
            </a:r>
            <a:endParaRPr lang="en-US" sz="800" dirty="0"/>
          </a:p>
        </p:txBody>
      </p:sp>
      <p:sp>
        <p:nvSpPr>
          <p:cNvPr id="22" name="Text 20"/>
          <p:cNvSpPr/>
          <p:nvPr/>
        </p:nvSpPr>
        <p:spPr>
          <a:xfrm>
            <a:off x="1728216" y="2212848"/>
            <a:ext cx="493776" cy="320040"/>
          </a:xfrm>
          <a:prstGeom prst="rect">
            <a:avLst/>
          </a:prstGeom>
          <a:noFill/>
          <a:ln/>
        </p:spPr>
        <p:txBody>
          <a:bodyPr wrap="square" lIns="0" tIns="0" rIns="0" bIns="0" rtlCol="0" anchor="ctr"/>
          <a:lstStyle/>
          <a:p>
            <a:pPr indent="0" marL="0">
              <a:buNone/>
            </a:pPr>
            <a:r>
              <a:rPr lang="en-US" sz="800" dirty="0">
                <a:solidFill>
                  <a:srgbClr val="64748B"/>
                </a:solidFill>
              </a:rPr>
              <a:t>Before Setup</a:t>
            </a:r>
            <a:endParaRPr lang="en-US" sz="800" dirty="0"/>
          </a:p>
        </p:txBody>
      </p:sp>
      <p:sp>
        <p:nvSpPr>
          <p:cNvPr id="23" name="Text 21"/>
          <p:cNvSpPr/>
          <p:nvPr/>
        </p:nvSpPr>
        <p:spPr>
          <a:xfrm>
            <a:off x="2295144" y="2212848"/>
            <a:ext cx="521208" cy="320040"/>
          </a:xfrm>
          <a:prstGeom prst="rect">
            <a:avLst/>
          </a:prstGeom>
          <a:noFill/>
          <a:ln/>
        </p:spPr>
        <p:txBody>
          <a:bodyPr wrap="square" lIns="0" tIns="0" rIns="0" bIns="0" rtlCol="0" anchor="ctr"/>
          <a:lstStyle/>
          <a:p>
            <a:pPr indent="0" marL="0">
              <a:buNone/>
            </a:pPr>
            <a:r>
              <a:rPr lang="en-US" sz="800" dirty="0">
                <a:solidFill>
                  <a:srgbClr val="DC2626"/>
                </a:solidFill>
              </a:rPr>
              <a:t>BLOCK</a:t>
            </a:r>
            <a:endParaRPr lang="en-US" sz="800" dirty="0"/>
          </a:p>
        </p:txBody>
      </p:sp>
      <p:sp>
        <p:nvSpPr>
          <p:cNvPr id="24" name="Text 22"/>
          <p:cNvSpPr/>
          <p:nvPr/>
        </p:nvSpPr>
        <p:spPr>
          <a:xfrm>
            <a:off x="2889504" y="2212848"/>
            <a:ext cx="1225296" cy="320040"/>
          </a:xfrm>
          <a:prstGeom prst="rect">
            <a:avLst/>
          </a:prstGeom>
          <a:noFill/>
          <a:ln/>
        </p:spPr>
        <p:txBody>
          <a:bodyPr wrap="square" lIns="0" tIns="0" rIns="0" bIns="0" rtlCol="0" anchor="ctr"/>
          <a:lstStyle/>
          <a:p>
            <a:pPr indent="0" marL="0">
              <a:buNone/>
            </a:pPr>
            <a:r>
              <a:rPr lang="en-US" sz="800" dirty="0">
                <a:solidFill>
                  <a:srgbClr val="334155"/>
                </a:solidFill>
              </a:rPr>
              <a:t>PLM / MDM</a:t>
            </a:r>
            <a:endParaRPr lang="en-US" sz="800" dirty="0"/>
          </a:p>
        </p:txBody>
      </p:sp>
      <p:sp>
        <p:nvSpPr>
          <p:cNvPr id="25" name="Text 23"/>
          <p:cNvSpPr/>
          <p:nvPr/>
        </p:nvSpPr>
        <p:spPr>
          <a:xfrm>
            <a:off x="4187952" y="2212848"/>
            <a:ext cx="2743200" cy="320040"/>
          </a:xfrm>
          <a:prstGeom prst="rect">
            <a:avLst/>
          </a:prstGeom>
          <a:noFill/>
          <a:ln/>
        </p:spPr>
        <p:txBody>
          <a:bodyPr wrap="square" lIns="0" tIns="0" rIns="0" bIns="0" rtlCol="0" anchor="ctr"/>
          <a:lstStyle/>
          <a:p>
            <a:pPr indent="0" marL="0">
              <a:buNone/>
            </a:pPr>
            <a:r>
              <a:rPr lang="en-US" sz="750" dirty="0">
                <a:solidFill>
                  <a:srgbClr val="64748B"/>
                </a:solidFill>
              </a:rPr>
              <a:t>Sync product master, hierarchy nodes, attribute frameworks from PLM before season is configured.</a:t>
            </a:r>
            <a:endParaRPr lang="en-US" sz="750" dirty="0"/>
          </a:p>
        </p:txBody>
      </p:sp>
      <p:sp>
        <p:nvSpPr>
          <p:cNvPr id="26" name="Text 24"/>
          <p:cNvSpPr/>
          <p:nvPr/>
        </p:nvSpPr>
        <p:spPr>
          <a:xfrm>
            <a:off x="7004304" y="2212848"/>
            <a:ext cx="2112264" cy="320040"/>
          </a:xfrm>
          <a:prstGeom prst="rect">
            <a:avLst/>
          </a:prstGeom>
          <a:noFill/>
          <a:ln/>
        </p:spPr>
        <p:txBody>
          <a:bodyPr wrap="square" lIns="0" tIns="0" rIns="0" bIns="0" rtlCol="0" anchor="ctr"/>
          <a:lstStyle/>
          <a:p>
            <a:pPr indent="0" marL="0">
              <a:buNone/>
            </a:pPr>
            <a:r>
              <a:rPr lang="en-US" sz="800" dirty="0">
                <a:solidFill>
                  <a:srgbClr val="94A3B8"/>
                </a:solidFill>
              </a:rPr>
              <a:t>PLMProductFeed v2 → CoreProductSchema v3</a:t>
            </a:r>
            <a:endParaRPr lang="en-US" sz="800" dirty="0"/>
          </a:p>
        </p:txBody>
      </p:sp>
      <p:sp>
        <p:nvSpPr>
          <p:cNvPr id="27" name="Shape 25"/>
          <p:cNvSpPr/>
          <p:nvPr/>
        </p:nvSpPr>
        <p:spPr>
          <a:xfrm>
            <a:off x="201168" y="2569464"/>
            <a:ext cx="8741664" cy="393192"/>
          </a:xfrm>
          <a:prstGeom prst="rect">
            <a:avLst/>
          </a:prstGeom>
          <a:solidFill>
            <a:srgbClr val="F7F9FC"/>
          </a:solidFill>
          <a:ln w="6350">
            <a:solidFill>
              <a:srgbClr val="E2E8F0"/>
            </a:solidFill>
            <a:prstDash val="solid"/>
          </a:ln>
        </p:spPr>
      </p:sp>
      <p:sp>
        <p:nvSpPr>
          <p:cNvPr id="28" name="Text 26"/>
          <p:cNvSpPr/>
          <p:nvPr/>
        </p:nvSpPr>
        <p:spPr>
          <a:xfrm>
            <a:off x="246888" y="2606040"/>
            <a:ext cx="932688" cy="320040"/>
          </a:xfrm>
          <a:prstGeom prst="rect">
            <a:avLst/>
          </a:prstGeom>
          <a:noFill/>
          <a:ln/>
        </p:spPr>
        <p:txBody>
          <a:bodyPr wrap="square" lIns="0" tIns="0" rIns="0" bIns="0" rtlCol="0" anchor="ctr"/>
          <a:lstStyle/>
          <a:p>
            <a:pPr indent="0" marL="0">
              <a:buNone/>
            </a:pPr>
            <a:r>
              <a:rPr lang="en-US" sz="800" b="1" dirty="0">
                <a:solidFill>
                  <a:srgbClr val="0F2044"/>
                </a:solidFill>
              </a:rPr>
              <a:t>HINDSIGHT</a:t>
            </a:r>
            <a:endParaRPr lang="en-US" sz="800" dirty="0"/>
          </a:p>
        </p:txBody>
      </p:sp>
      <p:sp>
        <p:nvSpPr>
          <p:cNvPr id="29" name="Text 27"/>
          <p:cNvSpPr/>
          <p:nvPr/>
        </p:nvSpPr>
        <p:spPr>
          <a:xfrm>
            <a:off x="1252728" y="2606040"/>
            <a:ext cx="402336" cy="320040"/>
          </a:xfrm>
          <a:prstGeom prst="rect">
            <a:avLst/>
          </a:prstGeom>
          <a:noFill/>
          <a:ln/>
        </p:spPr>
        <p:txBody>
          <a:bodyPr wrap="square" lIns="0" tIns="0" rIns="0" bIns="0" rtlCol="0" anchor="ctr"/>
          <a:lstStyle/>
          <a:p>
            <a:pPr indent="0" marL="0">
              <a:buNone/>
            </a:pPr>
            <a:r>
              <a:rPr lang="en-US" sz="800" b="1" dirty="0">
                <a:solidFill>
                  <a:srgbClr val="2563EB"/>
                </a:solidFill>
              </a:rPr>
              <a:t>IN</a:t>
            </a:r>
            <a:endParaRPr lang="en-US" sz="800" dirty="0"/>
          </a:p>
        </p:txBody>
      </p:sp>
      <p:sp>
        <p:nvSpPr>
          <p:cNvPr id="30" name="Text 28"/>
          <p:cNvSpPr/>
          <p:nvPr/>
        </p:nvSpPr>
        <p:spPr>
          <a:xfrm>
            <a:off x="1728216" y="2606040"/>
            <a:ext cx="493776" cy="320040"/>
          </a:xfrm>
          <a:prstGeom prst="rect">
            <a:avLst/>
          </a:prstGeom>
          <a:noFill/>
          <a:ln/>
        </p:spPr>
        <p:txBody>
          <a:bodyPr wrap="square" lIns="0" tIns="0" rIns="0" bIns="0" rtlCol="0" anchor="ctr"/>
          <a:lstStyle/>
          <a:p>
            <a:pPr indent="0" marL="0">
              <a:buNone/>
            </a:pPr>
            <a:r>
              <a:rPr lang="en-US" sz="800" dirty="0">
                <a:solidFill>
                  <a:srgbClr val="64748B"/>
                </a:solidFill>
              </a:rPr>
              <a:t>Before History Opt.</a:t>
            </a:r>
            <a:endParaRPr lang="en-US" sz="800" dirty="0"/>
          </a:p>
        </p:txBody>
      </p:sp>
      <p:sp>
        <p:nvSpPr>
          <p:cNvPr id="31" name="Text 29"/>
          <p:cNvSpPr/>
          <p:nvPr/>
        </p:nvSpPr>
        <p:spPr>
          <a:xfrm>
            <a:off x="2295144" y="2606040"/>
            <a:ext cx="521208" cy="320040"/>
          </a:xfrm>
          <a:prstGeom prst="rect">
            <a:avLst/>
          </a:prstGeom>
          <a:noFill/>
          <a:ln/>
        </p:spPr>
        <p:txBody>
          <a:bodyPr wrap="square" lIns="0" tIns="0" rIns="0" bIns="0" rtlCol="0" anchor="ctr"/>
          <a:lstStyle/>
          <a:p>
            <a:pPr indent="0" marL="0">
              <a:buNone/>
            </a:pPr>
            <a:r>
              <a:rPr lang="en-US" sz="800" dirty="0">
                <a:solidFill>
                  <a:srgbClr val="DC2626"/>
                </a:solidFill>
              </a:rPr>
              <a:t>BLOCK</a:t>
            </a:r>
            <a:endParaRPr lang="en-US" sz="800" dirty="0"/>
          </a:p>
        </p:txBody>
      </p:sp>
      <p:sp>
        <p:nvSpPr>
          <p:cNvPr id="32" name="Text 30"/>
          <p:cNvSpPr/>
          <p:nvPr/>
        </p:nvSpPr>
        <p:spPr>
          <a:xfrm>
            <a:off x="2889504" y="2606040"/>
            <a:ext cx="1225296" cy="320040"/>
          </a:xfrm>
          <a:prstGeom prst="rect">
            <a:avLst/>
          </a:prstGeom>
          <a:noFill/>
          <a:ln/>
        </p:spPr>
        <p:txBody>
          <a:bodyPr wrap="square" lIns="0" tIns="0" rIns="0" bIns="0" rtlCol="0" anchor="ctr"/>
          <a:lstStyle/>
          <a:p>
            <a:pPr indent="0" marL="0">
              <a:buNone/>
            </a:pPr>
            <a:r>
              <a:rPr lang="en-US" sz="800" dirty="0">
                <a:solidFill>
                  <a:srgbClr val="334155"/>
                </a:solidFill>
              </a:rPr>
              <a:t>Data Warehouse</a:t>
            </a:r>
            <a:endParaRPr lang="en-US" sz="800" dirty="0"/>
          </a:p>
        </p:txBody>
      </p:sp>
      <p:sp>
        <p:nvSpPr>
          <p:cNvPr id="33" name="Text 31"/>
          <p:cNvSpPr/>
          <p:nvPr/>
        </p:nvSpPr>
        <p:spPr>
          <a:xfrm>
            <a:off x="4187952" y="2606040"/>
            <a:ext cx="2743200" cy="320040"/>
          </a:xfrm>
          <a:prstGeom prst="rect">
            <a:avLst/>
          </a:prstGeom>
          <a:noFill/>
          <a:ln/>
        </p:spPr>
        <p:txBody>
          <a:bodyPr wrap="square" lIns="0" tIns="0" rIns="0" bIns="0" rtlCol="0" anchor="ctr"/>
          <a:lstStyle/>
          <a:p>
            <a:pPr indent="0" marL="0">
              <a:buNone/>
            </a:pPr>
            <a:r>
              <a:rPr lang="en-US" sz="750" dirty="0">
                <a:solidFill>
                  <a:srgbClr val="64748B"/>
                </a:solidFill>
              </a:rPr>
              <a:t>Pull cleaned sales history, returns, sell-through data. History Optimisation algorithm cannot run without this feed.</a:t>
            </a:r>
            <a:endParaRPr lang="en-US" sz="750" dirty="0"/>
          </a:p>
        </p:txBody>
      </p:sp>
      <p:sp>
        <p:nvSpPr>
          <p:cNvPr id="34" name="Text 32"/>
          <p:cNvSpPr/>
          <p:nvPr/>
        </p:nvSpPr>
        <p:spPr>
          <a:xfrm>
            <a:off x="7004304" y="2606040"/>
            <a:ext cx="2112264" cy="320040"/>
          </a:xfrm>
          <a:prstGeom prst="rect">
            <a:avLst/>
          </a:prstGeom>
          <a:noFill/>
          <a:ln/>
        </p:spPr>
        <p:txBody>
          <a:bodyPr wrap="square" lIns="0" tIns="0" rIns="0" bIns="0" rtlCol="0" anchor="ctr"/>
          <a:lstStyle/>
          <a:p>
            <a:pPr indent="0" marL="0">
              <a:buNone/>
            </a:pPr>
            <a:r>
              <a:rPr lang="en-US" sz="800" dirty="0">
                <a:solidFill>
                  <a:srgbClr val="94A3B8"/>
                </a:solidFill>
              </a:rPr>
              <a:t>SalesHistoryFeed v1 → CoreSalesSchema v2</a:t>
            </a:r>
            <a:endParaRPr lang="en-US" sz="800" dirty="0"/>
          </a:p>
        </p:txBody>
      </p:sp>
      <p:sp>
        <p:nvSpPr>
          <p:cNvPr id="35" name="Shape 33"/>
          <p:cNvSpPr/>
          <p:nvPr/>
        </p:nvSpPr>
        <p:spPr>
          <a:xfrm>
            <a:off x="201168" y="2962656"/>
            <a:ext cx="8741664" cy="393192"/>
          </a:xfrm>
          <a:prstGeom prst="rect">
            <a:avLst/>
          </a:prstGeom>
          <a:solidFill>
            <a:srgbClr val="FFFFFF"/>
          </a:solidFill>
          <a:ln w="6350">
            <a:solidFill>
              <a:srgbClr val="E2E8F0"/>
            </a:solidFill>
            <a:prstDash val="solid"/>
          </a:ln>
        </p:spPr>
      </p:sp>
      <p:sp>
        <p:nvSpPr>
          <p:cNvPr id="36" name="Text 34"/>
          <p:cNvSpPr/>
          <p:nvPr/>
        </p:nvSpPr>
        <p:spPr>
          <a:xfrm>
            <a:off x="246888" y="2999232"/>
            <a:ext cx="932688" cy="320040"/>
          </a:xfrm>
          <a:prstGeom prst="rect">
            <a:avLst/>
          </a:prstGeom>
          <a:noFill/>
          <a:ln/>
        </p:spPr>
        <p:txBody>
          <a:bodyPr wrap="square" lIns="0" tIns="0" rIns="0" bIns="0" rtlCol="0" anchor="ctr"/>
          <a:lstStyle/>
          <a:p>
            <a:pPr indent="0" marL="0">
              <a:buNone/>
            </a:pPr>
            <a:r>
              <a:rPr lang="en-US" sz="800" b="1" dirty="0">
                <a:solidFill>
                  <a:srgbClr val="0F2044"/>
                </a:solidFill>
              </a:rPr>
              <a:t>STRATEGY</a:t>
            </a:r>
            <a:endParaRPr lang="en-US" sz="800" dirty="0"/>
          </a:p>
        </p:txBody>
      </p:sp>
      <p:sp>
        <p:nvSpPr>
          <p:cNvPr id="37" name="Text 35"/>
          <p:cNvSpPr/>
          <p:nvPr/>
        </p:nvSpPr>
        <p:spPr>
          <a:xfrm>
            <a:off x="1252728" y="2999232"/>
            <a:ext cx="402336" cy="320040"/>
          </a:xfrm>
          <a:prstGeom prst="rect">
            <a:avLst/>
          </a:prstGeom>
          <a:noFill/>
          <a:ln/>
        </p:spPr>
        <p:txBody>
          <a:bodyPr wrap="square" lIns="0" tIns="0" rIns="0" bIns="0" rtlCol="0" anchor="ctr"/>
          <a:lstStyle/>
          <a:p>
            <a:pPr indent="0" marL="0">
              <a:buNone/>
            </a:pPr>
            <a:r>
              <a:rPr lang="en-US" sz="800" b="1" dirty="0">
                <a:solidFill>
                  <a:srgbClr val="2563EB"/>
                </a:solidFill>
              </a:rPr>
              <a:t>IN</a:t>
            </a:r>
            <a:endParaRPr lang="en-US" sz="800" dirty="0"/>
          </a:p>
        </p:txBody>
      </p:sp>
      <p:sp>
        <p:nvSpPr>
          <p:cNvPr id="38" name="Text 36"/>
          <p:cNvSpPr/>
          <p:nvPr/>
        </p:nvSpPr>
        <p:spPr>
          <a:xfrm>
            <a:off x="1728216" y="2999232"/>
            <a:ext cx="493776" cy="320040"/>
          </a:xfrm>
          <a:prstGeom prst="rect">
            <a:avLst/>
          </a:prstGeom>
          <a:noFill/>
          <a:ln/>
        </p:spPr>
        <p:txBody>
          <a:bodyPr wrap="square" lIns="0" tIns="0" rIns="0" bIns="0" rtlCol="0" anchor="ctr"/>
          <a:lstStyle/>
          <a:p>
            <a:pPr indent="0" marL="0">
              <a:buNone/>
            </a:pPr>
            <a:r>
              <a:rPr lang="en-US" sz="800" dirty="0">
                <a:solidFill>
                  <a:srgbClr val="64748B"/>
                </a:solidFill>
              </a:rPr>
              <a:t>Before Strategy</a:t>
            </a:r>
            <a:endParaRPr lang="en-US" sz="800" dirty="0"/>
          </a:p>
        </p:txBody>
      </p:sp>
      <p:sp>
        <p:nvSpPr>
          <p:cNvPr id="39" name="Text 37"/>
          <p:cNvSpPr/>
          <p:nvPr/>
        </p:nvSpPr>
        <p:spPr>
          <a:xfrm>
            <a:off x="2295144" y="2999232"/>
            <a:ext cx="521208" cy="320040"/>
          </a:xfrm>
          <a:prstGeom prst="rect">
            <a:avLst/>
          </a:prstGeom>
          <a:noFill/>
          <a:ln/>
        </p:spPr>
        <p:txBody>
          <a:bodyPr wrap="square" lIns="0" tIns="0" rIns="0" bIns="0" rtlCol="0" anchor="ctr"/>
          <a:lstStyle/>
          <a:p>
            <a:pPr indent="0" marL="0">
              <a:buNone/>
            </a:pPr>
            <a:r>
              <a:rPr lang="en-US" sz="800" dirty="0">
                <a:solidFill>
                  <a:srgbClr val="0D7377"/>
                </a:solidFill>
              </a:rPr>
              <a:t>WARN</a:t>
            </a:r>
            <a:endParaRPr lang="en-US" sz="800" dirty="0"/>
          </a:p>
        </p:txBody>
      </p:sp>
      <p:sp>
        <p:nvSpPr>
          <p:cNvPr id="40" name="Text 38"/>
          <p:cNvSpPr/>
          <p:nvPr/>
        </p:nvSpPr>
        <p:spPr>
          <a:xfrm>
            <a:off x="2889504" y="2999232"/>
            <a:ext cx="1225296" cy="320040"/>
          </a:xfrm>
          <a:prstGeom prst="rect">
            <a:avLst/>
          </a:prstGeom>
          <a:noFill/>
          <a:ln/>
        </p:spPr>
        <p:txBody>
          <a:bodyPr wrap="square" lIns="0" tIns="0" rIns="0" bIns="0" rtlCol="0" anchor="ctr"/>
          <a:lstStyle/>
          <a:p>
            <a:pPr indent="0" marL="0">
              <a:buNone/>
            </a:pPr>
            <a:r>
              <a:rPr lang="en-US" sz="800" dirty="0">
                <a:solidFill>
                  <a:srgbClr val="334155"/>
                </a:solidFill>
              </a:rPr>
              <a:t>Market Index API</a:t>
            </a:r>
            <a:endParaRPr lang="en-US" sz="800" dirty="0"/>
          </a:p>
        </p:txBody>
      </p:sp>
      <p:sp>
        <p:nvSpPr>
          <p:cNvPr id="41" name="Text 39"/>
          <p:cNvSpPr/>
          <p:nvPr/>
        </p:nvSpPr>
        <p:spPr>
          <a:xfrm>
            <a:off x="4187952" y="2999232"/>
            <a:ext cx="2743200" cy="320040"/>
          </a:xfrm>
          <a:prstGeom prst="rect">
            <a:avLst/>
          </a:prstGeom>
          <a:noFill/>
          <a:ln/>
        </p:spPr>
        <p:txBody>
          <a:bodyPr wrap="square" lIns="0" tIns="0" rIns="0" bIns="0" rtlCol="0" anchor="ctr"/>
          <a:lstStyle/>
          <a:p>
            <a:pPr indent="0" marL="0">
              <a:buNone/>
            </a:pPr>
            <a:r>
              <a:rPr lang="en-US" sz="750" dirty="0">
                <a:solidFill>
                  <a:srgbClr val="64748B"/>
                </a:solidFill>
              </a:rPr>
              <a:t>Enrich strategy scenarios with external market sizing data. Non-blocking — scenarios generate with internal data if call fails.</a:t>
            </a:r>
            <a:endParaRPr lang="en-US" sz="750" dirty="0"/>
          </a:p>
        </p:txBody>
      </p:sp>
      <p:sp>
        <p:nvSpPr>
          <p:cNvPr id="42" name="Text 40"/>
          <p:cNvSpPr/>
          <p:nvPr/>
        </p:nvSpPr>
        <p:spPr>
          <a:xfrm>
            <a:off x="7004304" y="2999232"/>
            <a:ext cx="2112264" cy="320040"/>
          </a:xfrm>
          <a:prstGeom prst="rect">
            <a:avLst/>
          </a:prstGeom>
          <a:noFill/>
          <a:ln/>
        </p:spPr>
        <p:txBody>
          <a:bodyPr wrap="square" lIns="0" tIns="0" rIns="0" bIns="0" rtlCol="0" anchor="ctr"/>
          <a:lstStyle/>
          <a:p>
            <a:pPr indent="0" marL="0">
              <a:buNone/>
            </a:pPr>
            <a:r>
              <a:rPr lang="en-US" sz="800" dirty="0">
                <a:solidFill>
                  <a:srgbClr val="94A3B8"/>
                </a:solidFill>
              </a:rPr>
              <a:t>MarketIndexFeed v1 → MarketContextSchema v1</a:t>
            </a:r>
            <a:endParaRPr lang="en-US" sz="800" dirty="0"/>
          </a:p>
        </p:txBody>
      </p:sp>
      <p:sp>
        <p:nvSpPr>
          <p:cNvPr id="43" name="Shape 41"/>
          <p:cNvSpPr/>
          <p:nvPr/>
        </p:nvSpPr>
        <p:spPr>
          <a:xfrm>
            <a:off x="201168" y="3355848"/>
            <a:ext cx="8741664" cy="393192"/>
          </a:xfrm>
          <a:prstGeom prst="rect">
            <a:avLst/>
          </a:prstGeom>
          <a:solidFill>
            <a:srgbClr val="F7F9FC"/>
          </a:solidFill>
          <a:ln w="6350">
            <a:solidFill>
              <a:srgbClr val="E2E8F0"/>
            </a:solidFill>
            <a:prstDash val="solid"/>
          </a:ln>
        </p:spPr>
      </p:sp>
      <p:sp>
        <p:nvSpPr>
          <p:cNvPr id="44" name="Text 42"/>
          <p:cNvSpPr/>
          <p:nvPr/>
        </p:nvSpPr>
        <p:spPr>
          <a:xfrm>
            <a:off x="246888" y="3392424"/>
            <a:ext cx="932688" cy="320040"/>
          </a:xfrm>
          <a:prstGeom prst="rect">
            <a:avLst/>
          </a:prstGeom>
          <a:noFill/>
          <a:ln/>
        </p:spPr>
        <p:txBody>
          <a:bodyPr wrap="square" lIns="0" tIns="0" rIns="0" bIns="0" rtlCol="0" anchor="ctr"/>
          <a:lstStyle/>
          <a:p>
            <a:pPr indent="0" marL="0">
              <a:buNone/>
            </a:pPr>
            <a:r>
              <a:rPr lang="en-US" sz="800" b="1" dirty="0">
                <a:solidFill>
                  <a:srgbClr val="0F2044"/>
                </a:solidFill>
              </a:rPr>
              <a:t>STRATEGY</a:t>
            </a:r>
            <a:endParaRPr lang="en-US" sz="800" dirty="0"/>
          </a:p>
        </p:txBody>
      </p:sp>
      <p:sp>
        <p:nvSpPr>
          <p:cNvPr id="45" name="Text 43"/>
          <p:cNvSpPr/>
          <p:nvPr/>
        </p:nvSpPr>
        <p:spPr>
          <a:xfrm>
            <a:off x="1252728" y="3392424"/>
            <a:ext cx="402336" cy="320040"/>
          </a:xfrm>
          <a:prstGeom prst="rect">
            <a:avLst/>
          </a:prstGeom>
          <a:noFill/>
          <a:ln/>
        </p:spPr>
        <p:txBody>
          <a:bodyPr wrap="square" lIns="0" tIns="0" rIns="0" bIns="0" rtlCol="0" anchor="ctr"/>
          <a:lstStyle/>
          <a:p>
            <a:pPr indent="0" marL="0">
              <a:buNone/>
            </a:pPr>
            <a:r>
              <a:rPr lang="en-US" sz="800" b="1" dirty="0">
                <a:solidFill>
                  <a:srgbClr val="059669"/>
                </a:solidFill>
              </a:rPr>
              <a:t>OUT</a:t>
            </a:r>
            <a:endParaRPr lang="en-US" sz="800" dirty="0"/>
          </a:p>
        </p:txBody>
      </p:sp>
      <p:sp>
        <p:nvSpPr>
          <p:cNvPr id="46" name="Text 44"/>
          <p:cNvSpPr/>
          <p:nvPr/>
        </p:nvSpPr>
        <p:spPr>
          <a:xfrm>
            <a:off x="1728216" y="3392424"/>
            <a:ext cx="493776" cy="320040"/>
          </a:xfrm>
          <a:prstGeom prst="rect">
            <a:avLst/>
          </a:prstGeom>
          <a:noFill/>
          <a:ln/>
        </p:spPr>
        <p:txBody>
          <a:bodyPr wrap="square" lIns="0" tIns="0" rIns="0" bIns="0" rtlCol="0" anchor="ctr"/>
          <a:lstStyle/>
          <a:p>
            <a:pPr indent="0" marL="0">
              <a:buNone/>
            </a:pPr>
            <a:r>
              <a:rPr lang="en-US" sz="800" dirty="0">
                <a:solidFill>
                  <a:srgbClr val="64748B"/>
                </a:solidFill>
              </a:rPr>
              <a:t>After Strategy confirm</a:t>
            </a:r>
            <a:endParaRPr lang="en-US" sz="800" dirty="0"/>
          </a:p>
        </p:txBody>
      </p:sp>
      <p:sp>
        <p:nvSpPr>
          <p:cNvPr id="47" name="Text 45"/>
          <p:cNvSpPr/>
          <p:nvPr/>
        </p:nvSpPr>
        <p:spPr>
          <a:xfrm>
            <a:off x="2295144" y="3392424"/>
            <a:ext cx="521208" cy="320040"/>
          </a:xfrm>
          <a:prstGeom prst="rect">
            <a:avLst/>
          </a:prstGeom>
          <a:noFill/>
          <a:ln/>
        </p:spPr>
        <p:txBody>
          <a:bodyPr wrap="square" lIns="0" tIns="0" rIns="0" bIns="0" rtlCol="0" anchor="ctr"/>
          <a:lstStyle/>
          <a:p>
            <a:pPr indent="0" marL="0">
              <a:buNone/>
            </a:pPr>
            <a:r>
              <a:rPr lang="en-US" sz="800" dirty="0">
                <a:solidFill>
                  <a:srgbClr val="0D7377"/>
                </a:solidFill>
              </a:rPr>
              <a:t>WARN</a:t>
            </a:r>
            <a:endParaRPr lang="en-US" sz="800" dirty="0"/>
          </a:p>
        </p:txBody>
      </p:sp>
      <p:sp>
        <p:nvSpPr>
          <p:cNvPr id="48" name="Text 46"/>
          <p:cNvSpPr/>
          <p:nvPr/>
        </p:nvSpPr>
        <p:spPr>
          <a:xfrm>
            <a:off x="2889504" y="3392424"/>
            <a:ext cx="1225296" cy="320040"/>
          </a:xfrm>
          <a:prstGeom prst="rect">
            <a:avLst/>
          </a:prstGeom>
          <a:noFill/>
          <a:ln/>
        </p:spPr>
        <p:txBody>
          <a:bodyPr wrap="square" lIns="0" tIns="0" rIns="0" bIns="0" rtlCol="0" anchor="ctr"/>
          <a:lstStyle/>
          <a:p>
            <a:pPr indent="0" marL="0">
              <a:buNone/>
            </a:pPr>
            <a:r>
              <a:rPr lang="en-US" sz="800" dirty="0">
                <a:solidFill>
                  <a:srgbClr val="334155"/>
                </a:solidFill>
              </a:rPr>
              <a:t>Size Optimisation</a:t>
            </a:r>
            <a:endParaRPr lang="en-US" sz="800" dirty="0"/>
          </a:p>
        </p:txBody>
      </p:sp>
      <p:sp>
        <p:nvSpPr>
          <p:cNvPr id="49" name="Text 47"/>
          <p:cNvSpPr/>
          <p:nvPr/>
        </p:nvSpPr>
        <p:spPr>
          <a:xfrm>
            <a:off x="4187952" y="3392424"/>
            <a:ext cx="2743200" cy="320040"/>
          </a:xfrm>
          <a:prstGeom prst="rect">
            <a:avLst/>
          </a:prstGeom>
          <a:noFill/>
          <a:ln/>
        </p:spPr>
        <p:txBody>
          <a:bodyPr wrap="square" lIns="0" tIns="0" rIns="0" bIns="0" rtlCol="0" anchor="ctr"/>
          <a:lstStyle/>
          <a:p>
            <a:pPr indent="0" marL="0">
              <a:buNone/>
            </a:pPr>
            <a:r>
              <a:rPr lang="en-US" sz="750" dirty="0">
                <a:solidFill>
                  <a:srgbClr val="64748B"/>
                </a:solidFill>
              </a:rPr>
              <a:t>Push confirmed range plan to size optimisation system. Receive size profiles back as async callback for use in buy quantity.</a:t>
            </a:r>
            <a:endParaRPr lang="en-US" sz="750" dirty="0"/>
          </a:p>
        </p:txBody>
      </p:sp>
      <p:sp>
        <p:nvSpPr>
          <p:cNvPr id="50" name="Text 48"/>
          <p:cNvSpPr/>
          <p:nvPr/>
        </p:nvSpPr>
        <p:spPr>
          <a:xfrm>
            <a:off x="7004304" y="3392424"/>
            <a:ext cx="2112264" cy="320040"/>
          </a:xfrm>
          <a:prstGeom prst="rect">
            <a:avLst/>
          </a:prstGeom>
          <a:noFill/>
          <a:ln/>
        </p:spPr>
        <p:txBody>
          <a:bodyPr wrap="square" lIns="0" tIns="0" rIns="0" bIns="0" rtlCol="0" anchor="ctr"/>
          <a:lstStyle/>
          <a:p>
            <a:pPr indent="0" marL="0">
              <a:buNone/>
            </a:pPr>
            <a:r>
              <a:rPr lang="en-US" sz="800" dirty="0">
                <a:solidFill>
                  <a:srgbClr val="94A3B8"/>
                </a:solidFill>
              </a:rPr>
              <a:t>RangePlan v2 → SizeOptAPI v3 → SizeProfileCallback</a:t>
            </a:r>
            <a:endParaRPr lang="en-US" sz="800" dirty="0"/>
          </a:p>
        </p:txBody>
      </p:sp>
      <p:sp>
        <p:nvSpPr>
          <p:cNvPr id="51" name="Shape 49"/>
          <p:cNvSpPr/>
          <p:nvPr/>
        </p:nvSpPr>
        <p:spPr>
          <a:xfrm>
            <a:off x="201168" y="3749040"/>
            <a:ext cx="8741664" cy="393192"/>
          </a:xfrm>
          <a:prstGeom prst="rect">
            <a:avLst/>
          </a:prstGeom>
          <a:solidFill>
            <a:srgbClr val="FFFFFF"/>
          </a:solidFill>
          <a:ln w="6350">
            <a:solidFill>
              <a:srgbClr val="E2E8F0"/>
            </a:solidFill>
            <a:prstDash val="solid"/>
          </a:ln>
        </p:spPr>
      </p:sp>
      <p:sp>
        <p:nvSpPr>
          <p:cNvPr id="52" name="Text 50"/>
          <p:cNvSpPr/>
          <p:nvPr/>
        </p:nvSpPr>
        <p:spPr>
          <a:xfrm>
            <a:off x="246888" y="3785616"/>
            <a:ext cx="932688" cy="320040"/>
          </a:xfrm>
          <a:prstGeom prst="rect">
            <a:avLst/>
          </a:prstGeom>
          <a:noFill/>
          <a:ln/>
        </p:spPr>
        <p:txBody>
          <a:bodyPr wrap="square" lIns="0" tIns="0" rIns="0" bIns="0" rtlCol="0" anchor="ctr"/>
          <a:lstStyle/>
          <a:p>
            <a:pPr indent="0" marL="0">
              <a:buNone/>
            </a:pPr>
            <a:r>
              <a:rPr lang="en-US" sz="800" b="1" dirty="0">
                <a:solidFill>
                  <a:srgbClr val="0F2044"/>
                </a:solidFill>
              </a:rPr>
              <a:t>LINE PLAN</a:t>
            </a:r>
            <a:endParaRPr lang="en-US" sz="800" dirty="0"/>
          </a:p>
        </p:txBody>
      </p:sp>
      <p:sp>
        <p:nvSpPr>
          <p:cNvPr id="53" name="Text 51"/>
          <p:cNvSpPr/>
          <p:nvPr/>
        </p:nvSpPr>
        <p:spPr>
          <a:xfrm>
            <a:off x="1252728" y="3785616"/>
            <a:ext cx="402336" cy="320040"/>
          </a:xfrm>
          <a:prstGeom prst="rect">
            <a:avLst/>
          </a:prstGeom>
          <a:noFill/>
          <a:ln/>
        </p:spPr>
        <p:txBody>
          <a:bodyPr wrap="square" lIns="0" tIns="0" rIns="0" bIns="0" rtlCol="0" anchor="ctr"/>
          <a:lstStyle/>
          <a:p>
            <a:pPr indent="0" marL="0">
              <a:buNone/>
            </a:pPr>
            <a:r>
              <a:rPr lang="en-US" sz="800" b="1" dirty="0">
                <a:solidFill>
                  <a:srgbClr val="2563EB"/>
                </a:solidFill>
              </a:rPr>
              <a:t>IN</a:t>
            </a:r>
            <a:endParaRPr lang="en-US" sz="800" dirty="0"/>
          </a:p>
        </p:txBody>
      </p:sp>
      <p:sp>
        <p:nvSpPr>
          <p:cNvPr id="54" name="Text 52"/>
          <p:cNvSpPr/>
          <p:nvPr/>
        </p:nvSpPr>
        <p:spPr>
          <a:xfrm>
            <a:off x="1728216" y="3785616"/>
            <a:ext cx="493776" cy="320040"/>
          </a:xfrm>
          <a:prstGeom prst="rect">
            <a:avLst/>
          </a:prstGeom>
          <a:noFill/>
          <a:ln/>
        </p:spPr>
        <p:txBody>
          <a:bodyPr wrap="square" lIns="0" tIns="0" rIns="0" bIns="0" rtlCol="0" anchor="ctr"/>
          <a:lstStyle/>
          <a:p>
            <a:pPr indent="0" marL="0">
              <a:buNone/>
            </a:pPr>
            <a:r>
              <a:rPr lang="en-US" sz="800" dirty="0">
                <a:solidFill>
                  <a:srgbClr val="64748B"/>
                </a:solidFill>
              </a:rPr>
              <a:t>Before Buy Qty</a:t>
            </a:r>
            <a:endParaRPr lang="en-US" sz="800" dirty="0"/>
          </a:p>
        </p:txBody>
      </p:sp>
      <p:sp>
        <p:nvSpPr>
          <p:cNvPr id="55" name="Text 53"/>
          <p:cNvSpPr/>
          <p:nvPr/>
        </p:nvSpPr>
        <p:spPr>
          <a:xfrm>
            <a:off x="2295144" y="3785616"/>
            <a:ext cx="521208" cy="320040"/>
          </a:xfrm>
          <a:prstGeom prst="rect">
            <a:avLst/>
          </a:prstGeom>
          <a:noFill/>
          <a:ln/>
        </p:spPr>
        <p:txBody>
          <a:bodyPr wrap="square" lIns="0" tIns="0" rIns="0" bIns="0" rtlCol="0" anchor="ctr"/>
          <a:lstStyle/>
          <a:p>
            <a:pPr indent="0" marL="0">
              <a:buNone/>
            </a:pPr>
            <a:r>
              <a:rPr lang="en-US" sz="800" dirty="0">
                <a:solidFill>
                  <a:srgbClr val="DC2626"/>
                </a:solidFill>
              </a:rPr>
              <a:t>BLOCK</a:t>
            </a:r>
            <a:endParaRPr lang="en-US" sz="800" dirty="0"/>
          </a:p>
        </p:txBody>
      </p:sp>
      <p:sp>
        <p:nvSpPr>
          <p:cNvPr id="56" name="Text 54"/>
          <p:cNvSpPr/>
          <p:nvPr/>
        </p:nvSpPr>
        <p:spPr>
          <a:xfrm>
            <a:off x="2889504" y="3785616"/>
            <a:ext cx="1225296" cy="320040"/>
          </a:xfrm>
          <a:prstGeom prst="rect">
            <a:avLst/>
          </a:prstGeom>
          <a:noFill/>
          <a:ln/>
        </p:spPr>
        <p:txBody>
          <a:bodyPr wrap="square" lIns="0" tIns="0" rIns="0" bIns="0" rtlCol="0" anchor="ctr"/>
          <a:lstStyle/>
          <a:p>
            <a:pPr indent="0" marL="0">
              <a:buNone/>
            </a:pPr>
            <a:r>
              <a:rPr lang="en-US" sz="800" dirty="0">
                <a:solidFill>
                  <a:srgbClr val="334155"/>
                </a:solidFill>
              </a:rPr>
              <a:t>Size Optimisation</a:t>
            </a:r>
            <a:endParaRPr lang="en-US" sz="800" dirty="0"/>
          </a:p>
        </p:txBody>
      </p:sp>
      <p:sp>
        <p:nvSpPr>
          <p:cNvPr id="57" name="Text 55"/>
          <p:cNvSpPr/>
          <p:nvPr/>
        </p:nvSpPr>
        <p:spPr>
          <a:xfrm>
            <a:off x="4187952" y="3785616"/>
            <a:ext cx="2743200" cy="320040"/>
          </a:xfrm>
          <a:prstGeom prst="rect">
            <a:avLst/>
          </a:prstGeom>
          <a:noFill/>
          <a:ln/>
        </p:spPr>
        <p:txBody>
          <a:bodyPr wrap="square" lIns="0" tIns="0" rIns="0" bIns="0" rtlCol="0" anchor="ctr"/>
          <a:lstStyle/>
          <a:p>
            <a:pPr indent="0" marL="0">
              <a:buNone/>
            </a:pPr>
            <a:r>
              <a:rPr lang="en-US" sz="750" dirty="0">
                <a:solidFill>
                  <a:srgbClr val="64748B"/>
                </a:solidFill>
              </a:rPr>
              <a:t>Block buy quantity calculation until size profiles are received from the size optimisation system (async callback from Strategy hook above).</a:t>
            </a:r>
            <a:endParaRPr lang="en-US" sz="750" dirty="0"/>
          </a:p>
        </p:txBody>
      </p:sp>
      <p:sp>
        <p:nvSpPr>
          <p:cNvPr id="58" name="Text 56"/>
          <p:cNvSpPr/>
          <p:nvPr/>
        </p:nvSpPr>
        <p:spPr>
          <a:xfrm>
            <a:off x="7004304" y="3785616"/>
            <a:ext cx="2112264" cy="320040"/>
          </a:xfrm>
          <a:prstGeom prst="rect">
            <a:avLst/>
          </a:prstGeom>
          <a:noFill/>
          <a:ln/>
        </p:spPr>
        <p:txBody>
          <a:bodyPr wrap="square" lIns="0" tIns="0" rIns="0" bIns="0" rtlCol="0" anchor="ctr"/>
          <a:lstStyle/>
          <a:p>
            <a:pPr indent="0" marL="0">
              <a:buNone/>
            </a:pPr>
            <a:r>
              <a:rPr lang="en-US" sz="800" dirty="0">
                <a:solidFill>
                  <a:srgbClr val="94A3B8"/>
                </a:solidFill>
              </a:rPr>
              <a:t>SizeProfileCallback → CoreSizeSchema v1</a:t>
            </a:r>
            <a:endParaRPr lang="en-US" sz="800" dirty="0"/>
          </a:p>
        </p:txBody>
      </p:sp>
      <p:sp>
        <p:nvSpPr>
          <p:cNvPr id="59" name="Shape 57"/>
          <p:cNvSpPr/>
          <p:nvPr/>
        </p:nvSpPr>
        <p:spPr>
          <a:xfrm>
            <a:off x="201168" y="4142232"/>
            <a:ext cx="8741664" cy="393192"/>
          </a:xfrm>
          <a:prstGeom prst="rect">
            <a:avLst/>
          </a:prstGeom>
          <a:solidFill>
            <a:srgbClr val="F7F9FC"/>
          </a:solidFill>
          <a:ln w="6350">
            <a:solidFill>
              <a:srgbClr val="E2E8F0"/>
            </a:solidFill>
            <a:prstDash val="solid"/>
          </a:ln>
        </p:spPr>
      </p:sp>
      <p:sp>
        <p:nvSpPr>
          <p:cNvPr id="60" name="Text 58"/>
          <p:cNvSpPr/>
          <p:nvPr/>
        </p:nvSpPr>
        <p:spPr>
          <a:xfrm>
            <a:off x="246888" y="4178808"/>
            <a:ext cx="932688" cy="320040"/>
          </a:xfrm>
          <a:prstGeom prst="rect">
            <a:avLst/>
          </a:prstGeom>
          <a:noFill/>
          <a:ln/>
        </p:spPr>
        <p:txBody>
          <a:bodyPr wrap="square" lIns="0" tIns="0" rIns="0" bIns="0" rtlCol="0" anchor="ctr"/>
          <a:lstStyle/>
          <a:p>
            <a:pPr indent="0" marL="0">
              <a:buNone/>
            </a:pPr>
            <a:r>
              <a:rPr lang="en-US" sz="800" b="1" dirty="0">
                <a:solidFill>
                  <a:srgbClr val="0F2044"/>
                </a:solidFill>
              </a:rPr>
              <a:t>LINE PLAN</a:t>
            </a:r>
            <a:endParaRPr lang="en-US" sz="800" dirty="0"/>
          </a:p>
        </p:txBody>
      </p:sp>
      <p:sp>
        <p:nvSpPr>
          <p:cNvPr id="61" name="Text 59"/>
          <p:cNvSpPr/>
          <p:nvPr/>
        </p:nvSpPr>
        <p:spPr>
          <a:xfrm>
            <a:off x="1252728" y="4178808"/>
            <a:ext cx="402336" cy="320040"/>
          </a:xfrm>
          <a:prstGeom prst="rect">
            <a:avLst/>
          </a:prstGeom>
          <a:noFill/>
          <a:ln/>
        </p:spPr>
        <p:txBody>
          <a:bodyPr wrap="square" lIns="0" tIns="0" rIns="0" bIns="0" rtlCol="0" anchor="ctr"/>
          <a:lstStyle/>
          <a:p>
            <a:pPr indent="0" marL="0">
              <a:buNone/>
            </a:pPr>
            <a:r>
              <a:rPr lang="en-US" sz="800" b="1" dirty="0">
                <a:solidFill>
                  <a:srgbClr val="059669"/>
                </a:solidFill>
              </a:rPr>
              <a:t>OUT</a:t>
            </a:r>
            <a:endParaRPr lang="en-US" sz="800" dirty="0"/>
          </a:p>
        </p:txBody>
      </p:sp>
      <p:sp>
        <p:nvSpPr>
          <p:cNvPr id="62" name="Text 60"/>
          <p:cNvSpPr/>
          <p:nvPr/>
        </p:nvSpPr>
        <p:spPr>
          <a:xfrm>
            <a:off x="1728216" y="4178808"/>
            <a:ext cx="493776" cy="320040"/>
          </a:xfrm>
          <a:prstGeom prst="rect">
            <a:avLst/>
          </a:prstGeom>
          <a:noFill/>
          <a:ln/>
        </p:spPr>
        <p:txBody>
          <a:bodyPr wrap="square" lIns="0" tIns="0" rIns="0" bIns="0" rtlCol="0" anchor="ctr"/>
          <a:lstStyle/>
          <a:p>
            <a:pPr indent="0" marL="0">
              <a:buNone/>
            </a:pPr>
            <a:r>
              <a:rPr lang="en-US" sz="800" dirty="0">
                <a:solidFill>
                  <a:srgbClr val="64748B"/>
                </a:solidFill>
              </a:rPr>
              <a:t>After Line Plan save</a:t>
            </a:r>
            <a:endParaRPr lang="en-US" sz="800" dirty="0"/>
          </a:p>
        </p:txBody>
      </p:sp>
      <p:sp>
        <p:nvSpPr>
          <p:cNvPr id="63" name="Text 61"/>
          <p:cNvSpPr/>
          <p:nvPr/>
        </p:nvSpPr>
        <p:spPr>
          <a:xfrm>
            <a:off x="2295144" y="4178808"/>
            <a:ext cx="521208" cy="320040"/>
          </a:xfrm>
          <a:prstGeom prst="rect">
            <a:avLst/>
          </a:prstGeom>
          <a:noFill/>
          <a:ln/>
        </p:spPr>
        <p:txBody>
          <a:bodyPr wrap="square" lIns="0" tIns="0" rIns="0" bIns="0" rtlCol="0" anchor="ctr"/>
          <a:lstStyle/>
          <a:p>
            <a:pPr indent="0" marL="0">
              <a:buNone/>
            </a:pPr>
            <a:r>
              <a:rPr lang="en-US" sz="800" dirty="0">
                <a:solidFill>
                  <a:srgbClr val="0D7377"/>
                </a:solidFill>
              </a:rPr>
              <a:t>WARN</a:t>
            </a:r>
            <a:endParaRPr lang="en-US" sz="800" dirty="0"/>
          </a:p>
        </p:txBody>
      </p:sp>
      <p:sp>
        <p:nvSpPr>
          <p:cNvPr id="64" name="Text 62"/>
          <p:cNvSpPr/>
          <p:nvPr/>
        </p:nvSpPr>
        <p:spPr>
          <a:xfrm>
            <a:off x="2889504" y="4178808"/>
            <a:ext cx="1225296" cy="320040"/>
          </a:xfrm>
          <a:prstGeom prst="rect">
            <a:avLst/>
          </a:prstGeom>
          <a:noFill/>
          <a:ln/>
        </p:spPr>
        <p:txBody>
          <a:bodyPr wrap="square" lIns="0" tIns="0" rIns="0" bIns="0" rtlCol="0" anchor="ctr"/>
          <a:lstStyle/>
          <a:p>
            <a:pPr indent="0" marL="0">
              <a:buNone/>
            </a:pPr>
            <a:r>
              <a:rPr lang="en-US" sz="800" dirty="0">
                <a:solidFill>
                  <a:srgbClr val="334155"/>
                </a:solidFill>
              </a:rPr>
              <a:t>ERP / OMS</a:t>
            </a:r>
            <a:endParaRPr lang="en-US" sz="800" dirty="0"/>
          </a:p>
        </p:txBody>
      </p:sp>
      <p:sp>
        <p:nvSpPr>
          <p:cNvPr id="65" name="Text 63"/>
          <p:cNvSpPr/>
          <p:nvPr/>
        </p:nvSpPr>
        <p:spPr>
          <a:xfrm>
            <a:off x="4187952" y="4178808"/>
            <a:ext cx="2743200" cy="320040"/>
          </a:xfrm>
          <a:prstGeom prst="rect">
            <a:avLst/>
          </a:prstGeom>
          <a:noFill/>
          <a:ln/>
        </p:spPr>
        <p:txBody>
          <a:bodyPr wrap="square" lIns="0" tIns="0" rIns="0" bIns="0" rtlCol="0" anchor="ctr"/>
          <a:lstStyle/>
          <a:p>
            <a:pPr indent="0" marL="0">
              <a:buNone/>
            </a:pPr>
            <a:r>
              <a:rPr lang="en-US" sz="750" dirty="0">
                <a:solidFill>
                  <a:srgbClr val="64748B"/>
                </a:solidFill>
              </a:rPr>
              <a:t>Push draft buy quantities to ERP for early OTB visibility. Non-blocking — planner can continue editing; ERP receives latest on each save.</a:t>
            </a:r>
            <a:endParaRPr lang="en-US" sz="750" dirty="0"/>
          </a:p>
        </p:txBody>
      </p:sp>
      <p:sp>
        <p:nvSpPr>
          <p:cNvPr id="66" name="Text 64"/>
          <p:cNvSpPr/>
          <p:nvPr/>
        </p:nvSpPr>
        <p:spPr>
          <a:xfrm>
            <a:off x="7004304" y="4178808"/>
            <a:ext cx="2112264" cy="320040"/>
          </a:xfrm>
          <a:prstGeom prst="rect">
            <a:avLst/>
          </a:prstGeom>
          <a:noFill/>
          <a:ln/>
        </p:spPr>
        <p:txBody>
          <a:bodyPr wrap="square" lIns="0" tIns="0" rIns="0" bIns="0" rtlCol="0" anchor="ctr"/>
          <a:lstStyle/>
          <a:p>
            <a:pPr indent="0" marL="0">
              <a:buNone/>
            </a:pPr>
            <a:r>
              <a:rPr lang="en-US" sz="800" dirty="0">
                <a:solidFill>
                  <a:srgbClr val="94A3B8"/>
                </a:solidFill>
              </a:rPr>
              <a:t>DraftBuySheet v2 → ERPOrderSchema v4</a:t>
            </a:r>
            <a:endParaRPr lang="en-US" sz="800" dirty="0"/>
          </a:p>
        </p:txBody>
      </p:sp>
      <p:sp>
        <p:nvSpPr>
          <p:cNvPr id="67" name="Shape 65"/>
          <p:cNvSpPr/>
          <p:nvPr/>
        </p:nvSpPr>
        <p:spPr>
          <a:xfrm>
            <a:off x="201168" y="4535424"/>
            <a:ext cx="8741664" cy="393192"/>
          </a:xfrm>
          <a:prstGeom prst="rect">
            <a:avLst/>
          </a:prstGeom>
          <a:solidFill>
            <a:srgbClr val="FFFFFF"/>
          </a:solidFill>
          <a:ln w="6350">
            <a:solidFill>
              <a:srgbClr val="E2E8F0"/>
            </a:solidFill>
            <a:prstDash val="solid"/>
          </a:ln>
        </p:spPr>
      </p:sp>
      <p:sp>
        <p:nvSpPr>
          <p:cNvPr id="68" name="Text 66"/>
          <p:cNvSpPr/>
          <p:nvPr/>
        </p:nvSpPr>
        <p:spPr>
          <a:xfrm>
            <a:off x="246888" y="4572000"/>
            <a:ext cx="932688" cy="320040"/>
          </a:xfrm>
          <a:prstGeom prst="rect">
            <a:avLst/>
          </a:prstGeom>
          <a:noFill/>
          <a:ln/>
        </p:spPr>
        <p:txBody>
          <a:bodyPr wrap="square" lIns="0" tIns="0" rIns="0" bIns="0" rtlCol="0" anchor="ctr"/>
          <a:lstStyle/>
          <a:p>
            <a:pPr indent="0" marL="0">
              <a:buNone/>
            </a:pPr>
            <a:r>
              <a:rPr lang="en-US" sz="800" b="1" dirty="0">
                <a:solidFill>
                  <a:srgbClr val="0F2044"/>
                </a:solidFill>
              </a:rPr>
              <a:t>APPROVAL</a:t>
            </a:r>
            <a:endParaRPr lang="en-US" sz="800" dirty="0"/>
          </a:p>
        </p:txBody>
      </p:sp>
      <p:sp>
        <p:nvSpPr>
          <p:cNvPr id="69" name="Text 67"/>
          <p:cNvSpPr/>
          <p:nvPr/>
        </p:nvSpPr>
        <p:spPr>
          <a:xfrm>
            <a:off x="1252728" y="4572000"/>
            <a:ext cx="402336" cy="320040"/>
          </a:xfrm>
          <a:prstGeom prst="rect">
            <a:avLst/>
          </a:prstGeom>
          <a:noFill/>
          <a:ln/>
        </p:spPr>
        <p:txBody>
          <a:bodyPr wrap="square" lIns="0" tIns="0" rIns="0" bIns="0" rtlCol="0" anchor="ctr"/>
          <a:lstStyle/>
          <a:p>
            <a:pPr indent="0" marL="0">
              <a:buNone/>
            </a:pPr>
            <a:r>
              <a:rPr lang="en-US" sz="800" b="1" dirty="0">
                <a:solidFill>
                  <a:srgbClr val="059669"/>
                </a:solidFill>
              </a:rPr>
              <a:t>OUT</a:t>
            </a:r>
            <a:endParaRPr lang="en-US" sz="800" dirty="0"/>
          </a:p>
        </p:txBody>
      </p:sp>
      <p:sp>
        <p:nvSpPr>
          <p:cNvPr id="70" name="Text 68"/>
          <p:cNvSpPr/>
          <p:nvPr/>
        </p:nvSpPr>
        <p:spPr>
          <a:xfrm>
            <a:off x="1728216" y="4572000"/>
            <a:ext cx="493776" cy="320040"/>
          </a:xfrm>
          <a:prstGeom prst="rect">
            <a:avLst/>
          </a:prstGeom>
          <a:noFill/>
          <a:ln/>
        </p:spPr>
        <p:txBody>
          <a:bodyPr wrap="square" lIns="0" tIns="0" rIns="0" bIns="0" rtlCol="0" anchor="ctr"/>
          <a:lstStyle/>
          <a:p>
            <a:pPr indent="0" marL="0">
              <a:buNone/>
            </a:pPr>
            <a:r>
              <a:rPr lang="en-US" sz="800" dirty="0">
                <a:solidFill>
                  <a:srgbClr val="64748B"/>
                </a:solidFill>
              </a:rPr>
              <a:t>After Plan approved</a:t>
            </a:r>
            <a:endParaRPr lang="en-US" sz="800" dirty="0"/>
          </a:p>
        </p:txBody>
      </p:sp>
      <p:sp>
        <p:nvSpPr>
          <p:cNvPr id="71" name="Text 69"/>
          <p:cNvSpPr/>
          <p:nvPr/>
        </p:nvSpPr>
        <p:spPr>
          <a:xfrm>
            <a:off x="2295144" y="4572000"/>
            <a:ext cx="521208" cy="320040"/>
          </a:xfrm>
          <a:prstGeom prst="rect">
            <a:avLst/>
          </a:prstGeom>
          <a:noFill/>
          <a:ln/>
        </p:spPr>
        <p:txBody>
          <a:bodyPr wrap="square" lIns="0" tIns="0" rIns="0" bIns="0" rtlCol="0" anchor="ctr"/>
          <a:lstStyle/>
          <a:p>
            <a:pPr indent="0" marL="0">
              <a:buNone/>
            </a:pPr>
            <a:r>
              <a:rPr lang="en-US" sz="800" dirty="0">
                <a:solidFill>
                  <a:srgbClr val="0D7377"/>
                </a:solidFill>
              </a:rPr>
              <a:t>WARN</a:t>
            </a:r>
            <a:endParaRPr lang="en-US" sz="800" dirty="0"/>
          </a:p>
        </p:txBody>
      </p:sp>
      <p:sp>
        <p:nvSpPr>
          <p:cNvPr id="72" name="Text 70"/>
          <p:cNvSpPr/>
          <p:nvPr/>
        </p:nvSpPr>
        <p:spPr>
          <a:xfrm>
            <a:off x="2889504" y="4572000"/>
            <a:ext cx="1225296" cy="320040"/>
          </a:xfrm>
          <a:prstGeom prst="rect">
            <a:avLst/>
          </a:prstGeom>
          <a:noFill/>
          <a:ln/>
        </p:spPr>
        <p:txBody>
          <a:bodyPr wrap="square" lIns="0" tIns="0" rIns="0" bIns="0" rtlCol="0" anchor="ctr"/>
          <a:lstStyle/>
          <a:p>
            <a:pPr indent="0" marL="0">
              <a:buNone/>
            </a:pPr>
            <a:r>
              <a:rPr lang="en-US" sz="800" dirty="0">
                <a:solidFill>
                  <a:srgbClr val="334155"/>
                </a:solidFill>
              </a:rPr>
              <a:t>Finance / ERP</a:t>
            </a:r>
            <a:endParaRPr lang="en-US" sz="800" dirty="0"/>
          </a:p>
        </p:txBody>
      </p:sp>
      <p:sp>
        <p:nvSpPr>
          <p:cNvPr id="73" name="Text 71"/>
          <p:cNvSpPr/>
          <p:nvPr/>
        </p:nvSpPr>
        <p:spPr>
          <a:xfrm>
            <a:off x="4187952" y="4572000"/>
            <a:ext cx="2743200" cy="320040"/>
          </a:xfrm>
          <a:prstGeom prst="rect">
            <a:avLst/>
          </a:prstGeom>
          <a:noFill/>
          <a:ln/>
        </p:spPr>
        <p:txBody>
          <a:bodyPr wrap="square" lIns="0" tIns="0" rIns="0" bIns="0" rtlCol="0" anchor="ctr"/>
          <a:lstStyle/>
          <a:p>
            <a:pPr indent="0" marL="0">
              <a:buNone/>
            </a:pPr>
            <a:r>
              <a:rPr lang="en-US" sz="750" dirty="0">
                <a:solidFill>
                  <a:srgbClr val="64748B"/>
                </a:solidFill>
              </a:rPr>
              <a:t>Push locked plan to finance system for budget commitment. Trigger OTB allocation job. Send confirmation to procurement workflows.</a:t>
            </a:r>
            <a:endParaRPr lang="en-US" sz="750" dirty="0"/>
          </a:p>
        </p:txBody>
      </p:sp>
      <p:sp>
        <p:nvSpPr>
          <p:cNvPr id="74" name="Text 72"/>
          <p:cNvSpPr/>
          <p:nvPr/>
        </p:nvSpPr>
        <p:spPr>
          <a:xfrm>
            <a:off x="7004304" y="4572000"/>
            <a:ext cx="2112264" cy="320040"/>
          </a:xfrm>
          <a:prstGeom prst="rect">
            <a:avLst/>
          </a:prstGeom>
          <a:noFill/>
          <a:ln/>
        </p:spPr>
        <p:txBody>
          <a:bodyPr wrap="square" lIns="0" tIns="0" rIns="0" bIns="0" rtlCol="0" anchor="ctr"/>
          <a:lstStyle/>
          <a:p>
            <a:pPr indent="0" marL="0">
              <a:buNone/>
            </a:pPr>
            <a:r>
              <a:rPr lang="en-US" sz="800" dirty="0">
                <a:solidFill>
                  <a:srgbClr val="94A3B8"/>
                </a:solidFill>
              </a:rPr>
              <a:t>ApprovedPlan v3 → FinanceLockSchema v2</a:t>
            </a:r>
            <a:endParaRPr lang="en-US" sz="800" dirty="0"/>
          </a:p>
        </p:txBody>
      </p:sp>
      <p:sp>
        <p:nvSpPr>
          <p:cNvPr id="75" name="Text 73"/>
          <p:cNvSpPr/>
          <p:nvPr/>
        </p:nvSpPr>
        <p:spPr>
          <a:xfrm>
            <a:off x="201168" y="4754880"/>
            <a:ext cx="8741664" cy="274320"/>
          </a:xfrm>
          <a:prstGeom prst="rect">
            <a:avLst/>
          </a:prstGeom>
          <a:noFill/>
          <a:ln/>
        </p:spPr>
        <p:txBody>
          <a:bodyPr wrap="square" lIns="0" tIns="0" rIns="0" bIns="0" rtlCol="0" anchor="ctr"/>
          <a:lstStyle/>
          <a:p>
            <a:pPr indent="0" marL="0">
              <a:buNone/>
            </a:pPr>
            <a:r>
              <a:rPr lang="en-US" sz="750" i="1" dirty="0">
                <a:solidFill>
                  <a:srgbClr val="94A3B8"/>
                </a:solidFill>
              </a:rPr>
              <a:t>* All web service hooks run in retailer-owned extension containers. The core engine never holds external API credentials. Retry logic, timeouts, and fallback behaviour are defined in the retailer's hook implementation against a platform-owned WebServiceHook interface contract.</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F2044"/>
          </a:solidFill>
          <a:ln w="12700">
            <a:solidFill>
              <a:srgbClr val="0F2044"/>
            </a:solidFill>
            <a:prstDash val="solid"/>
          </a:ln>
        </p:spPr>
      </p:sp>
      <p:sp>
        <p:nvSpPr>
          <p:cNvPr id="3" name="Text 1"/>
          <p:cNvSpPr/>
          <p:nvPr/>
        </p:nvSpPr>
        <p:spPr>
          <a:xfrm>
            <a:off x="365760" y="0"/>
            <a:ext cx="7772400" cy="658368"/>
          </a:xfrm>
          <a:prstGeom prst="rect">
            <a:avLst/>
          </a:prstGeom>
          <a:noFill/>
          <a:ln/>
        </p:spPr>
        <p:txBody>
          <a:bodyPr wrap="square" lIns="0" tIns="0" rIns="0" bIns="0" rtlCol="0" anchor="ctr"/>
          <a:lstStyle/>
          <a:p>
            <a:pPr indent="0" marL="0">
              <a:buNone/>
            </a:pPr>
            <a:r>
              <a:rPr lang="en-US" sz="1000" b="1" spc="300" kern="0" dirty="0">
                <a:solidFill>
                  <a:srgbClr val="FFFFFF"/>
                </a:solidFill>
              </a:rPr>
              <a:t>REQUIREMENT TRIAGE — WHERE DOES A NEW REQUIREMENT GO?</a:t>
            </a:r>
            <a:endParaRPr lang="en-US" sz="1000" dirty="0"/>
          </a:p>
        </p:txBody>
      </p:sp>
      <p:sp>
        <p:nvSpPr>
          <p:cNvPr id="4" name="Text 2"/>
          <p:cNvSpPr/>
          <p:nvPr/>
        </p:nvSpPr>
        <p:spPr>
          <a:xfrm>
            <a:off x="7863840" y="0"/>
            <a:ext cx="1097280" cy="658368"/>
          </a:xfrm>
          <a:prstGeom prst="rect">
            <a:avLst/>
          </a:prstGeom>
          <a:noFill/>
          <a:ln/>
        </p:spPr>
        <p:txBody>
          <a:bodyPr wrap="square" lIns="0" tIns="0" rIns="0" bIns="0" rtlCol="0" anchor="ctr"/>
          <a:lstStyle/>
          <a:p>
            <a:pPr algn="r" indent="0" marL="0">
              <a:buNone/>
            </a:pPr>
            <a:r>
              <a:rPr lang="en-US" sz="900" dirty="0">
                <a:solidFill>
                  <a:srgbClr val="94A3B8"/>
                </a:solidFill>
              </a:rPr>
              <a:t>ARCH-05</a:t>
            </a:r>
            <a:endParaRPr lang="en-US" sz="900" dirty="0"/>
          </a:p>
        </p:txBody>
      </p:sp>
      <p:sp>
        <p:nvSpPr>
          <p:cNvPr id="5" name="Text 3"/>
          <p:cNvSpPr/>
          <p:nvPr/>
        </p:nvSpPr>
        <p:spPr>
          <a:xfrm>
            <a:off x="365760" y="749808"/>
            <a:ext cx="8412480" cy="320040"/>
          </a:xfrm>
          <a:prstGeom prst="rect">
            <a:avLst/>
          </a:prstGeom>
          <a:noFill/>
          <a:ln/>
        </p:spPr>
        <p:txBody>
          <a:bodyPr wrap="square" lIns="0" tIns="0" rIns="0" bIns="0" rtlCol="0" anchor="ctr"/>
          <a:lstStyle/>
          <a:p>
            <a:pPr indent="0" marL="0">
              <a:buNone/>
            </a:pPr>
            <a:r>
              <a:rPr lang="en-US" sz="1100" dirty="0">
                <a:solidFill>
                  <a:srgbClr val="64748B"/>
                </a:solidFill>
              </a:rPr>
              <a:t>Every new requirement fits exactly one bucket. Three questions determine which.</a:t>
            </a:r>
            <a:endParaRPr lang="en-US" sz="1100" dirty="0"/>
          </a:p>
        </p:txBody>
      </p:sp>
      <p:sp>
        <p:nvSpPr>
          <p:cNvPr id="6" name="Shape 4"/>
          <p:cNvSpPr/>
          <p:nvPr/>
        </p:nvSpPr>
        <p:spPr>
          <a:xfrm>
            <a:off x="3200400" y="1170432"/>
            <a:ext cx="2743200" cy="411480"/>
          </a:xfrm>
          <a:prstGeom prst="rect">
            <a:avLst/>
          </a:prstGeom>
          <a:solidFill>
            <a:srgbClr val="0F2044"/>
          </a:solidFill>
          <a:ln w="12700">
            <a:solidFill>
              <a:srgbClr val="0F2044"/>
            </a:solidFill>
            <a:prstDash val="solid"/>
          </a:ln>
          <a:effectLst>
            <a:outerShdw sx="100000" sy="100000" kx="0" ky="0" algn="bl" rotWithShape="0" blurRad="101600" dist="38100" dir="8100000">
              <a:srgbClr val="000000">
                <a:alpha val="10000"/>
              </a:srgbClr>
            </a:outerShdw>
          </a:effectLst>
        </p:spPr>
      </p:sp>
      <p:sp>
        <p:nvSpPr>
          <p:cNvPr id="7" name="Text 5"/>
          <p:cNvSpPr/>
          <p:nvPr/>
        </p:nvSpPr>
        <p:spPr>
          <a:xfrm>
            <a:off x="3200400" y="1170432"/>
            <a:ext cx="2743200" cy="411480"/>
          </a:xfrm>
          <a:prstGeom prst="rect">
            <a:avLst/>
          </a:prstGeom>
          <a:noFill/>
          <a:ln/>
        </p:spPr>
        <p:txBody>
          <a:bodyPr wrap="square" lIns="0" tIns="0" rIns="0" bIns="0" rtlCol="0" anchor="ctr"/>
          <a:lstStyle/>
          <a:p>
            <a:pPr algn="ctr" indent="0" marL="0">
              <a:buNone/>
            </a:pPr>
            <a:r>
              <a:rPr lang="en-US" sz="1000" b="1" dirty="0">
                <a:solidFill>
                  <a:srgbClr val="FFFFFF"/>
                </a:solidFill>
              </a:rPr>
              <a:t>New retailer requirement arrives</a:t>
            </a:r>
            <a:endParaRPr lang="en-US" sz="1000" dirty="0"/>
          </a:p>
        </p:txBody>
      </p:sp>
      <p:sp>
        <p:nvSpPr>
          <p:cNvPr id="8" name="Shape 6"/>
          <p:cNvSpPr/>
          <p:nvPr/>
        </p:nvSpPr>
        <p:spPr>
          <a:xfrm>
            <a:off x="4572000" y="1581912"/>
            <a:ext cx="0" cy="201168"/>
          </a:xfrm>
          <a:prstGeom prst="line">
            <a:avLst/>
          </a:prstGeom>
          <a:noFill/>
          <a:ln w="25400">
            <a:solidFill>
              <a:srgbClr val="0F2044"/>
            </a:solidFill>
            <a:prstDash val="solid"/>
          </a:ln>
        </p:spPr>
      </p:sp>
      <p:sp>
        <p:nvSpPr>
          <p:cNvPr id="9" name="Shape 7"/>
          <p:cNvSpPr/>
          <p:nvPr/>
        </p:nvSpPr>
        <p:spPr>
          <a:xfrm>
            <a:off x="914400" y="1828800"/>
            <a:ext cx="5120640" cy="530352"/>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10" name="Text 8"/>
          <p:cNvSpPr/>
          <p:nvPr/>
        </p:nvSpPr>
        <p:spPr>
          <a:xfrm>
            <a:off x="1005840" y="1874520"/>
            <a:ext cx="4937760" cy="457200"/>
          </a:xfrm>
          <a:prstGeom prst="rect">
            <a:avLst/>
          </a:prstGeom>
          <a:noFill/>
          <a:ln/>
        </p:spPr>
        <p:txBody>
          <a:bodyPr wrap="square" lIns="0" tIns="0" rIns="0" bIns="0" rtlCol="0" anchor="ctr"/>
          <a:lstStyle/>
          <a:p>
            <a:pPr indent="0" marL="0">
              <a:buNone/>
            </a:pPr>
            <a:r>
              <a:rPr lang="en-US" sz="950" dirty="0">
                <a:solidFill>
                  <a:srgbClr val="334155"/>
                </a:solidFill>
              </a:rPr>
              <a:t>Q1 · Can this be expressed as a threshold,</a:t>
            </a:r>
            <a:endParaRPr lang="en-US" sz="950" dirty="0"/>
          </a:p>
          <a:p>
            <a:pPr indent="0" marL="0">
              <a:buNone/>
            </a:pPr>
            <a:r>
              <a:rPr lang="en-US" sz="950" dirty="0">
                <a:solidFill>
                  <a:srgbClr val="334155"/>
                </a:solidFill>
              </a:rPr>
              <a:t>percentage, or allowed-values list?</a:t>
            </a:r>
            <a:endParaRPr lang="en-US" sz="950" dirty="0"/>
          </a:p>
        </p:txBody>
      </p:sp>
      <p:sp>
        <p:nvSpPr>
          <p:cNvPr id="11" name="Shape 9"/>
          <p:cNvSpPr/>
          <p:nvPr/>
        </p:nvSpPr>
        <p:spPr>
          <a:xfrm>
            <a:off x="6035040" y="2093976"/>
            <a:ext cx="457200" cy="0"/>
          </a:xfrm>
          <a:prstGeom prst="line">
            <a:avLst/>
          </a:prstGeom>
          <a:noFill/>
          <a:ln w="19050">
            <a:solidFill>
              <a:srgbClr val="0D7377"/>
            </a:solidFill>
            <a:prstDash val="solid"/>
          </a:ln>
        </p:spPr>
      </p:sp>
      <p:sp>
        <p:nvSpPr>
          <p:cNvPr id="12" name="Text 10"/>
          <p:cNvSpPr/>
          <p:nvPr/>
        </p:nvSpPr>
        <p:spPr>
          <a:xfrm>
            <a:off x="6053328" y="1938528"/>
            <a:ext cx="402336" cy="182880"/>
          </a:xfrm>
          <a:prstGeom prst="rect">
            <a:avLst/>
          </a:prstGeom>
          <a:noFill/>
          <a:ln/>
        </p:spPr>
        <p:txBody>
          <a:bodyPr wrap="square" lIns="0" tIns="0" rIns="0" bIns="0" rtlCol="0" anchor="ctr"/>
          <a:lstStyle/>
          <a:p>
            <a:pPr indent="0" marL="0">
              <a:buNone/>
            </a:pPr>
            <a:r>
              <a:rPr lang="en-US" sz="750" b="1" dirty="0">
                <a:solidFill>
                  <a:srgbClr val="0D7377"/>
                </a:solidFill>
              </a:rPr>
              <a:t>YES</a:t>
            </a:r>
            <a:endParaRPr lang="en-US" sz="750" dirty="0"/>
          </a:p>
        </p:txBody>
      </p:sp>
      <p:sp>
        <p:nvSpPr>
          <p:cNvPr id="13" name="Shape 11"/>
          <p:cNvSpPr/>
          <p:nvPr/>
        </p:nvSpPr>
        <p:spPr>
          <a:xfrm>
            <a:off x="6492240" y="1874520"/>
            <a:ext cx="2450592" cy="658368"/>
          </a:xfrm>
          <a:prstGeom prst="rect">
            <a:avLst/>
          </a:prstGeom>
          <a:solidFill>
            <a:srgbClr val="0D7377"/>
          </a:solidFill>
          <a:ln w="12700">
            <a:solidFill>
              <a:srgbClr val="0D7377"/>
            </a:solidFill>
            <a:prstDash val="solid"/>
          </a:ln>
          <a:effectLst>
            <a:outerShdw sx="100000" sy="100000" kx="0" ky="0" algn="bl" rotWithShape="0" blurRad="101600" dist="38100" dir="8100000">
              <a:srgbClr val="000000">
                <a:alpha val="10000"/>
              </a:srgbClr>
            </a:outerShdw>
          </a:effectLst>
        </p:spPr>
      </p:sp>
      <p:sp>
        <p:nvSpPr>
          <p:cNvPr id="14" name="Text 12"/>
          <p:cNvSpPr/>
          <p:nvPr/>
        </p:nvSpPr>
        <p:spPr>
          <a:xfrm>
            <a:off x="6492240" y="1874520"/>
            <a:ext cx="2450592" cy="274320"/>
          </a:xfrm>
          <a:prstGeom prst="rect">
            <a:avLst/>
          </a:prstGeom>
          <a:noFill/>
          <a:ln/>
        </p:spPr>
        <p:txBody>
          <a:bodyPr wrap="square" lIns="0" tIns="0" rIns="0" bIns="0" rtlCol="0" anchor="ctr"/>
          <a:lstStyle/>
          <a:p>
            <a:pPr algn="ctr" indent="0" marL="0">
              <a:buNone/>
            </a:pPr>
            <a:r>
              <a:rPr lang="en-US" sz="1000" b="1" dirty="0">
                <a:solidFill>
                  <a:srgbClr val="FFFFFF"/>
                </a:solidFill>
              </a:rPr>
              <a:t>CONFIG FILE</a:t>
            </a:r>
            <a:endParaRPr lang="en-US" sz="1000" dirty="0"/>
          </a:p>
        </p:txBody>
      </p:sp>
      <p:sp>
        <p:nvSpPr>
          <p:cNvPr id="15" name="Text 13"/>
          <p:cNvSpPr/>
          <p:nvPr/>
        </p:nvSpPr>
        <p:spPr>
          <a:xfrm>
            <a:off x="6528816" y="2157984"/>
            <a:ext cx="2377440" cy="347472"/>
          </a:xfrm>
          <a:prstGeom prst="rect">
            <a:avLst/>
          </a:prstGeom>
          <a:noFill/>
          <a:ln/>
        </p:spPr>
        <p:txBody>
          <a:bodyPr wrap="square" lIns="0" tIns="0" rIns="0" bIns="0" rtlCol="0" anchor="ctr"/>
          <a:lstStyle/>
          <a:p>
            <a:pPr indent="0" marL="0">
              <a:buNone/>
            </a:pPr>
            <a:r>
              <a:rPr lang="en-US" sz="700" dirty="0">
                <a:solidFill>
                  <a:srgbClr val="B2EBE8"/>
                </a:solidFill>
              </a:rPr>
              <a:t>DOS threshold · Min options per cluster · OTB budget ceiling · Approval SLA · Cover weeks</a:t>
            </a:r>
            <a:endParaRPr lang="en-US" sz="700" dirty="0"/>
          </a:p>
        </p:txBody>
      </p:sp>
      <p:sp>
        <p:nvSpPr>
          <p:cNvPr id="16" name="Shape 14"/>
          <p:cNvSpPr/>
          <p:nvPr/>
        </p:nvSpPr>
        <p:spPr>
          <a:xfrm>
            <a:off x="3474720" y="2359152"/>
            <a:ext cx="0" cy="246888"/>
          </a:xfrm>
          <a:prstGeom prst="line">
            <a:avLst/>
          </a:prstGeom>
          <a:noFill/>
          <a:ln w="19050">
            <a:solidFill>
              <a:srgbClr val="0F2044"/>
            </a:solidFill>
            <a:prstDash val="solid"/>
          </a:ln>
        </p:spPr>
      </p:sp>
      <p:sp>
        <p:nvSpPr>
          <p:cNvPr id="17" name="Text 15"/>
          <p:cNvSpPr/>
          <p:nvPr/>
        </p:nvSpPr>
        <p:spPr>
          <a:xfrm>
            <a:off x="3520440" y="2395728"/>
            <a:ext cx="274320" cy="164592"/>
          </a:xfrm>
          <a:prstGeom prst="rect">
            <a:avLst/>
          </a:prstGeom>
          <a:noFill/>
          <a:ln/>
        </p:spPr>
        <p:txBody>
          <a:bodyPr wrap="square" lIns="0" tIns="0" rIns="0" bIns="0" rtlCol="0" anchor="ctr"/>
          <a:lstStyle/>
          <a:p>
            <a:pPr indent="0" marL="0">
              <a:buNone/>
            </a:pPr>
            <a:r>
              <a:rPr lang="en-US" sz="750" b="1" dirty="0">
                <a:solidFill>
                  <a:srgbClr val="0F2044"/>
                </a:solidFill>
              </a:rPr>
              <a:t>NO</a:t>
            </a:r>
            <a:endParaRPr lang="en-US" sz="750" dirty="0"/>
          </a:p>
        </p:txBody>
      </p:sp>
      <p:sp>
        <p:nvSpPr>
          <p:cNvPr id="18" name="Shape 16"/>
          <p:cNvSpPr/>
          <p:nvPr/>
        </p:nvSpPr>
        <p:spPr>
          <a:xfrm>
            <a:off x="914400" y="2606040"/>
            <a:ext cx="5120640" cy="530352"/>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19" name="Text 17"/>
          <p:cNvSpPr/>
          <p:nvPr/>
        </p:nvSpPr>
        <p:spPr>
          <a:xfrm>
            <a:off x="1005840" y="2651760"/>
            <a:ext cx="4937760" cy="457200"/>
          </a:xfrm>
          <a:prstGeom prst="rect">
            <a:avLst/>
          </a:prstGeom>
          <a:noFill/>
          <a:ln/>
        </p:spPr>
        <p:txBody>
          <a:bodyPr wrap="square" lIns="0" tIns="0" rIns="0" bIns="0" rtlCol="0" anchor="ctr"/>
          <a:lstStyle/>
          <a:p>
            <a:pPr indent="0" marL="0">
              <a:buNone/>
            </a:pPr>
            <a:r>
              <a:rPr lang="en-US" sz="950" dirty="0">
                <a:solidFill>
                  <a:srgbClr val="334155"/>
                </a:solidFill>
              </a:rPr>
              <a:t>Q2 · Does this logic apply to 3+ retailers,</a:t>
            </a:r>
            <a:endParaRPr lang="en-US" sz="950" dirty="0"/>
          </a:p>
          <a:p>
            <a:pPr indent="0" marL="0">
              <a:buNone/>
            </a:pPr>
            <a:r>
              <a:rPr lang="en-US" sz="950" dirty="0">
                <a:solidFill>
                  <a:srgbClr val="334155"/>
                </a:solidFill>
              </a:rPr>
              <a:t>or is it universal planning science?</a:t>
            </a:r>
            <a:endParaRPr lang="en-US" sz="950" dirty="0"/>
          </a:p>
        </p:txBody>
      </p:sp>
      <p:sp>
        <p:nvSpPr>
          <p:cNvPr id="20" name="Shape 18"/>
          <p:cNvSpPr/>
          <p:nvPr/>
        </p:nvSpPr>
        <p:spPr>
          <a:xfrm>
            <a:off x="6035040" y="2871216"/>
            <a:ext cx="457200" cy="0"/>
          </a:xfrm>
          <a:prstGeom prst="line">
            <a:avLst/>
          </a:prstGeom>
          <a:noFill/>
          <a:ln w="19050">
            <a:solidFill>
              <a:srgbClr val="0D7377"/>
            </a:solidFill>
            <a:prstDash val="solid"/>
          </a:ln>
        </p:spPr>
      </p:sp>
      <p:sp>
        <p:nvSpPr>
          <p:cNvPr id="21" name="Text 19"/>
          <p:cNvSpPr/>
          <p:nvPr/>
        </p:nvSpPr>
        <p:spPr>
          <a:xfrm>
            <a:off x="6053328" y="2715768"/>
            <a:ext cx="402336" cy="182880"/>
          </a:xfrm>
          <a:prstGeom prst="rect">
            <a:avLst/>
          </a:prstGeom>
          <a:noFill/>
          <a:ln/>
        </p:spPr>
        <p:txBody>
          <a:bodyPr wrap="square" lIns="0" tIns="0" rIns="0" bIns="0" rtlCol="0" anchor="ctr"/>
          <a:lstStyle/>
          <a:p>
            <a:pPr indent="0" marL="0">
              <a:buNone/>
            </a:pPr>
            <a:r>
              <a:rPr lang="en-US" sz="750" b="1" dirty="0">
                <a:solidFill>
                  <a:srgbClr val="0D7377"/>
                </a:solidFill>
              </a:rPr>
              <a:t>YES</a:t>
            </a:r>
            <a:endParaRPr lang="en-US" sz="750" dirty="0"/>
          </a:p>
        </p:txBody>
      </p:sp>
      <p:sp>
        <p:nvSpPr>
          <p:cNvPr id="22" name="Shape 20"/>
          <p:cNvSpPr/>
          <p:nvPr/>
        </p:nvSpPr>
        <p:spPr>
          <a:xfrm>
            <a:off x="6492240" y="2651760"/>
            <a:ext cx="2450592" cy="658368"/>
          </a:xfrm>
          <a:prstGeom prst="rect">
            <a:avLst/>
          </a:prstGeom>
          <a:solidFill>
            <a:srgbClr val="0F2044"/>
          </a:solidFill>
          <a:ln w="12700">
            <a:solidFill>
              <a:srgbClr val="0F2044"/>
            </a:solidFill>
            <a:prstDash val="solid"/>
          </a:ln>
          <a:effectLst>
            <a:outerShdw sx="100000" sy="100000" kx="0" ky="0" algn="bl" rotWithShape="0" blurRad="101600" dist="38100" dir="8100000">
              <a:srgbClr val="000000">
                <a:alpha val="10000"/>
              </a:srgbClr>
            </a:outerShdw>
          </a:effectLst>
        </p:spPr>
      </p:sp>
      <p:sp>
        <p:nvSpPr>
          <p:cNvPr id="23" name="Text 21"/>
          <p:cNvSpPr/>
          <p:nvPr/>
        </p:nvSpPr>
        <p:spPr>
          <a:xfrm>
            <a:off x="6492240" y="2651760"/>
            <a:ext cx="2450592" cy="274320"/>
          </a:xfrm>
          <a:prstGeom prst="rect">
            <a:avLst/>
          </a:prstGeom>
          <a:noFill/>
          <a:ln/>
        </p:spPr>
        <p:txBody>
          <a:bodyPr wrap="square" lIns="0" tIns="0" rIns="0" bIns="0" rtlCol="0" anchor="ctr"/>
          <a:lstStyle/>
          <a:p>
            <a:pPr algn="ctr" indent="0" marL="0">
              <a:buNone/>
            </a:pPr>
            <a:r>
              <a:rPr lang="en-US" sz="1000" b="1" dirty="0">
                <a:solidFill>
                  <a:srgbClr val="FFFFFF"/>
                </a:solidFill>
              </a:rPr>
              <a:t>CORE ROADMAP</a:t>
            </a:r>
            <a:endParaRPr lang="en-US" sz="1000" dirty="0"/>
          </a:p>
        </p:txBody>
      </p:sp>
      <p:sp>
        <p:nvSpPr>
          <p:cNvPr id="24" name="Text 22"/>
          <p:cNvSpPr/>
          <p:nvPr/>
        </p:nvSpPr>
        <p:spPr>
          <a:xfrm>
            <a:off x="6528816" y="2935224"/>
            <a:ext cx="2377440" cy="347472"/>
          </a:xfrm>
          <a:prstGeom prst="rect">
            <a:avLst/>
          </a:prstGeom>
          <a:noFill/>
          <a:ln/>
        </p:spPr>
        <p:txBody>
          <a:bodyPr wrap="square" lIns="0" tIns="0" rIns="0" bIns="0" rtlCol="0" anchor="ctr"/>
          <a:lstStyle/>
          <a:p>
            <a:pPr indent="0" marL="0">
              <a:buNone/>
            </a:pPr>
            <a:r>
              <a:rPr lang="en-US" sz="700" dirty="0">
                <a:solidFill>
                  <a:srgbClr val="94A3B8"/>
                </a:solidFill>
              </a:rPr>
              <a:t>History optimisation algorithm · Buy quantity engine · Assortment strategy · Market potential calc.</a:t>
            </a:r>
            <a:endParaRPr lang="en-US" sz="700" dirty="0"/>
          </a:p>
        </p:txBody>
      </p:sp>
      <p:sp>
        <p:nvSpPr>
          <p:cNvPr id="25" name="Shape 23"/>
          <p:cNvSpPr/>
          <p:nvPr/>
        </p:nvSpPr>
        <p:spPr>
          <a:xfrm>
            <a:off x="3474720" y="3136392"/>
            <a:ext cx="0" cy="246888"/>
          </a:xfrm>
          <a:prstGeom prst="line">
            <a:avLst/>
          </a:prstGeom>
          <a:noFill/>
          <a:ln w="19050">
            <a:solidFill>
              <a:srgbClr val="0F2044"/>
            </a:solidFill>
            <a:prstDash val="solid"/>
          </a:ln>
        </p:spPr>
      </p:sp>
      <p:sp>
        <p:nvSpPr>
          <p:cNvPr id="26" name="Text 24"/>
          <p:cNvSpPr/>
          <p:nvPr/>
        </p:nvSpPr>
        <p:spPr>
          <a:xfrm>
            <a:off x="3520440" y="3172968"/>
            <a:ext cx="274320" cy="164592"/>
          </a:xfrm>
          <a:prstGeom prst="rect">
            <a:avLst/>
          </a:prstGeom>
          <a:noFill/>
          <a:ln/>
        </p:spPr>
        <p:txBody>
          <a:bodyPr wrap="square" lIns="0" tIns="0" rIns="0" bIns="0" rtlCol="0" anchor="ctr"/>
          <a:lstStyle/>
          <a:p>
            <a:pPr indent="0" marL="0">
              <a:buNone/>
            </a:pPr>
            <a:r>
              <a:rPr lang="en-US" sz="750" b="1" dirty="0">
                <a:solidFill>
                  <a:srgbClr val="0F2044"/>
                </a:solidFill>
              </a:rPr>
              <a:t>NO</a:t>
            </a:r>
            <a:endParaRPr lang="en-US" sz="750" dirty="0"/>
          </a:p>
        </p:txBody>
      </p:sp>
      <p:sp>
        <p:nvSpPr>
          <p:cNvPr id="27" name="Shape 25"/>
          <p:cNvSpPr/>
          <p:nvPr/>
        </p:nvSpPr>
        <p:spPr>
          <a:xfrm>
            <a:off x="914400" y="3383280"/>
            <a:ext cx="5120640" cy="530352"/>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28" name="Text 26"/>
          <p:cNvSpPr/>
          <p:nvPr/>
        </p:nvSpPr>
        <p:spPr>
          <a:xfrm>
            <a:off x="1005840" y="3429000"/>
            <a:ext cx="4937760" cy="457200"/>
          </a:xfrm>
          <a:prstGeom prst="rect">
            <a:avLst/>
          </a:prstGeom>
          <a:noFill/>
          <a:ln/>
        </p:spPr>
        <p:txBody>
          <a:bodyPr wrap="square" lIns="0" tIns="0" rIns="0" bIns="0" rtlCol="0" anchor="ctr"/>
          <a:lstStyle/>
          <a:p>
            <a:pPr indent="0" marL="0">
              <a:buNone/>
            </a:pPr>
            <a:r>
              <a:rPr lang="en-US" sz="950" dirty="0">
                <a:solidFill>
                  <a:srgbClr val="334155"/>
                </a:solidFill>
              </a:rPr>
              <a:t>Q3 · Does a matching hook point exist</a:t>
            </a:r>
            <a:endParaRPr lang="en-US" sz="950" dirty="0"/>
          </a:p>
          <a:p>
            <a:pPr indent="0" marL="0">
              <a:buNone/>
            </a:pPr>
            <a:r>
              <a:rPr lang="en-US" sz="950" dirty="0">
                <a:solidFill>
                  <a:srgbClr val="334155"/>
                </a:solidFill>
              </a:rPr>
              <a:t>in the extension framework?</a:t>
            </a:r>
            <a:endParaRPr lang="en-US" sz="950" dirty="0"/>
          </a:p>
        </p:txBody>
      </p:sp>
      <p:sp>
        <p:nvSpPr>
          <p:cNvPr id="29" name="Shape 27"/>
          <p:cNvSpPr/>
          <p:nvPr/>
        </p:nvSpPr>
        <p:spPr>
          <a:xfrm>
            <a:off x="6035040" y="3648456"/>
            <a:ext cx="457200" cy="0"/>
          </a:xfrm>
          <a:prstGeom prst="line">
            <a:avLst/>
          </a:prstGeom>
          <a:noFill/>
          <a:ln w="19050">
            <a:solidFill>
              <a:srgbClr val="0D7377"/>
            </a:solidFill>
            <a:prstDash val="solid"/>
          </a:ln>
        </p:spPr>
      </p:sp>
      <p:sp>
        <p:nvSpPr>
          <p:cNvPr id="30" name="Text 28"/>
          <p:cNvSpPr/>
          <p:nvPr/>
        </p:nvSpPr>
        <p:spPr>
          <a:xfrm>
            <a:off x="6053328" y="3493008"/>
            <a:ext cx="402336" cy="182880"/>
          </a:xfrm>
          <a:prstGeom prst="rect">
            <a:avLst/>
          </a:prstGeom>
          <a:noFill/>
          <a:ln/>
        </p:spPr>
        <p:txBody>
          <a:bodyPr wrap="square" lIns="0" tIns="0" rIns="0" bIns="0" rtlCol="0" anchor="ctr"/>
          <a:lstStyle/>
          <a:p>
            <a:pPr indent="0" marL="0">
              <a:buNone/>
            </a:pPr>
            <a:r>
              <a:rPr lang="en-US" sz="750" b="1" dirty="0">
                <a:solidFill>
                  <a:srgbClr val="0D7377"/>
                </a:solidFill>
              </a:rPr>
              <a:t>YES</a:t>
            </a:r>
            <a:endParaRPr lang="en-US" sz="750" dirty="0"/>
          </a:p>
        </p:txBody>
      </p:sp>
      <p:sp>
        <p:nvSpPr>
          <p:cNvPr id="31" name="Shape 29"/>
          <p:cNvSpPr/>
          <p:nvPr/>
        </p:nvSpPr>
        <p:spPr>
          <a:xfrm>
            <a:off x="6492240" y="3429000"/>
            <a:ext cx="2450592" cy="658368"/>
          </a:xfrm>
          <a:prstGeom prst="rect">
            <a:avLst/>
          </a:prstGeom>
          <a:solidFill>
            <a:srgbClr val="7C3AED"/>
          </a:solidFill>
          <a:ln w="12700">
            <a:solidFill>
              <a:srgbClr val="7C3AED"/>
            </a:solidFill>
            <a:prstDash val="solid"/>
          </a:ln>
          <a:effectLst>
            <a:outerShdw sx="100000" sy="100000" kx="0" ky="0" algn="bl" rotWithShape="0" blurRad="101600" dist="38100" dir="8100000">
              <a:srgbClr val="000000">
                <a:alpha val="10000"/>
              </a:srgbClr>
            </a:outerShdw>
          </a:effectLst>
        </p:spPr>
      </p:sp>
      <p:sp>
        <p:nvSpPr>
          <p:cNvPr id="32" name="Text 30"/>
          <p:cNvSpPr/>
          <p:nvPr/>
        </p:nvSpPr>
        <p:spPr>
          <a:xfrm>
            <a:off x="6492240" y="3429000"/>
            <a:ext cx="2450592" cy="274320"/>
          </a:xfrm>
          <a:prstGeom prst="rect">
            <a:avLst/>
          </a:prstGeom>
          <a:noFill/>
          <a:ln/>
        </p:spPr>
        <p:txBody>
          <a:bodyPr wrap="square" lIns="0" tIns="0" rIns="0" bIns="0" rtlCol="0" anchor="ctr"/>
          <a:lstStyle/>
          <a:p>
            <a:pPr algn="ctr" indent="0" marL="0">
              <a:buNone/>
            </a:pPr>
            <a:r>
              <a:rPr lang="en-US" sz="1000" b="1" dirty="0">
                <a:solidFill>
                  <a:srgbClr val="FFFFFF"/>
                </a:solidFill>
              </a:rPr>
              <a:t>EXTENSION MODULE</a:t>
            </a:r>
            <a:endParaRPr lang="en-US" sz="1000" dirty="0"/>
          </a:p>
        </p:txBody>
      </p:sp>
      <p:sp>
        <p:nvSpPr>
          <p:cNvPr id="33" name="Text 31"/>
          <p:cNvSpPr/>
          <p:nvPr/>
        </p:nvSpPr>
        <p:spPr>
          <a:xfrm>
            <a:off x="6528816" y="3712464"/>
            <a:ext cx="2377440" cy="347472"/>
          </a:xfrm>
          <a:prstGeom prst="rect">
            <a:avLst/>
          </a:prstGeom>
          <a:noFill/>
          <a:ln/>
        </p:spPr>
        <p:txBody>
          <a:bodyPr wrap="square" lIns="0" tIns="0" rIns="0" bIns="0" rtlCol="0" anchor="ctr"/>
          <a:lstStyle/>
          <a:p>
            <a:pPr indent="0" marL="0">
              <a:buNone/>
            </a:pPr>
            <a:r>
              <a:rPr lang="en-US" sz="700" dirty="0">
                <a:solidFill>
                  <a:srgbClr val="DDD6FE"/>
                </a:solidFill>
              </a:rPr>
              <a:t>Lead time suppression · Luxury tier rules · Custom approval · Phase web service call · ERP field mapping</a:t>
            </a:r>
            <a:endParaRPr lang="en-US" sz="700" dirty="0"/>
          </a:p>
        </p:txBody>
      </p:sp>
      <p:sp>
        <p:nvSpPr>
          <p:cNvPr id="34" name="Shape 32"/>
          <p:cNvSpPr/>
          <p:nvPr/>
        </p:nvSpPr>
        <p:spPr>
          <a:xfrm>
            <a:off x="3474720" y="3913632"/>
            <a:ext cx="0" cy="201168"/>
          </a:xfrm>
          <a:prstGeom prst="line">
            <a:avLst/>
          </a:prstGeom>
          <a:noFill/>
          <a:ln w="19050">
            <a:solidFill>
              <a:srgbClr val="0F2044"/>
            </a:solidFill>
            <a:prstDash val="solid"/>
          </a:ln>
        </p:spPr>
      </p:sp>
      <p:sp>
        <p:nvSpPr>
          <p:cNvPr id="35" name="Text 33"/>
          <p:cNvSpPr/>
          <p:nvPr/>
        </p:nvSpPr>
        <p:spPr>
          <a:xfrm>
            <a:off x="3520440" y="3931920"/>
            <a:ext cx="274320" cy="182880"/>
          </a:xfrm>
          <a:prstGeom prst="rect">
            <a:avLst/>
          </a:prstGeom>
          <a:noFill/>
          <a:ln/>
        </p:spPr>
        <p:txBody>
          <a:bodyPr wrap="square" lIns="0" tIns="0" rIns="0" bIns="0" rtlCol="0" anchor="ctr"/>
          <a:lstStyle/>
          <a:p>
            <a:pPr indent="0" marL="0">
              <a:buNone/>
            </a:pPr>
            <a:r>
              <a:rPr lang="en-US" sz="750" b="1" dirty="0">
                <a:solidFill>
                  <a:srgbClr val="0F2044"/>
                </a:solidFill>
              </a:rPr>
              <a:t>NO</a:t>
            </a:r>
            <a:endParaRPr lang="en-US" sz="750" dirty="0"/>
          </a:p>
        </p:txBody>
      </p:sp>
      <p:sp>
        <p:nvSpPr>
          <p:cNvPr id="36" name="Shape 34"/>
          <p:cNvSpPr/>
          <p:nvPr/>
        </p:nvSpPr>
        <p:spPr>
          <a:xfrm>
            <a:off x="1371600" y="4114800"/>
            <a:ext cx="4206240" cy="502920"/>
          </a:xfrm>
          <a:prstGeom prst="rect">
            <a:avLst/>
          </a:prstGeom>
          <a:solidFill>
            <a:srgbClr val="F59E0B"/>
          </a:solidFill>
          <a:ln w="12700">
            <a:solidFill>
              <a:srgbClr val="F59E0B"/>
            </a:solidFill>
            <a:prstDash val="solid"/>
          </a:ln>
          <a:effectLst>
            <a:outerShdw sx="100000" sy="100000" kx="0" ky="0" algn="bl" rotWithShape="0" blurRad="101600" dist="38100" dir="8100000">
              <a:srgbClr val="000000">
                <a:alpha val="10000"/>
              </a:srgbClr>
            </a:outerShdw>
          </a:effectLst>
        </p:spPr>
      </p:sp>
      <p:sp>
        <p:nvSpPr>
          <p:cNvPr id="37" name="Text 35"/>
          <p:cNvSpPr/>
          <p:nvPr/>
        </p:nvSpPr>
        <p:spPr>
          <a:xfrm>
            <a:off x="1371600" y="4114800"/>
            <a:ext cx="4206240" cy="502920"/>
          </a:xfrm>
          <a:prstGeom prst="rect">
            <a:avLst/>
          </a:prstGeom>
          <a:noFill/>
          <a:ln/>
        </p:spPr>
        <p:txBody>
          <a:bodyPr wrap="square" lIns="0" tIns="0" rIns="0" bIns="0" rtlCol="0" anchor="ctr"/>
          <a:lstStyle/>
          <a:p>
            <a:pPr algn="ctr" indent="0" marL="0">
              <a:buNone/>
            </a:pPr>
            <a:r>
              <a:rPr lang="en-US" sz="900" b="1" dirty="0">
                <a:solidFill>
                  <a:srgbClr val="0F2044"/>
                </a:solidFill>
              </a:rPr>
              <a:t>Platform team designs a new hook point → Adds to framework → Retailer builds extension against it</a:t>
            </a:r>
            <a:endParaRPr lang="en-US" sz="900" dirty="0"/>
          </a:p>
        </p:txBody>
      </p:sp>
      <p:sp>
        <p:nvSpPr>
          <p:cNvPr id="38" name="Shape 36"/>
          <p:cNvSpPr/>
          <p:nvPr/>
        </p:nvSpPr>
        <p:spPr>
          <a:xfrm>
            <a:off x="201168" y="4709160"/>
            <a:ext cx="8741664" cy="320040"/>
          </a:xfrm>
          <a:prstGeom prst="rect">
            <a:avLst/>
          </a:prstGeom>
          <a:solidFill>
            <a:srgbClr val="0F2044"/>
          </a:solidFill>
          <a:ln w="12700">
            <a:solidFill>
              <a:srgbClr val="0F2044"/>
            </a:solidFill>
            <a:prstDash val="solid"/>
          </a:ln>
        </p:spPr>
      </p:sp>
      <p:sp>
        <p:nvSpPr>
          <p:cNvPr id="39" name="Text 37"/>
          <p:cNvSpPr/>
          <p:nvPr/>
        </p:nvSpPr>
        <p:spPr>
          <a:xfrm>
            <a:off x="365760" y="4709160"/>
            <a:ext cx="8412480" cy="320040"/>
          </a:xfrm>
          <a:prstGeom prst="rect">
            <a:avLst/>
          </a:prstGeom>
          <a:noFill/>
          <a:ln/>
        </p:spPr>
        <p:txBody>
          <a:bodyPr wrap="square" lIns="0" tIns="0" rIns="0" bIns="0" rtlCol="0" anchor="ctr"/>
          <a:lstStyle/>
          <a:p>
            <a:pPr indent="0" marL="0">
              <a:buNone/>
            </a:pPr>
            <a:r>
              <a:rPr lang="en-US" sz="900" dirty="0">
                <a:solidFill>
                  <a:srgbClr val="FFFFFF"/>
                </a:solidFill>
              </a:rPr>
              <a:t>🚫  Tenant isolation: a crash in one retailer's extension must never affect any other   ·   📋  Schema versioning: breaking changes require a deprecation cycle</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F2044"/>
          </a:solidFill>
          <a:ln w="12700">
            <a:solidFill>
              <a:srgbClr val="0F2044"/>
            </a:solidFill>
            <a:prstDash val="solid"/>
          </a:ln>
        </p:spPr>
      </p:sp>
      <p:sp>
        <p:nvSpPr>
          <p:cNvPr id="3" name="Text 1"/>
          <p:cNvSpPr/>
          <p:nvPr/>
        </p:nvSpPr>
        <p:spPr>
          <a:xfrm>
            <a:off x="365760" y="0"/>
            <a:ext cx="7772400" cy="658368"/>
          </a:xfrm>
          <a:prstGeom prst="rect">
            <a:avLst/>
          </a:prstGeom>
          <a:noFill/>
          <a:ln/>
        </p:spPr>
        <p:txBody>
          <a:bodyPr wrap="square" lIns="0" tIns="0" rIns="0" bIns="0" rtlCol="0" anchor="ctr"/>
          <a:lstStyle/>
          <a:p>
            <a:pPr indent="0" marL="0">
              <a:buNone/>
            </a:pPr>
            <a:r>
              <a:rPr lang="en-US" sz="1000" b="1" spc="300" kern="0" dirty="0">
                <a:solidFill>
                  <a:srgbClr val="FFFFFF"/>
                </a:solidFill>
              </a:rPr>
              <a:t>OLAP PLANNER GRID — AI RECOMMENDATIONS + PLANNER OVERRIDES</a:t>
            </a:r>
            <a:endParaRPr lang="en-US" sz="1000" dirty="0"/>
          </a:p>
        </p:txBody>
      </p:sp>
      <p:sp>
        <p:nvSpPr>
          <p:cNvPr id="4" name="Text 2"/>
          <p:cNvSpPr/>
          <p:nvPr/>
        </p:nvSpPr>
        <p:spPr>
          <a:xfrm>
            <a:off x="7863840" y="0"/>
            <a:ext cx="1097280" cy="658368"/>
          </a:xfrm>
          <a:prstGeom prst="rect">
            <a:avLst/>
          </a:prstGeom>
          <a:noFill/>
          <a:ln/>
        </p:spPr>
        <p:txBody>
          <a:bodyPr wrap="square" lIns="0" tIns="0" rIns="0" bIns="0" rtlCol="0" anchor="ctr"/>
          <a:lstStyle/>
          <a:p>
            <a:pPr algn="r" indent="0" marL="0">
              <a:buNone/>
            </a:pPr>
            <a:r>
              <a:rPr lang="en-US" sz="900" dirty="0">
                <a:solidFill>
                  <a:srgbClr val="94A3B8"/>
                </a:solidFill>
              </a:rPr>
              <a:t>ARCH-06</a:t>
            </a:r>
            <a:endParaRPr lang="en-US" sz="900" dirty="0"/>
          </a:p>
        </p:txBody>
      </p:sp>
      <p:sp>
        <p:nvSpPr>
          <p:cNvPr id="5" name="Shape 3"/>
          <p:cNvSpPr/>
          <p:nvPr/>
        </p:nvSpPr>
        <p:spPr>
          <a:xfrm>
            <a:off x="201168" y="804672"/>
            <a:ext cx="3840480" cy="914400"/>
          </a:xfrm>
          <a:prstGeom prst="rect">
            <a:avLst/>
          </a:prstGeom>
          <a:solidFill>
            <a:srgbClr val="0F2044"/>
          </a:solidFill>
          <a:ln w="12700">
            <a:solidFill>
              <a:srgbClr val="0F2044"/>
            </a:solidFill>
            <a:prstDash val="solid"/>
          </a:ln>
          <a:effectLst>
            <a:outerShdw sx="100000" sy="100000" kx="0" ky="0" algn="bl" rotWithShape="0" blurRad="101600" dist="38100" dir="8100000">
              <a:srgbClr val="000000">
                <a:alpha val="10000"/>
              </a:srgbClr>
            </a:outerShdw>
          </a:effectLst>
        </p:spPr>
      </p:sp>
      <p:sp>
        <p:nvSpPr>
          <p:cNvPr id="6" name="Text 4"/>
          <p:cNvSpPr/>
          <p:nvPr/>
        </p:nvSpPr>
        <p:spPr>
          <a:xfrm>
            <a:off x="347472" y="896112"/>
            <a:ext cx="3566160" cy="292608"/>
          </a:xfrm>
          <a:prstGeom prst="rect">
            <a:avLst/>
          </a:prstGeom>
          <a:noFill/>
          <a:ln/>
        </p:spPr>
        <p:txBody>
          <a:bodyPr wrap="square" lIns="0" tIns="0" rIns="0" bIns="0" rtlCol="0" anchor="ctr"/>
          <a:lstStyle/>
          <a:p>
            <a:pPr indent="0" marL="0">
              <a:buNone/>
            </a:pPr>
            <a:r>
              <a:rPr lang="en-US" sz="1100" b="1" dirty="0">
                <a:solidFill>
                  <a:srgbClr val="FFFFFF"/>
                </a:solidFill>
              </a:rPr>
              <a:t>GRID UI LAYER</a:t>
            </a:r>
            <a:endParaRPr lang="en-US" sz="1100" dirty="0"/>
          </a:p>
        </p:txBody>
      </p:sp>
      <p:sp>
        <p:nvSpPr>
          <p:cNvPr id="7" name="Text 5"/>
          <p:cNvSpPr/>
          <p:nvPr/>
        </p:nvSpPr>
        <p:spPr>
          <a:xfrm>
            <a:off x="347472" y="1225296"/>
            <a:ext cx="3566160" cy="438912"/>
          </a:xfrm>
          <a:prstGeom prst="rect">
            <a:avLst/>
          </a:prstGeom>
          <a:noFill/>
          <a:ln/>
        </p:spPr>
        <p:txBody>
          <a:bodyPr wrap="square" lIns="0" tIns="0" rIns="0" bIns="0" rtlCol="0" anchor="ctr"/>
          <a:lstStyle/>
          <a:p>
            <a:pPr indent="0" marL="0">
              <a:buNone/>
            </a:pPr>
            <a:r>
              <a:rPr lang="en-US" sz="850" dirty="0">
                <a:solidFill>
                  <a:srgbClr val="94A3B8"/>
                </a:solidFill>
              </a:rPr>
              <a:t>React pivot grid · dual-value cells · inline AI diff · spread controls · commit / discard</a:t>
            </a:r>
            <a:endParaRPr lang="en-US" sz="850" dirty="0"/>
          </a:p>
        </p:txBody>
      </p:sp>
      <p:sp>
        <p:nvSpPr>
          <p:cNvPr id="8" name="Shape 6"/>
          <p:cNvSpPr/>
          <p:nvPr/>
        </p:nvSpPr>
        <p:spPr>
          <a:xfrm>
            <a:off x="2103120" y="1719072"/>
            <a:ext cx="0" cy="137160"/>
          </a:xfrm>
          <a:prstGeom prst="line">
            <a:avLst/>
          </a:prstGeom>
          <a:noFill/>
          <a:ln w="19050">
            <a:solidFill>
              <a:srgbClr val="94A3B8"/>
            </a:solidFill>
            <a:prstDash val="solid"/>
          </a:ln>
        </p:spPr>
      </p:sp>
      <p:sp>
        <p:nvSpPr>
          <p:cNvPr id="9" name="Shape 7"/>
          <p:cNvSpPr/>
          <p:nvPr/>
        </p:nvSpPr>
        <p:spPr>
          <a:xfrm>
            <a:off x="201168" y="1856232"/>
            <a:ext cx="3840480" cy="914400"/>
          </a:xfrm>
          <a:prstGeom prst="rect">
            <a:avLst/>
          </a:prstGeom>
          <a:solidFill>
            <a:srgbClr val="0D7377"/>
          </a:solidFill>
          <a:ln w="12700">
            <a:solidFill>
              <a:srgbClr val="0D7377"/>
            </a:solidFill>
            <a:prstDash val="solid"/>
          </a:ln>
          <a:effectLst>
            <a:outerShdw sx="100000" sy="100000" kx="0" ky="0" algn="bl" rotWithShape="0" blurRad="101600" dist="38100" dir="8100000">
              <a:srgbClr val="000000">
                <a:alpha val="10000"/>
              </a:srgbClr>
            </a:outerShdw>
          </a:effectLst>
        </p:spPr>
      </p:sp>
      <p:sp>
        <p:nvSpPr>
          <p:cNvPr id="10" name="Text 8"/>
          <p:cNvSpPr/>
          <p:nvPr/>
        </p:nvSpPr>
        <p:spPr>
          <a:xfrm>
            <a:off x="347472" y="1947672"/>
            <a:ext cx="3566160" cy="292608"/>
          </a:xfrm>
          <a:prstGeom prst="rect">
            <a:avLst/>
          </a:prstGeom>
          <a:noFill/>
          <a:ln/>
        </p:spPr>
        <p:txBody>
          <a:bodyPr wrap="square" lIns="0" tIns="0" rIns="0" bIns="0" rtlCol="0" anchor="ctr"/>
          <a:lstStyle/>
          <a:p>
            <a:pPr indent="0" marL="0">
              <a:buNone/>
            </a:pPr>
            <a:r>
              <a:rPr lang="en-US" sz="1100" b="1" dirty="0">
                <a:solidFill>
                  <a:srgbClr val="FFFFFF"/>
                </a:solidFill>
              </a:rPr>
              <a:t>SEMANTIC LAYER</a:t>
            </a:r>
            <a:endParaRPr lang="en-US" sz="1100" dirty="0"/>
          </a:p>
        </p:txBody>
      </p:sp>
      <p:sp>
        <p:nvSpPr>
          <p:cNvPr id="11" name="Text 9"/>
          <p:cNvSpPr/>
          <p:nvPr/>
        </p:nvSpPr>
        <p:spPr>
          <a:xfrm>
            <a:off x="347472" y="2276856"/>
            <a:ext cx="3566160" cy="438912"/>
          </a:xfrm>
          <a:prstGeom prst="rect">
            <a:avLst/>
          </a:prstGeom>
          <a:noFill/>
          <a:ln/>
        </p:spPr>
        <p:txBody>
          <a:bodyPr wrap="square" lIns="0" tIns="0" rIns="0" bIns="0" rtlCol="0" anchor="ctr"/>
          <a:lstStyle/>
          <a:p>
            <a:pPr indent="0" marL="0">
              <a:buNone/>
            </a:pPr>
            <a:r>
              <a:rPr lang="en-US" sz="850" dirty="0">
                <a:solidFill>
                  <a:srgbClr val="94A3B8"/>
                </a:solidFill>
              </a:rPr>
              <a:t>Cube engine (DuckDB / Cube.dev) · pre-aggregated across hierarchy · sub-second roll-up &amp; drill-down</a:t>
            </a:r>
            <a:endParaRPr lang="en-US" sz="850" dirty="0"/>
          </a:p>
        </p:txBody>
      </p:sp>
      <p:sp>
        <p:nvSpPr>
          <p:cNvPr id="12" name="Shape 10"/>
          <p:cNvSpPr/>
          <p:nvPr/>
        </p:nvSpPr>
        <p:spPr>
          <a:xfrm>
            <a:off x="2103120" y="2770632"/>
            <a:ext cx="0" cy="137160"/>
          </a:xfrm>
          <a:prstGeom prst="line">
            <a:avLst/>
          </a:prstGeom>
          <a:noFill/>
          <a:ln w="19050">
            <a:solidFill>
              <a:srgbClr val="94A3B8"/>
            </a:solidFill>
            <a:prstDash val="solid"/>
          </a:ln>
        </p:spPr>
      </p:sp>
      <p:sp>
        <p:nvSpPr>
          <p:cNvPr id="13" name="Shape 11"/>
          <p:cNvSpPr/>
          <p:nvPr/>
        </p:nvSpPr>
        <p:spPr>
          <a:xfrm>
            <a:off x="201168" y="2907792"/>
            <a:ext cx="3840480" cy="914400"/>
          </a:xfrm>
          <a:prstGeom prst="rect">
            <a:avLst/>
          </a:prstGeom>
          <a:solidFill>
            <a:srgbClr val="7C3AED"/>
          </a:solidFill>
          <a:ln w="12700">
            <a:solidFill>
              <a:srgbClr val="7C3AED"/>
            </a:solidFill>
            <a:prstDash val="solid"/>
          </a:ln>
          <a:effectLst>
            <a:outerShdw sx="100000" sy="100000" kx="0" ky="0" algn="bl" rotWithShape="0" blurRad="101600" dist="38100" dir="8100000">
              <a:srgbClr val="000000">
                <a:alpha val="10000"/>
              </a:srgbClr>
            </a:outerShdw>
          </a:effectLst>
        </p:spPr>
      </p:sp>
      <p:sp>
        <p:nvSpPr>
          <p:cNvPr id="14" name="Text 12"/>
          <p:cNvSpPr/>
          <p:nvPr/>
        </p:nvSpPr>
        <p:spPr>
          <a:xfrm>
            <a:off x="347472" y="2999232"/>
            <a:ext cx="3566160" cy="292608"/>
          </a:xfrm>
          <a:prstGeom prst="rect">
            <a:avLst/>
          </a:prstGeom>
          <a:noFill/>
          <a:ln/>
        </p:spPr>
        <p:txBody>
          <a:bodyPr wrap="square" lIns="0" tIns="0" rIns="0" bIns="0" rtlCol="0" anchor="ctr"/>
          <a:lstStyle/>
          <a:p>
            <a:pPr indent="0" marL="0">
              <a:buNone/>
            </a:pPr>
            <a:r>
              <a:rPr lang="en-US" sz="1100" b="1" dirty="0">
                <a:solidFill>
                  <a:srgbClr val="FFFFFF"/>
                </a:solidFill>
              </a:rPr>
              <a:t>VIEW STORE</a:t>
            </a:r>
            <a:endParaRPr lang="en-US" sz="1100" dirty="0"/>
          </a:p>
        </p:txBody>
      </p:sp>
      <p:sp>
        <p:nvSpPr>
          <p:cNvPr id="15" name="Text 13"/>
          <p:cNvSpPr/>
          <p:nvPr/>
        </p:nvSpPr>
        <p:spPr>
          <a:xfrm>
            <a:off x="347472" y="3328416"/>
            <a:ext cx="3566160" cy="438912"/>
          </a:xfrm>
          <a:prstGeom prst="rect">
            <a:avLst/>
          </a:prstGeom>
          <a:noFill/>
          <a:ln/>
        </p:spPr>
        <p:txBody>
          <a:bodyPr wrap="square" lIns="0" tIns="0" rIns="0" bIns="0" rtlCol="0" anchor="ctr"/>
          <a:lstStyle/>
          <a:p>
            <a:pPr indent="0" marL="0">
              <a:buNone/>
            </a:pPr>
            <a:r>
              <a:rPr lang="en-US" sz="850" dirty="0">
                <a:solidFill>
                  <a:srgbClr val="DDD6FE"/>
                </a:solidFill>
              </a:rPr>
              <a:t>Per-user persistent state · uncommitted edits · filter/sort/column state · session-independent</a:t>
            </a:r>
            <a:endParaRPr lang="en-US" sz="850" dirty="0"/>
          </a:p>
        </p:txBody>
      </p:sp>
      <p:sp>
        <p:nvSpPr>
          <p:cNvPr id="16" name="Shape 14"/>
          <p:cNvSpPr/>
          <p:nvPr/>
        </p:nvSpPr>
        <p:spPr>
          <a:xfrm>
            <a:off x="2103120" y="3822192"/>
            <a:ext cx="0" cy="137160"/>
          </a:xfrm>
          <a:prstGeom prst="line">
            <a:avLst/>
          </a:prstGeom>
          <a:noFill/>
          <a:ln w="19050">
            <a:solidFill>
              <a:srgbClr val="94A3B8"/>
            </a:solidFill>
            <a:prstDash val="solid"/>
          </a:ln>
        </p:spPr>
      </p:sp>
      <p:sp>
        <p:nvSpPr>
          <p:cNvPr id="17" name="Shape 15"/>
          <p:cNvSpPr/>
          <p:nvPr/>
        </p:nvSpPr>
        <p:spPr>
          <a:xfrm>
            <a:off x="201168" y="3959352"/>
            <a:ext cx="3840480" cy="914400"/>
          </a:xfrm>
          <a:prstGeom prst="rect">
            <a:avLst/>
          </a:prstGeom>
          <a:solidFill>
            <a:srgbClr val="334155"/>
          </a:solidFill>
          <a:ln w="12700">
            <a:solidFill>
              <a:srgbClr val="334155"/>
            </a:solidFill>
            <a:prstDash val="solid"/>
          </a:ln>
          <a:effectLst>
            <a:outerShdw sx="100000" sy="100000" kx="0" ky="0" algn="bl" rotWithShape="0" blurRad="101600" dist="38100" dir="8100000">
              <a:srgbClr val="000000">
                <a:alpha val="10000"/>
              </a:srgbClr>
            </a:outerShdw>
          </a:effectLst>
        </p:spPr>
      </p:sp>
      <p:sp>
        <p:nvSpPr>
          <p:cNvPr id="18" name="Text 16"/>
          <p:cNvSpPr/>
          <p:nvPr/>
        </p:nvSpPr>
        <p:spPr>
          <a:xfrm>
            <a:off x="347472" y="4050792"/>
            <a:ext cx="3566160" cy="292608"/>
          </a:xfrm>
          <a:prstGeom prst="rect">
            <a:avLst/>
          </a:prstGeom>
          <a:noFill/>
          <a:ln/>
        </p:spPr>
        <p:txBody>
          <a:bodyPr wrap="square" lIns="0" tIns="0" rIns="0" bIns="0" rtlCol="0" anchor="ctr"/>
          <a:lstStyle/>
          <a:p>
            <a:pPr indent="0" marL="0">
              <a:buNone/>
            </a:pPr>
            <a:r>
              <a:rPr lang="en-US" sz="1100" b="1" dirty="0">
                <a:solidFill>
                  <a:srgbClr val="FFFFFF"/>
                </a:solidFill>
              </a:rPr>
              <a:t>PLANNING DB</a:t>
            </a:r>
            <a:endParaRPr lang="en-US" sz="1100" dirty="0"/>
          </a:p>
        </p:txBody>
      </p:sp>
      <p:sp>
        <p:nvSpPr>
          <p:cNvPr id="19" name="Text 17"/>
          <p:cNvSpPr/>
          <p:nvPr/>
        </p:nvSpPr>
        <p:spPr>
          <a:xfrm>
            <a:off x="347472" y="4379976"/>
            <a:ext cx="3566160" cy="438912"/>
          </a:xfrm>
          <a:prstGeom prst="rect">
            <a:avLst/>
          </a:prstGeom>
          <a:noFill/>
          <a:ln/>
        </p:spPr>
        <p:txBody>
          <a:bodyPr wrap="square" lIns="0" tIns="0" rIns="0" bIns="0" rtlCol="0" anchor="ctr"/>
          <a:lstStyle/>
          <a:p>
            <a:pPr indent="0" marL="0">
              <a:buNone/>
            </a:pPr>
            <a:r>
              <a:rPr lang="en-US" sz="850" dirty="0">
                <a:solidFill>
                  <a:srgbClr val="DDD6FE"/>
                </a:solidFill>
              </a:rPr>
              <a:t>Transactional source of truth · committed records only · audit log (immutable)</a:t>
            </a:r>
            <a:endParaRPr lang="en-US" sz="850" dirty="0"/>
          </a:p>
        </p:txBody>
      </p:sp>
      <p:sp>
        <p:nvSpPr>
          <p:cNvPr id="20" name="Shape 18"/>
          <p:cNvSpPr/>
          <p:nvPr/>
        </p:nvSpPr>
        <p:spPr>
          <a:xfrm>
            <a:off x="201168" y="4645152"/>
            <a:ext cx="3840480" cy="365760"/>
          </a:xfrm>
          <a:prstGeom prst="rect">
            <a:avLst/>
          </a:prstGeom>
          <a:solidFill>
            <a:srgbClr val="F7F9FC"/>
          </a:solidFill>
          <a:ln w="12700">
            <a:solidFill>
              <a:srgbClr val="E2E8F0"/>
            </a:solidFill>
            <a:prstDash val="solid"/>
          </a:ln>
        </p:spPr>
      </p:sp>
      <p:sp>
        <p:nvSpPr>
          <p:cNvPr id="21" name="Text 19"/>
          <p:cNvSpPr/>
          <p:nvPr/>
        </p:nvSpPr>
        <p:spPr>
          <a:xfrm>
            <a:off x="274320" y="4645152"/>
            <a:ext cx="3749040" cy="365760"/>
          </a:xfrm>
          <a:prstGeom prst="rect">
            <a:avLst/>
          </a:prstGeom>
          <a:noFill/>
          <a:ln/>
        </p:spPr>
        <p:txBody>
          <a:bodyPr wrap="square" lIns="0" tIns="0" rIns="0" bIns="0" rtlCol="0" anchor="ctr"/>
          <a:lstStyle/>
          <a:p>
            <a:pPr indent="0" marL="0">
              <a:buNone/>
            </a:pPr>
            <a:r>
              <a:rPr lang="en-US" sz="850" b="1" dirty="0">
                <a:solidFill>
                  <a:srgbClr val="0F2044"/>
                </a:solidFill>
              </a:rPr>
              <a:t xml:space="preserve">HIERARCHY DIMENSIONS: </a:t>
            </a:r>
            <a:pPr indent="0" marL="0">
              <a:buNone/>
            </a:pPr>
            <a:r>
              <a:rPr lang="en-US" sz="850" dirty="0">
                <a:solidFill>
                  <a:srgbClr val="64748B"/>
                </a:solidFill>
              </a:rPr>
              <a:t>Dept → Class → Subclass → Option  ×  Store → Cluster → Region  ×  Season / Week</a:t>
            </a:r>
            <a:endParaRPr lang="en-US" sz="850" dirty="0"/>
          </a:p>
        </p:txBody>
      </p:sp>
      <p:sp>
        <p:nvSpPr>
          <p:cNvPr id="22" name="Shape 20"/>
          <p:cNvSpPr/>
          <p:nvPr/>
        </p:nvSpPr>
        <p:spPr>
          <a:xfrm>
            <a:off x="4315968" y="804672"/>
            <a:ext cx="4626864" cy="768096"/>
          </a:xfrm>
          <a:prstGeom prst="rect">
            <a:avLst/>
          </a:prstGeom>
          <a:solidFill>
            <a:srgbClr val="F7F9FC"/>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23" name="Shape 21"/>
          <p:cNvSpPr/>
          <p:nvPr/>
        </p:nvSpPr>
        <p:spPr>
          <a:xfrm>
            <a:off x="4315968" y="804672"/>
            <a:ext cx="54864" cy="768096"/>
          </a:xfrm>
          <a:prstGeom prst="rect">
            <a:avLst/>
          </a:prstGeom>
          <a:solidFill>
            <a:srgbClr val="0D7377"/>
          </a:solidFill>
          <a:ln w="12700">
            <a:solidFill>
              <a:srgbClr val="0D7377"/>
            </a:solidFill>
            <a:prstDash val="solid"/>
          </a:ln>
        </p:spPr>
      </p:sp>
      <p:pic>
        <p:nvPicPr>
          <p:cNvPr id="24" name="Image 0" descr="preencoded.png"/>
          <p:cNvPicPr>
            <a:picLocks noChangeAspect="1"/>
          </p:cNvPicPr>
          <p:nvPr/>
        </p:nvPicPr>
        <p:blipFill>
          <a:blip r:embed="rId1"/>
          <a:stretch>
            <a:fillRect/>
          </a:stretch>
        </p:blipFill>
        <p:spPr>
          <a:xfrm>
            <a:off x="4462272" y="1024128"/>
            <a:ext cx="274320" cy="274320"/>
          </a:xfrm>
          <a:prstGeom prst="rect">
            <a:avLst/>
          </a:prstGeom>
        </p:spPr>
      </p:pic>
      <p:sp>
        <p:nvSpPr>
          <p:cNvPr id="25" name="Text 22"/>
          <p:cNvSpPr/>
          <p:nvPr/>
        </p:nvSpPr>
        <p:spPr>
          <a:xfrm>
            <a:off x="4828032" y="896112"/>
            <a:ext cx="4023360" cy="256032"/>
          </a:xfrm>
          <a:prstGeom prst="rect">
            <a:avLst/>
          </a:prstGeom>
          <a:noFill/>
          <a:ln/>
        </p:spPr>
        <p:txBody>
          <a:bodyPr wrap="square" lIns="0" tIns="0" rIns="0" bIns="0" rtlCol="0" anchor="ctr"/>
          <a:lstStyle/>
          <a:p>
            <a:pPr indent="0" marL="0">
              <a:buNone/>
            </a:pPr>
            <a:r>
              <a:rPr lang="en-US" sz="1000" b="1" dirty="0">
                <a:solidFill>
                  <a:srgbClr val="0F2044"/>
                </a:solidFill>
              </a:rPr>
              <a:t>Dual-value cell model</a:t>
            </a:r>
            <a:endParaRPr lang="en-US" sz="1000" dirty="0"/>
          </a:p>
        </p:txBody>
      </p:sp>
      <p:sp>
        <p:nvSpPr>
          <p:cNvPr id="26" name="Text 23"/>
          <p:cNvSpPr/>
          <p:nvPr/>
        </p:nvSpPr>
        <p:spPr>
          <a:xfrm>
            <a:off x="4828032" y="1170432"/>
            <a:ext cx="4023360" cy="365760"/>
          </a:xfrm>
          <a:prstGeom prst="rect">
            <a:avLst/>
          </a:prstGeom>
          <a:noFill/>
          <a:ln/>
        </p:spPr>
        <p:txBody>
          <a:bodyPr wrap="square" lIns="0" tIns="0" rIns="0" bIns="0" rtlCol="0" anchor="ctr"/>
          <a:lstStyle/>
          <a:p>
            <a:pPr indent="0" marL="0">
              <a:buNone/>
            </a:pPr>
            <a:r>
              <a:rPr lang="en-US" sz="800" dirty="0">
                <a:solidFill>
                  <a:srgbClr val="64748B"/>
                </a:solidFill>
              </a:rPr>
              <a:t>Every cell carries the agent's recommendation AND the planner's committed value simultaneously. Visual diff highlights divergence. Unexplained overrides still train the model; annotated ones train it faster.</a:t>
            </a:r>
            <a:endParaRPr lang="en-US" sz="800" dirty="0"/>
          </a:p>
        </p:txBody>
      </p:sp>
      <p:sp>
        <p:nvSpPr>
          <p:cNvPr id="27" name="Shape 24"/>
          <p:cNvSpPr/>
          <p:nvPr/>
        </p:nvSpPr>
        <p:spPr>
          <a:xfrm>
            <a:off x="4315968" y="1655064"/>
            <a:ext cx="4626864" cy="768096"/>
          </a:xfrm>
          <a:prstGeom prst="rect">
            <a:avLst/>
          </a:prstGeom>
          <a:solidFill>
            <a:srgbClr val="F7F9FC"/>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28" name="Shape 25"/>
          <p:cNvSpPr/>
          <p:nvPr/>
        </p:nvSpPr>
        <p:spPr>
          <a:xfrm>
            <a:off x="4315968" y="1655064"/>
            <a:ext cx="54864" cy="768096"/>
          </a:xfrm>
          <a:prstGeom prst="rect">
            <a:avLst/>
          </a:prstGeom>
          <a:solidFill>
            <a:srgbClr val="0F2044"/>
          </a:solidFill>
          <a:ln w="12700">
            <a:solidFill>
              <a:srgbClr val="0F2044"/>
            </a:solidFill>
            <a:prstDash val="solid"/>
          </a:ln>
        </p:spPr>
      </p:sp>
      <p:pic>
        <p:nvPicPr>
          <p:cNvPr id="29" name="Image 1" descr="preencoded.png"/>
          <p:cNvPicPr>
            <a:picLocks noChangeAspect="1"/>
          </p:cNvPicPr>
          <p:nvPr/>
        </p:nvPicPr>
        <p:blipFill>
          <a:blip r:embed="rId2"/>
          <a:stretch>
            <a:fillRect/>
          </a:stretch>
        </p:blipFill>
        <p:spPr>
          <a:xfrm>
            <a:off x="4462272" y="1874520"/>
            <a:ext cx="274320" cy="274320"/>
          </a:xfrm>
          <a:prstGeom prst="rect">
            <a:avLst/>
          </a:prstGeom>
        </p:spPr>
      </p:pic>
      <p:sp>
        <p:nvSpPr>
          <p:cNvPr id="30" name="Text 26"/>
          <p:cNvSpPr/>
          <p:nvPr/>
        </p:nvSpPr>
        <p:spPr>
          <a:xfrm>
            <a:off x="4828032" y="1746504"/>
            <a:ext cx="4023360" cy="256032"/>
          </a:xfrm>
          <a:prstGeom prst="rect">
            <a:avLst/>
          </a:prstGeom>
          <a:noFill/>
          <a:ln/>
        </p:spPr>
        <p:txBody>
          <a:bodyPr wrap="square" lIns="0" tIns="0" rIns="0" bIns="0" rtlCol="0" anchor="ctr"/>
          <a:lstStyle/>
          <a:p>
            <a:pPr indent="0" marL="0">
              <a:buNone/>
            </a:pPr>
            <a:r>
              <a:rPr lang="en-US" sz="1000" b="1" dirty="0">
                <a:solidFill>
                  <a:srgbClr val="0F2044"/>
                </a:solidFill>
              </a:rPr>
              <a:t>Roll-up &amp; spread-down</a:t>
            </a:r>
            <a:endParaRPr lang="en-US" sz="1000" dirty="0"/>
          </a:p>
        </p:txBody>
      </p:sp>
      <p:sp>
        <p:nvSpPr>
          <p:cNvPr id="31" name="Text 27"/>
          <p:cNvSpPr/>
          <p:nvPr/>
        </p:nvSpPr>
        <p:spPr>
          <a:xfrm>
            <a:off x="4828032" y="2020824"/>
            <a:ext cx="4023360" cy="365760"/>
          </a:xfrm>
          <a:prstGeom prst="rect">
            <a:avLst/>
          </a:prstGeom>
          <a:noFill/>
          <a:ln/>
        </p:spPr>
        <p:txBody>
          <a:bodyPr wrap="square" lIns="0" tIns="0" rIns="0" bIns="0" rtlCol="0" anchor="ctr"/>
          <a:lstStyle/>
          <a:p>
            <a:pPr indent="0" marL="0">
              <a:buNone/>
            </a:pPr>
            <a:r>
              <a:rPr lang="en-US" sz="800" dirty="0">
                <a:solidFill>
                  <a:srgbClr val="64748B"/>
                </a:solidFill>
              </a:rPr>
              <a:t>Planner overrides at any hierarchy level. System spreads delta down using the agent's original weight distribution by default. Spreading algorithm is a configurable hook — retailers can plug in their own logic (last year mix, cluster capacity, etc.).</a:t>
            </a:r>
            <a:endParaRPr lang="en-US" sz="800" dirty="0"/>
          </a:p>
        </p:txBody>
      </p:sp>
      <p:sp>
        <p:nvSpPr>
          <p:cNvPr id="32" name="Shape 28"/>
          <p:cNvSpPr/>
          <p:nvPr/>
        </p:nvSpPr>
        <p:spPr>
          <a:xfrm>
            <a:off x="4315968" y="2505456"/>
            <a:ext cx="4626864" cy="768096"/>
          </a:xfrm>
          <a:prstGeom prst="rect">
            <a:avLst/>
          </a:prstGeom>
          <a:solidFill>
            <a:srgbClr val="F7F9FC"/>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33" name="Shape 29"/>
          <p:cNvSpPr/>
          <p:nvPr/>
        </p:nvSpPr>
        <p:spPr>
          <a:xfrm>
            <a:off x="4315968" y="2505456"/>
            <a:ext cx="54864" cy="768096"/>
          </a:xfrm>
          <a:prstGeom prst="rect">
            <a:avLst/>
          </a:prstGeom>
          <a:solidFill>
            <a:srgbClr val="7C3AED"/>
          </a:solidFill>
          <a:ln w="12700">
            <a:solidFill>
              <a:srgbClr val="7C3AED"/>
            </a:solidFill>
            <a:prstDash val="solid"/>
          </a:ln>
        </p:spPr>
      </p:sp>
      <p:pic>
        <p:nvPicPr>
          <p:cNvPr id="34" name="Image 2" descr="preencoded.png"/>
          <p:cNvPicPr>
            <a:picLocks noChangeAspect="1"/>
          </p:cNvPicPr>
          <p:nvPr/>
        </p:nvPicPr>
        <p:blipFill>
          <a:blip r:embed="rId3"/>
          <a:stretch>
            <a:fillRect/>
          </a:stretch>
        </p:blipFill>
        <p:spPr>
          <a:xfrm>
            <a:off x="4462272" y="2724912"/>
            <a:ext cx="274320" cy="274320"/>
          </a:xfrm>
          <a:prstGeom prst="rect">
            <a:avLst/>
          </a:prstGeom>
        </p:spPr>
      </p:pic>
      <p:sp>
        <p:nvSpPr>
          <p:cNvPr id="35" name="Text 30"/>
          <p:cNvSpPr/>
          <p:nvPr/>
        </p:nvSpPr>
        <p:spPr>
          <a:xfrm>
            <a:off x="4828032" y="2596896"/>
            <a:ext cx="4023360" cy="256032"/>
          </a:xfrm>
          <a:prstGeom prst="rect">
            <a:avLst/>
          </a:prstGeom>
          <a:noFill/>
          <a:ln/>
        </p:spPr>
        <p:txBody>
          <a:bodyPr wrap="square" lIns="0" tIns="0" rIns="0" bIns="0" rtlCol="0" anchor="ctr"/>
          <a:lstStyle/>
          <a:p>
            <a:pPr indent="0" marL="0">
              <a:buNone/>
            </a:pPr>
            <a:r>
              <a:rPr lang="en-US" sz="1000" b="1" dirty="0">
                <a:solidFill>
                  <a:srgbClr val="0F2044"/>
                </a:solidFill>
              </a:rPr>
              <a:t>Optimistic write-back</a:t>
            </a:r>
            <a:endParaRPr lang="en-US" sz="1000" dirty="0"/>
          </a:p>
        </p:txBody>
      </p:sp>
      <p:sp>
        <p:nvSpPr>
          <p:cNvPr id="36" name="Text 31"/>
          <p:cNvSpPr/>
          <p:nvPr/>
        </p:nvSpPr>
        <p:spPr>
          <a:xfrm>
            <a:off x="4828032" y="2871216"/>
            <a:ext cx="4023360" cy="365760"/>
          </a:xfrm>
          <a:prstGeom prst="rect">
            <a:avLst/>
          </a:prstGeom>
          <a:noFill/>
          <a:ln/>
        </p:spPr>
        <p:txBody>
          <a:bodyPr wrap="square" lIns="0" tIns="0" rIns="0" bIns="0" rtlCol="0" anchor="ctr"/>
          <a:lstStyle/>
          <a:p>
            <a:pPr indent="0" marL="0">
              <a:buNone/>
            </a:pPr>
            <a:r>
              <a:rPr lang="en-US" sz="800" dirty="0">
                <a:solidFill>
                  <a:srgbClr val="64748B"/>
                </a:solidFill>
              </a:rPr>
              <a:t>Cell edits write to the View Store first (instant UI response). Cube invalidation and DB commit are async. Committed: false flag shown on all uncommitted cells. Full or partial commit at planner's choice.</a:t>
            </a:r>
            <a:endParaRPr lang="en-US" sz="800" dirty="0"/>
          </a:p>
        </p:txBody>
      </p:sp>
      <p:sp>
        <p:nvSpPr>
          <p:cNvPr id="37" name="Shape 32"/>
          <p:cNvSpPr/>
          <p:nvPr/>
        </p:nvSpPr>
        <p:spPr>
          <a:xfrm>
            <a:off x="4315968" y="3355848"/>
            <a:ext cx="4626864" cy="768096"/>
          </a:xfrm>
          <a:prstGeom prst="rect">
            <a:avLst/>
          </a:prstGeom>
          <a:solidFill>
            <a:srgbClr val="F7F9FC"/>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38" name="Shape 33"/>
          <p:cNvSpPr/>
          <p:nvPr/>
        </p:nvSpPr>
        <p:spPr>
          <a:xfrm>
            <a:off x="4315968" y="3355848"/>
            <a:ext cx="54864" cy="768096"/>
          </a:xfrm>
          <a:prstGeom prst="rect">
            <a:avLst/>
          </a:prstGeom>
          <a:solidFill>
            <a:srgbClr val="F59E0B"/>
          </a:solidFill>
          <a:ln w="12700">
            <a:solidFill>
              <a:srgbClr val="F59E0B"/>
            </a:solidFill>
            <a:prstDash val="solid"/>
          </a:ln>
        </p:spPr>
      </p:sp>
      <p:pic>
        <p:nvPicPr>
          <p:cNvPr id="39" name="Image 3" descr="preencoded.png"/>
          <p:cNvPicPr>
            <a:picLocks noChangeAspect="1"/>
          </p:cNvPicPr>
          <p:nvPr/>
        </p:nvPicPr>
        <p:blipFill>
          <a:blip r:embed="rId4"/>
          <a:stretch>
            <a:fillRect/>
          </a:stretch>
        </p:blipFill>
        <p:spPr>
          <a:xfrm>
            <a:off x="4462272" y="3575304"/>
            <a:ext cx="274320" cy="274320"/>
          </a:xfrm>
          <a:prstGeom prst="rect">
            <a:avLst/>
          </a:prstGeom>
        </p:spPr>
      </p:pic>
      <p:sp>
        <p:nvSpPr>
          <p:cNvPr id="40" name="Text 34"/>
          <p:cNvSpPr/>
          <p:nvPr/>
        </p:nvSpPr>
        <p:spPr>
          <a:xfrm>
            <a:off x="4828032" y="3447288"/>
            <a:ext cx="4023360" cy="256032"/>
          </a:xfrm>
          <a:prstGeom prst="rect">
            <a:avLst/>
          </a:prstGeom>
          <a:noFill/>
          <a:ln/>
        </p:spPr>
        <p:txBody>
          <a:bodyPr wrap="square" lIns="0" tIns="0" rIns="0" bIns="0" rtlCol="0" anchor="ctr"/>
          <a:lstStyle/>
          <a:p>
            <a:pPr indent="0" marL="0">
              <a:buNone/>
            </a:pPr>
            <a:r>
              <a:rPr lang="en-US" sz="1000" b="1" dirty="0">
                <a:solidFill>
                  <a:srgbClr val="0F2044"/>
                </a:solidFill>
              </a:rPr>
              <a:t>Stale data warning</a:t>
            </a:r>
            <a:endParaRPr lang="en-US" sz="1000" dirty="0"/>
          </a:p>
        </p:txBody>
      </p:sp>
      <p:sp>
        <p:nvSpPr>
          <p:cNvPr id="41" name="Text 35"/>
          <p:cNvSpPr/>
          <p:nvPr/>
        </p:nvSpPr>
        <p:spPr>
          <a:xfrm>
            <a:off x="4828032" y="3721608"/>
            <a:ext cx="4023360" cy="365760"/>
          </a:xfrm>
          <a:prstGeom prst="rect">
            <a:avLst/>
          </a:prstGeom>
          <a:noFill/>
          <a:ln/>
        </p:spPr>
        <p:txBody>
          <a:bodyPr wrap="square" lIns="0" tIns="0" rIns="0" bIns="0" rtlCol="0" anchor="ctr"/>
          <a:lstStyle/>
          <a:p>
            <a:pPr indent="0" marL="0">
              <a:buNone/>
            </a:pPr>
            <a:r>
              <a:rPr lang="en-US" sz="800" dirty="0">
                <a:solidFill>
                  <a:srgbClr val="64748B"/>
                </a:solidFill>
              </a:rPr>
              <a:t>On view load, system compares committed_at of source records against view's saved_at. If any source record has a newer commit, a staleness warning is shown. Planner chooses to refresh or keep working view.</a:t>
            </a:r>
            <a:endParaRPr lang="en-US" sz="800" dirty="0"/>
          </a:p>
        </p:txBody>
      </p:sp>
      <p:sp>
        <p:nvSpPr>
          <p:cNvPr id="42" name="Shape 36"/>
          <p:cNvSpPr/>
          <p:nvPr/>
        </p:nvSpPr>
        <p:spPr>
          <a:xfrm>
            <a:off x="4315968" y="4206240"/>
            <a:ext cx="4626864" cy="768096"/>
          </a:xfrm>
          <a:prstGeom prst="rect">
            <a:avLst/>
          </a:prstGeom>
          <a:solidFill>
            <a:srgbClr val="F7F9FC"/>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43" name="Shape 37"/>
          <p:cNvSpPr/>
          <p:nvPr/>
        </p:nvSpPr>
        <p:spPr>
          <a:xfrm>
            <a:off x="4315968" y="4206240"/>
            <a:ext cx="54864" cy="768096"/>
          </a:xfrm>
          <a:prstGeom prst="rect">
            <a:avLst/>
          </a:prstGeom>
          <a:solidFill>
            <a:srgbClr val="0D7377"/>
          </a:solidFill>
          <a:ln w="12700">
            <a:solidFill>
              <a:srgbClr val="0D7377"/>
            </a:solidFill>
            <a:prstDash val="solid"/>
          </a:ln>
        </p:spPr>
      </p:sp>
      <p:pic>
        <p:nvPicPr>
          <p:cNvPr id="44" name="Image 4" descr="preencoded.png"/>
          <p:cNvPicPr>
            <a:picLocks noChangeAspect="1"/>
          </p:cNvPicPr>
          <p:nvPr/>
        </p:nvPicPr>
        <p:blipFill>
          <a:blip r:embed="rId5"/>
          <a:stretch>
            <a:fillRect/>
          </a:stretch>
        </p:blipFill>
        <p:spPr>
          <a:xfrm>
            <a:off x="4462272" y="4425696"/>
            <a:ext cx="274320" cy="274320"/>
          </a:xfrm>
          <a:prstGeom prst="rect">
            <a:avLst/>
          </a:prstGeom>
        </p:spPr>
      </p:pic>
      <p:sp>
        <p:nvSpPr>
          <p:cNvPr id="45" name="Text 38"/>
          <p:cNvSpPr/>
          <p:nvPr/>
        </p:nvSpPr>
        <p:spPr>
          <a:xfrm>
            <a:off x="4828032" y="4297680"/>
            <a:ext cx="4023360" cy="256032"/>
          </a:xfrm>
          <a:prstGeom prst="rect">
            <a:avLst/>
          </a:prstGeom>
          <a:noFill/>
          <a:ln/>
        </p:spPr>
        <p:txBody>
          <a:bodyPr wrap="square" lIns="0" tIns="0" rIns="0" bIns="0" rtlCol="0" anchor="ctr"/>
          <a:lstStyle/>
          <a:p>
            <a:pPr indent="0" marL="0">
              <a:buNone/>
            </a:pPr>
            <a:r>
              <a:rPr lang="en-US" sz="1000" b="1" dirty="0">
                <a:solidFill>
                  <a:srgbClr val="0F2044"/>
                </a:solidFill>
              </a:rPr>
              <a:t>Override → Learning loop</a:t>
            </a:r>
            <a:endParaRPr lang="en-US" sz="1000" dirty="0"/>
          </a:p>
        </p:txBody>
      </p:sp>
      <p:sp>
        <p:nvSpPr>
          <p:cNvPr id="46" name="Text 39"/>
          <p:cNvSpPr/>
          <p:nvPr/>
        </p:nvSpPr>
        <p:spPr>
          <a:xfrm>
            <a:off x="4828032" y="4572000"/>
            <a:ext cx="4023360" cy="365760"/>
          </a:xfrm>
          <a:prstGeom prst="rect">
            <a:avLst/>
          </a:prstGeom>
          <a:noFill/>
          <a:ln/>
        </p:spPr>
        <p:txBody>
          <a:bodyPr wrap="square" lIns="0" tIns="0" rIns="0" bIns="0" rtlCol="0" anchor="ctr"/>
          <a:lstStyle/>
          <a:p>
            <a:pPr indent="0" marL="0">
              <a:buNone/>
            </a:pPr>
            <a:r>
              <a:rPr lang="en-US" sz="800" dirty="0">
                <a:solidFill>
                  <a:srgbClr val="64748B"/>
                </a:solidFill>
              </a:rPr>
              <a:t>Every cell edit becomes a structured override event: tenant_id + category + cluster + planner_id + field + old_value + new_value. Router dispatches to that tenant's model only. After 3+ overrides in the same direction, agent proposes a permanent parameter update.</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F2044"/>
          </a:solidFill>
          <a:ln w="12700">
            <a:solidFill>
              <a:srgbClr val="0F2044"/>
            </a:solidFill>
            <a:prstDash val="solid"/>
          </a:ln>
        </p:spPr>
      </p:sp>
      <p:sp>
        <p:nvSpPr>
          <p:cNvPr id="3" name="Text 1"/>
          <p:cNvSpPr/>
          <p:nvPr/>
        </p:nvSpPr>
        <p:spPr>
          <a:xfrm>
            <a:off x="365760" y="0"/>
            <a:ext cx="7315200" cy="658368"/>
          </a:xfrm>
          <a:prstGeom prst="rect">
            <a:avLst/>
          </a:prstGeom>
          <a:noFill/>
          <a:ln/>
        </p:spPr>
        <p:txBody>
          <a:bodyPr wrap="square" lIns="0" tIns="0" rIns="0" bIns="0" rtlCol="0" anchor="ctr"/>
          <a:lstStyle/>
          <a:p>
            <a:pPr indent="0" marL="0">
              <a:buNone/>
            </a:pPr>
            <a:r>
              <a:rPr lang="en-US" sz="1000" b="1" spc="300" kern="0" dirty="0">
                <a:solidFill>
                  <a:srgbClr val="FFFFFF"/>
                </a:solidFill>
              </a:rPr>
              <a:t>AGENT LEARNING — TENANT ISOLATION MODEL</a:t>
            </a:r>
            <a:endParaRPr lang="en-US" sz="1000" dirty="0"/>
          </a:p>
        </p:txBody>
      </p:sp>
      <p:sp>
        <p:nvSpPr>
          <p:cNvPr id="4" name="Text 2"/>
          <p:cNvSpPr/>
          <p:nvPr/>
        </p:nvSpPr>
        <p:spPr>
          <a:xfrm>
            <a:off x="7863840" y="0"/>
            <a:ext cx="1097280" cy="658368"/>
          </a:xfrm>
          <a:prstGeom prst="rect">
            <a:avLst/>
          </a:prstGeom>
          <a:noFill/>
          <a:ln/>
        </p:spPr>
        <p:txBody>
          <a:bodyPr wrap="square" lIns="0" tIns="0" rIns="0" bIns="0" rtlCol="0" anchor="ctr"/>
          <a:lstStyle/>
          <a:p>
            <a:pPr algn="r" indent="0" marL="0">
              <a:buNone/>
            </a:pPr>
            <a:r>
              <a:rPr lang="en-US" sz="900" dirty="0">
                <a:solidFill>
                  <a:srgbClr val="94A3B8"/>
                </a:solidFill>
              </a:rPr>
              <a:t>ARCH-07</a:t>
            </a:r>
            <a:endParaRPr lang="en-US" sz="900" dirty="0"/>
          </a:p>
        </p:txBody>
      </p:sp>
      <p:sp>
        <p:nvSpPr>
          <p:cNvPr id="5" name="Shape 3"/>
          <p:cNvSpPr/>
          <p:nvPr/>
        </p:nvSpPr>
        <p:spPr>
          <a:xfrm>
            <a:off x="201168" y="777240"/>
            <a:ext cx="1920240" cy="1417320"/>
          </a:xfrm>
          <a:prstGeom prst="rect">
            <a:avLst/>
          </a:prstGeom>
          <a:solidFill>
            <a:srgbClr val="0F2044"/>
          </a:solidFill>
          <a:ln w="12700">
            <a:solidFill>
              <a:srgbClr val="0F2044"/>
            </a:solidFill>
            <a:prstDash val="solid"/>
          </a:ln>
          <a:effectLst>
            <a:outerShdw sx="100000" sy="100000" kx="0" ky="0" algn="bl" rotWithShape="0" blurRad="101600" dist="38100" dir="8100000">
              <a:srgbClr val="000000">
                <a:alpha val="10000"/>
              </a:srgbClr>
            </a:outerShdw>
          </a:effectLst>
        </p:spPr>
      </p:sp>
      <p:sp>
        <p:nvSpPr>
          <p:cNvPr id="6" name="Text 4"/>
          <p:cNvSpPr/>
          <p:nvPr/>
        </p:nvSpPr>
        <p:spPr>
          <a:xfrm>
            <a:off x="201168" y="822960"/>
            <a:ext cx="1920240" cy="41148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7" name="Text 5"/>
          <p:cNvSpPr/>
          <p:nvPr/>
        </p:nvSpPr>
        <p:spPr>
          <a:xfrm>
            <a:off x="274320" y="1234440"/>
            <a:ext cx="1773936" cy="256032"/>
          </a:xfrm>
          <a:prstGeom prst="rect">
            <a:avLst/>
          </a:prstGeom>
          <a:noFill/>
          <a:ln/>
        </p:spPr>
        <p:txBody>
          <a:bodyPr wrap="square" lIns="0" tIns="0" rIns="0" bIns="0" rtlCol="0" anchor="ctr"/>
          <a:lstStyle/>
          <a:p>
            <a:pPr algn="ctr" indent="0" marL="0">
              <a:buNone/>
            </a:pPr>
            <a:r>
              <a:rPr lang="en-US" sz="1000" b="1" dirty="0">
                <a:solidFill>
                  <a:srgbClr val="0D7377"/>
                </a:solidFill>
              </a:rPr>
              <a:t>BASE MODEL</a:t>
            </a:r>
            <a:endParaRPr lang="en-US" sz="1000" dirty="0"/>
          </a:p>
        </p:txBody>
      </p:sp>
      <p:sp>
        <p:nvSpPr>
          <p:cNvPr id="8" name="Text 6"/>
          <p:cNvSpPr/>
          <p:nvPr/>
        </p:nvSpPr>
        <p:spPr>
          <a:xfrm>
            <a:off x="274320" y="1508760"/>
            <a:ext cx="1773936" cy="594360"/>
          </a:xfrm>
          <a:prstGeom prst="rect">
            <a:avLst/>
          </a:prstGeom>
          <a:noFill/>
          <a:ln/>
        </p:spPr>
        <p:txBody>
          <a:bodyPr wrap="square" lIns="0" tIns="0" rIns="0" bIns="0" rtlCol="0" anchor="ctr"/>
          <a:lstStyle/>
          <a:p>
            <a:pPr algn="ctr" indent="0" marL="0">
              <a:buNone/>
            </a:pPr>
            <a:r>
              <a:rPr lang="en-US" sz="800" dirty="0">
                <a:solidFill>
                  <a:srgbClr val="94A3B8"/>
                </a:solidFill>
              </a:rPr>
              <a:t>Platform-trained on anonymised cross-retailer data. Ships with every deployment. Starting weights for all new tenants.</a:t>
            </a:r>
            <a:endParaRPr lang="en-US" sz="800" dirty="0"/>
          </a:p>
        </p:txBody>
      </p:sp>
      <p:sp>
        <p:nvSpPr>
          <p:cNvPr id="9" name="Shape 7"/>
          <p:cNvSpPr/>
          <p:nvPr/>
        </p:nvSpPr>
        <p:spPr>
          <a:xfrm>
            <a:off x="2121408" y="1481328"/>
            <a:ext cx="594360" cy="0"/>
          </a:xfrm>
          <a:prstGeom prst="line">
            <a:avLst/>
          </a:prstGeom>
          <a:noFill/>
          <a:ln w="25400">
            <a:solidFill>
              <a:srgbClr val="0D7377"/>
            </a:solidFill>
            <a:prstDash val="solid"/>
          </a:ln>
        </p:spPr>
      </p:sp>
      <p:sp>
        <p:nvSpPr>
          <p:cNvPr id="10" name="Text 8"/>
          <p:cNvSpPr/>
          <p:nvPr/>
        </p:nvSpPr>
        <p:spPr>
          <a:xfrm>
            <a:off x="2121408" y="1170432"/>
            <a:ext cx="658368" cy="347472"/>
          </a:xfrm>
          <a:prstGeom prst="rect">
            <a:avLst/>
          </a:prstGeom>
          <a:noFill/>
          <a:ln/>
        </p:spPr>
        <p:txBody>
          <a:bodyPr wrap="square" lIns="0" tIns="0" rIns="0" bIns="0" rtlCol="0" anchor="ctr"/>
          <a:lstStyle/>
          <a:p>
            <a:pPr algn="ctr" indent="0" marL="0">
              <a:buNone/>
            </a:pPr>
            <a:r>
              <a:rPr lang="en-US" sz="750" b="1" dirty="0">
                <a:solidFill>
                  <a:srgbClr val="0D7377"/>
                </a:solidFill>
              </a:rPr>
              <a:t>forks at</a:t>
            </a:r>
            <a:endParaRPr lang="en-US" sz="750" dirty="0"/>
          </a:p>
          <a:p>
            <a:pPr algn="ctr" indent="0" marL="0">
              <a:buNone/>
            </a:pPr>
            <a:r>
              <a:rPr lang="en-US" sz="750" b="1" dirty="0">
                <a:solidFill>
                  <a:srgbClr val="0D7377"/>
                </a:solidFill>
              </a:rPr>
              <a:t>go-live</a:t>
            </a:r>
            <a:endParaRPr lang="en-US" sz="750" dirty="0"/>
          </a:p>
        </p:txBody>
      </p:sp>
      <p:sp>
        <p:nvSpPr>
          <p:cNvPr id="11" name="Shape 9"/>
          <p:cNvSpPr/>
          <p:nvPr/>
        </p:nvSpPr>
        <p:spPr>
          <a:xfrm>
            <a:off x="2715768" y="749808"/>
            <a:ext cx="6227064" cy="1481328"/>
          </a:xfrm>
          <a:prstGeom prst="rect">
            <a:avLst/>
          </a:prstGeom>
          <a:solidFill>
            <a:srgbClr val="FFFFFF"/>
          </a:solidFill>
          <a:ln w="19050">
            <a:solidFill>
              <a:srgbClr val="0D7377"/>
            </a:solidFill>
            <a:prstDash val="solid"/>
          </a:ln>
        </p:spPr>
      </p:sp>
      <p:sp>
        <p:nvSpPr>
          <p:cNvPr id="12" name="Text 10"/>
          <p:cNvSpPr/>
          <p:nvPr/>
        </p:nvSpPr>
        <p:spPr>
          <a:xfrm>
            <a:off x="2834640" y="786384"/>
            <a:ext cx="2743200" cy="201168"/>
          </a:xfrm>
          <a:prstGeom prst="rect">
            <a:avLst/>
          </a:prstGeom>
          <a:noFill/>
          <a:ln/>
        </p:spPr>
        <p:txBody>
          <a:bodyPr wrap="square" lIns="0" tIns="0" rIns="0" bIns="0" rtlCol="0" anchor="ctr"/>
          <a:lstStyle/>
          <a:p>
            <a:pPr indent="0" marL="0">
              <a:buNone/>
            </a:pPr>
            <a:r>
              <a:rPr lang="en-US" sz="750" b="1" spc="200" kern="0" dirty="0">
                <a:solidFill>
                  <a:srgbClr val="0D7377"/>
                </a:solidFill>
              </a:rPr>
              <a:t>ISOLATION BOUNDARY</a:t>
            </a:r>
            <a:endParaRPr lang="en-US" sz="750" dirty="0"/>
          </a:p>
        </p:txBody>
      </p:sp>
      <p:sp>
        <p:nvSpPr>
          <p:cNvPr id="13" name="Shape 11"/>
          <p:cNvSpPr/>
          <p:nvPr/>
        </p:nvSpPr>
        <p:spPr>
          <a:xfrm>
            <a:off x="2834640" y="1005840"/>
            <a:ext cx="1847088" cy="1115568"/>
          </a:xfrm>
          <a:prstGeom prst="rect">
            <a:avLst/>
          </a:prstGeom>
          <a:solidFill>
            <a:srgbClr val="E8F4F8"/>
          </a:solidFill>
          <a:ln w="12700">
            <a:solidFill>
              <a:srgbClr val="0D7377"/>
            </a:solidFill>
            <a:prstDash val="solid"/>
          </a:ln>
        </p:spPr>
      </p:sp>
      <p:sp>
        <p:nvSpPr>
          <p:cNvPr id="14" name="Text 12"/>
          <p:cNvSpPr/>
          <p:nvPr/>
        </p:nvSpPr>
        <p:spPr>
          <a:xfrm>
            <a:off x="2834640" y="1051560"/>
            <a:ext cx="1847088" cy="320040"/>
          </a:xfrm>
          <a:prstGeom prst="rect">
            <a:avLst/>
          </a:prstGeom>
          <a:noFill/>
          <a:ln/>
        </p:spPr>
        <p:txBody>
          <a:bodyPr wrap="square" lIns="0" tIns="0" rIns="0" bIns="0" rtlCol="0" anchor="ctr"/>
          <a:lstStyle/>
          <a:p>
            <a:pPr algn="ctr" indent="0" marL="0">
              <a:buNone/>
            </a:pPr>
            <a:r>
              <a:rPr lang="en-US" sz="1600" dirty="0">
                <a:solidFill>
                  <a:srgbClr val="000000"/>
                </a:solidFill>
              </a:rPr>
              <a:t>🧠</a:t>
            </a:r>
            <a:endParaRPr lang="en-US" sz="1600" dirty="0"/>
          </a:p>
        </p:txBody>
      </p:sp>
      <p:sp>
        <p:nvSpPr>
          <p:cNvPr id="15" name="Text 13"/>
          <p:cNvSpPr/>
          <p:nvPr/>
        </p:nvSpPr>
        <p:spPr>
          <a:xfrm>
            <a:off x="2907792" y="1353312"/>
            <a:ext cx="1700784" cy="256032"/>
          </a:xfrm>
          <a:prstGeom prst="rect">
            <a:avLst/>
          </a:prstGeom>
          <a:noFill/>
          <a:ln/>
        </p:spPr>
        <p:txBody>
          <a:bodyPr wrap="square" lIns="0" tIns="0" rIns="0" bIns="0" rtlCol="0" anchor="ctr"/>
          <a:lstStyle/>
          <a:p>
            <a:pPr algn="ctr" indent="0" marL="0">
              <a:buNone/>
            </a:pPr>
            <a:r>
              <a:rPr lang="en-US" sz="850" b="1" dirty="0">
                <a:solidFill>
                  <a:srgbClr val="0F2044"/>
                </a:solidFill>
              </a:rPr>
              <a:t>Retailer A model v1.x</a:t>
            </a:r>
            <a:endParaRPr lang="en-US" sz="850" dirty="0"/>
          </a:p>
        </p:txBody>
      </p:sp>
      <p:sp>
        <p:nvSpPr>
          <p:cNvPr id="16" name="Text 14"/>
          <p:cNvSpPr/>
          <p:nvPr/>
        </p:nvSpPr>
        <p:spPr>
          <a:xfrm>
            <a:off x="2907792" y="1609344"/>
            <a:ext cx="1700784" cy="475488"/>
          </a:xfrm>
          <a:prstGeom prst="rect">
            <a:avLst/>
          </a:prstGeom>
          <a:noFill/>
          <a:ln/>
        </p:spPr>
        <p:txBody>
          <a:bodyPr wrap="square" lIns="0" tIns="0" rIns="0" bIns="0" rtlCol="0" anchor="ctr"/>
          <a:lstStyle/>
          <a:p>
            <a:pPr algn="ctr" indent="0" marL="0">
              <a:buNone/>
            </a:pPr>
            <a:r>
              <a:rPr lang="en-US" sz="750" dirty="0">
                <a:solidFill>
                  <a:srgbClr val="64748B"/>
                </a:solidFill>
              </a:rPr>
              <a:t>Fast-fashion preferences.</a:t>
            </a:r>
            <a:endParaRPr lang="en-US" sz="750" dirty="0"/>
          </a:p>
          <a:p>
            <a:pPr algn="ctr" indent="0" marL="0">
              <a:buNone/>
            </a:pPr>
            <a:r>
              <a:rPr lang="en-US" sz="750" dirty="0">
                <a:solidFill>
                  <a:srgbClr val="64748B"/>
                </a:solidFill>
              </a:rPr>
              <a:t>Weights tune toward higher DOS and</a:t>
            </a:r>
            <a:endParaRPr lang="en-US" sz="750" dirty="0"/>
          </a:p>
          <a:p>
            <a:pPr algn="ctr" indent="0" marL="0">
              <a:buNone/>
            </a:pPr>
            <a:r>
              <a:rPr lang="en-US" sz="750" dirty="0">
                <a:solidFill>
                  <a:srgbClr val="64748B"/>
                </a:solidFill>
              </a:rPr>
              <a:t>frequent placeholder refresh over time.</a:t>
            </a:r>
            <a:endParaRPr lang="en-US" sz="750" dirty="0"/>
          </a:p>
        </p:txBody>
      </p:sp>
      <p:sp>
        <p:nvSpPr>
          <p:cNvPr id="17" name="Shape 15"/>
          <p:cNvSpPr/>
          <p:nvPr/>
        </p:nvSpPr>
        <p:spPr>
          <a:xfrm>
            <a:off x="4864608" y="1005840"/>
            <a:ext cx="1847088" cy="1115568"/>
          </a:xfrm>
          <a:prstGeom prst="rect">
            <a:avLst/>
          </a:prstGeom>
          <a:solidFill>
            <a:srgbClr val="E8F4F8"/>
          </a:solidFill>
          <a:ln w="12700">
            <a:solidFill>
              <a:srgbClr val="0D7377"/>
            </a:solidFill>
            <a:prstDash val="solid"/>
          </a:ln>
        </p:spPr>
      </p:sp>
      <p:sp>
        <p:nvSpPr>
          <p:cNvPr id="18" name="Text 16"/>
          <p:cNvSpPr/>
          <p:nvPr/>
        </p:nvSpPr>
        <p:spPr>
          <a:xfrm>
            <a:off x="4864608" y="1051560"/>
            <a:ext cx="1847088" cy="320040"/>
          </a:xfrm>
          <a:prstGeom prst="rect">
            <a:avLst/>
          </a:prstGeom>
          <a:noFill/>
          <a:ln/>
        </p:spPr>
        <p:txBody>
          <a:bodyPr wrap="square" lIns="0" tIns="0" rIns="0" bIns="0" rtlCol="0" anchor="ctr"/>
          <a:lstStyle/>
          <a:p>
            <a:pPr algn="ctr" indent="0" marL="0">
              <a:buNone/>
            </a:pPr>
            <a:r>
              <a:rPr lang="en-US" sz="1600" dirty="0">
                <a:solidFill>
                  <a:srgbClr val="000000"/>
                </a:solidFill>
              </a:rPr>
              <a:t>🧠</a:t>
            </a:r>
            <a:endParaRPr lang="en-US" sz="1600" dirty="0"/>
          </a:p>
        </p:txBody>
      </p:sp>
      <p:sp>
        <p:nvSpPr>
          <p:cNvPr id="19" name="Text 17"/>
          <p:cNvSpPr/>
          <p:nvPr/>
        </p:nvSpPr>
        <p:spPr>
          <a:xfrm>
            <a:off x="4937760" y="1353312"/>
            <a:ext cx="1700784" cy="256032"/>
          </a:xfrm>
          <a:prstGeom prst="rect">
            <a:avLst/>
          </a:prstGeom>
          <a:noFill/>
          <a:ln/>
        </p:spPr>
        <p:txBody>
          <a:bodyPr wrap="square" lIns="0" tIns="0" rIns="0" bIns="0" rtlCol="0" anchor="ctr"/>
          <a:lstStyle/>
          <a:p>
            <a:pPr algn="ctr" indent="0" marL="0">
              <a:buNone/>
            </a:pPr>
            <a:r>
              <a:rPr lang="en-US" sz="850" b="1" dirty="0">
                <a:solidFill>
                  <a:srgbClr val="0F2044"/>
                </a:solidFill>
              </a:rPr>
              <a:t>Retailer B model v2.x</a:t>
            </a:r>
            <a:endParaRPr lang="en-US" sz="850" dirty="0"/>
          </a:p>
        </p:txBody>
      </p:sp>
      <p:sp>
        <p:nvSpPr>
          <p:cNvPr id="20" name="Text 18"/>
          <p:cNvSpPr/>
          <p:nvPr/>
        </p:nvSpPr>
        <p:spPr>
          <a:xfrm>
            <a:off x="4937760" y="1609344"/>
            <a:ext cx="1700784" cy="475488"/>
          </a:xfrm>
          <a:prstGeom prst="rect">
            <a:avLst/>
          </a:prstGeom>
          <a:noFill/>
          <a:ln/>
        </p:spPr>
        <p:txBody>
          <a:bodyPr wrap="square" lIns="0" tIns="0" rIns="0" bIns="0" rtlCol="0" anchor="ctr"/>
          <a:lstStyle/>
          <a:p>
            <a:pPr algn="ctr" indent="0" marL="0">
              <a:buNone/>
            </a:pPr>
            <a:r>
              <a:rPr lang="en-US" sz="750" dirty="0">
                <a:solidFill>
                  <a:srgbClr val="64748B"/>
                </a:solidFill>
              </a:rPr>
              <a:t>Luxury preferences isolated.</a:t>
            </a:r>
            <a:endParaRPr lang="en-US" sz="750" dirty="0"/>
          </a:p>
          <a:p>
            <a:pPr algn="ctr" indent="0" marL="0">
              <a:buNone/>
            </a:pPr>
            <a:r>
              <a:rPr lang="en-US" sz="750" dirty="0">
                <a:solidFill>
                  <a:srgbClr val="64748B"/>
                </a:solidFill>
              </a:rPr>
              <a:t>Never influences Retailer A weights.</a:t>
            </a:r>
            <a:endParaRPr lang="en-US" sz="750" dirty="0"/>
          </a:p>
          <a:p>
            <a:pPr algn="ctr" indent="0" marL="0">
              <a:buNone/>
            </a:pPr>
            <a:r>
              <a:rPr lang="en-US" sz="750" dirty="0">
                <a:solidFill>
                  <a:srgbClr val="64748B"/>
                </a:solidFill>
              </a:rPr>
              <a:t>Owns model as a versioned data asset.</a:t>
            </a:r>
            <a:endParaRPr lang="en-US" sz="750" dirty="0"/>
          </a:p>
        </p:txBody>
      </p:sp>
      <p:sp>
        <p:nvSpPr>
          <p:cNvPr id="21" name="Shape 19"/>
          <p:cNvSpPr/>
          <p:nvPr/>
        </p:nvSpPr>
        <p:spPr>
          <a:xfrm>
            <a:off x="6894576" y="1005840"/>
            <a:ext cx="1847088" cy="1115568"/>
          </a:xfrm>
          <a:prstGeom prst="rect">
            <a:avLst/>
          </a:prstGeom>
          <a:solidFill>
            <a:srgbClr val="E8F4F8"/>
          </a:solidFill>
          <a:ln w="12700">
            <a:solidFill>
              <a:srgbClr val="0D7377"/>
            </a:solidFill>
            <a:prstDash val="solid"/>
          </a:ln>
        </p:spPr>
      </p:sp>
      <p:sp>
        <p:nvSpPr>
          <p:cNvPr id="22" name="Text 20"/>
          <p:cNvSpPr/>
          <p:nvPr/>
        </p:nvSpPr>
        <p:spPr>
          <a:xfrm>
            <a:off x="6894576" y="1051560"/>
            <a:ext cx="1847088" cy="320040"/>
          </a:xfrm>
          <a:prstGeom prst="rect">
            <a:avLst/>
          </a:prstGeom>
          <a:noFill/>
          <a:ln/>
        </p:spPr>
        <p:txBody>
          <a:bodyPr wrap="square" lIns="0" tIns="0" rIns="0" bIns="0" rtlCol="0" anchor="ctr"/>
          <a:lstStyle/>
          <a:p>
            <a:pPr algn="ctr" indent="0" marL="0">
              <a:buNone/>
            </a:pPr>
            <a:r>
              <a:rPr lang="en-US" sz="1600" dirty="0">
                <a:solidFill>
                  <a:srgbClr val="000000"/>
                </a:solidFill>
              </a:rPr>
              <a:t>🧠</a:t>
            </a:r>
            <a:endParaRPr lang="en-US" sz="1600" dirty="0"/>
          </a:p>
        </p:txBody>
      </p:sp>
      <p:sp>
        <p:nvSpPr>
          <p:cNvPr id="23" name="Text 21"/>
          <p:cNvSpPr/>
          <p:nvPr/>
        </p:nvSpPr>
        <p:spPr>
          <a:xfrm>
            <a:off x="6967728" y="1353312"/>
            <a:ext cx="1700784" cy="256032"/>
          </a:xfrm>
          <a:prstGeom prst="rect">
            <a:avLst/>
          </a:prstGeom>
          <a:noFill/>
          <a:ln/>
        </p:spPr>
        <p:txBody>
          <a:bodyPr wrap="square" lIns="0" tIns="0" rIns="0" bIns="0" rtlCol="0" anchor="ctr"/>
          <a:lstStyle/>
          <a:p>
            <a:pPr algn="ctr" indent="0" marL="0">
              <a:buNone/>
            </a:pPr>
            <a:r>
              <a:rPr lang="en-US" sz="850" b="1" dirty="0">
                <a:solidFill>
                  <a:srgbClr val="0F2044"/>
                </a:solidFill>
              </a:rPr>
              <a:t>Retailer C model v1.x</a:t>
            </a:r>
            <a:endParaRPr lang="en-US" sz="850" dirty="0"/>
          </a:p>
        </p:txBody>
      </p:sp>
      <p:sp>
        <p:nvSpPr>
          <p:cNvPr id="24" name="Text 22"/>
          <p:cNvSpPr/>
          <p:nvPr/>
        </p:nvSpPr>
        <p:spPr>
          <a:xfrm>
            <a:off x="6967728" y="1609344"/>
            <a:ext cx="1700784" cy="475488"/>
          </a:xfrm>
          <a:prstGeom prst="rect">
            <a:avLst/>
          </a:prstGeom>
          <a:noFill/>
          <a:ln/>
        </p:spPr>
        <p:txBody>
          <a:bodyPr wrap="square" lIns="0" tIns="0" rIns="0" bIns="0" rtlCol="0" anchor="ctr"/>
          <a:lstStyle/>
          <a:p>
            <a:pPr algn="ctr" indent="0" marL="0">
              <a:buNone/>
            </a:pPr>
            <a:r>
              <a:rPr lang="en-US" sz="750" dirty="0">
                <a:solidFill>
                  <a:srgbClr val="64748B"/>
                </a:solidFill>
              </a:rPr>
              <a:t>Can export, audit, or reset</a:t>
            </a:r>
            <a:endParaRPr lang="en-US" sz="750" dirty="0"/>
          </a:p>
          <a:p>
            <a:pPr algn="ctr" indent="0" marL="0">
              <a:buNone/>
            </a:pPr>
            <a:r>
              <a:rPr lang="en-US" sz="750" dirty="0">
                <a:solidFill>
                  <a:srgbClr val="64748B"/>
                </a:solidFill>
              </a:rPr>
              <a:t>to base model at any time</a:t>
            </a:r>
            <a:endParaRPr lang="en-US" sz="750" dirty="0"/>
          </a:p>
          <a:p>
            <a:pPr algn="ctr" indent="0" marL="0">
              <a:buNone/>
            </a:pPr>
            <a:r>
              <a:rPr lang="en-US" sz="750" dirty="0">
                <a:solidFill>
                  <a:srgbClr val="64748B"/>
                </a:solidFill>
              </a:rPr>
              <a:t>via admin console.</a:t>
            </a:r>
            <a:endParaRPr lang="en-US" sz="750" dirty="0"/>
          </a:p>
        </p:txBody>
      </p:sp>
      <p:sp>
        <p:nvSpPr>
          <p:cNvPr id="25" name="Shape 23"/>
          <p:cNvSpPr/>
          <p:nvPr/>
        </p:nvSpPr>
        <p:spPr>
          <a:xfrm>
            <a:off x="201168" y="2395728"/>
            <a:ext cx="8741664" cy="256032"/>
          </a:xfrm>
          <a:prstGeom prst="rect">
            <a:avLst/>
          </a:prstGeom>
          <a:solidFill>
            <a:srgbClr val="334155"/>
          </a:solidFill>
          <a:ln w="12700">
            <a:solidFill>
              <a:srgbClr val="334155"/>
            </a:solidFill>
            <a:prstDash val="solid"/>
          </a:ln>
        </p:spPr>
      </p:sp>
      <p:sp>
        <p:nvSpPr>
          <p:cNvPr id="26" name="Text 24"/>
          <p:cNvSpPr/>
          <p:nvPr/>
        </p:nvSpPr>
        <p:spPr>
          <a:xfrm>
            <a:off x="347472" y="2395728"/>
            <a:ext cx="8412480" cy="256032"/>
          </a:xfrm>
          <a:prstGeom prst="rect">
            <a:avLst/>
          </a:prstGeom>
          <a:noFill/>
          <a:ln/>
        </p:spPr>
        <p:txBody>
          <a:bodyPr wrap="square" lIns="0" tIns="0" rIns="0" bIns="0" rtlCol="0" anchor="ctr"/>
          <a:lstStyle/>
          <a:p>
            <a:pPr indent="0" marL="0">
              <a:buNone/>
            </a:pPr>
            <a:r>
              <a:rPr lang="en-US" sz="900" b="1" spc="200" kern="0" dirty="0">
                <a:solidFill>
                  <a:srgbClr val="FFFFFF"/>
                </a:solidFill>
              </a:rPr>
              <a:t>OVERRIDE EVENT FLOW — SCOPED PER TENANT</a:t>
            </a:r>
            <a:endParaRPr lang="en-US" sz="900" dirty="0"/>
          </a:p>
        </p:txBody>
      </p:sp>
      <p:sp>
        <p:nvSpPr>
          <p:cNvPr id="27" name="Shape 25"/>
          <p:cNvSpPr/>
          <p:nvPr/>
        </p:nvSpPr>
        <p:spPr>
          <a:xfrm>
            <a:off x="201168" y="2651760"/>
            <a:ext cx="8741664" cy="530352"/>
          </a:xfrm>
          <a:prstGeom prst="rect">
            <a:avLst/>
          </a:prstGeom>
          <a:solidFill>
            <a:srgbClr val="FFFFFF"/>
          </a:solidFill>
          <a:ln w="12700">
            <a:solidFill>
              <a:srgbClr val="E2E8F0"/>
            </a:solidFill>
            <a:prstDash val="solid"/>
          </a:ln>
        </p:spPr>
      </p:sp>
      <p:sp>
        <p:nvSpPr>
          <p:cNvPr id="28" name="Text 26"/>
          <p:cNvSpPr/>
          <p:nvPr/>
        </p:nvSpPr>
        <p:spPr>
          <a:xfrm>
            <a:off x="347472" y="2651760"/>
            <a:ext cx="8412480" cy="530352"/>
          </a:xfrm>
          <a:prstGeom prst="rect">
            <a:avLst/>
          </a:prstGeom>
          <a:noFill/>
          <a:ln/>
        </p:spPr>
        <p:txBody>
          <a:bodyPr wrap="square" lIns="0" tIns="0" rIns="0" bIns="0" rtlCol="0" anchor="ctr"/>
          <a:lstStyle/>
          <a:p>
            <a:pPr indent="0" marL="0">
              <a:buNone/>
            </a:pPr>
            <a:r>
              <a:rPr lang="en-US" sz="900" b="1" dirty="0">
                <a:solidFill>
                  <a:srgbClr val="0F2044"/>
                </a:solidFill>
              </a:rPr>
              <a:t xml:space="preserve">Planner makes an override  → </a:t>
            </a:r>
            <a:pPr indent="0" marL="0">
              <a:buNone/>
            </a:pPr>
            <a:r>
              <a:rPr lang="en-US" sz="900" dirty="0">
                <a:solidFill>
                  <a:srgbClr val="64748B"/>
                </a:solidFill>
              </a:rPr>
              <a:t xml:space="preserve">event tagged: </a:t>
            </a:r>
            <a:pPr indent="0" marL="0">
              <a:buNone/>
            </a:pPr>
            <a:r>
              <a:rPr lang="en-US" sz="900" b="1" dirty="0">
                <a:solidFill>
                  <a:srgbClr val="0D7377"/>
                </a:solidFill>
              </a:rPr>
              <a:t>tenant_id + category + cluster + planner_id + field + old_value + new_value</a:t>
            </a:r>
            <a:pPr indent="0" marL="0">
              <a:buNone/>
            </a:pPr>
            <a:r>
              <a:rPr lang="en-US" sz="900" dirty="0">
                <a:solidFill>
                  <a:srgbClr val="64748B"/>
                </a:solidFill>
              </a:rPr>
              <a:t xml:space="preserve">  →  Router dispatches to that tenant's model only  →  Other models never touched</a:t>
            </a:r>
            <a:endParaRPr lang="en-US" sz="900" dirty="0"/>
          </a:p>
        </p:txBody>
      </p:sp>
      <p:sp>
        <p:nvSpPr>
          <p:cNvPr id="29" name="Shape 27"/>
          <p:cNvSpPr/>
          <p:nvPr/>
        </p:nvSpPr>
        <p:spPr>
          <a:xfrm>
            <a:off x="201168" y="3337560"/>
            <a:ext cx="2798064" cy="1627632"/>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30" name="Shape 28"/>
          <p:cNvSpPr/>
          <p:nvPr/>
        </p:nvSpPr>
        <p:spPr>
          <a:xfrm>
            <a:off x="201168" y="3337560"/>
            <a:ext cx="2798064" cy="73152"/>
          </a:xfrm>
          <a:prstGeom prst="rect">
            <a:avLst/>
          </a:prstGeom>
          <a:solidFill>
            <a:srgbClr val="0F2044"/>
          </a:solidFill>
          <a:ln w="12700">
            <a:solidFill>
              <a:srgbClr val="0F2044"/>
            </a:solidFill>
            <a:prstDash val="solid"/>
          </a:ln>
        </p:spPr>
      </p:sp>
      <p:pic>
        <p:nvPicPr>
          <p:cNvPr id="31" name="Image 0" descr="preencoded.png"/>
          <p:cNvPicPr>
            <a:picLocks noChangeAspect="1"/>
          </p:cNvPicPr>
          <p:nvPr/>
        </p:nvPicPr>
        <p:blipFill>
          <a:blip r:embed="rId1"/>
          <a:stretch>
            <a:fillRect/>
          </a:stretch>
        </p:blipFill>
        <p:spPr>
          <a:xfrm>
            <a:off x="365760" y="3538728"/>
            <a:ext cx="365760" cy="365760"/>
          </a:xfrm>
          <a:prstGeom prst="rect">
            <a:avLst/>
          </a:prstGeom>
        </p:spPr>
      </p:pic>
      <p:sp>
        <p:nvSpPr>
          <p:cNvPr id="32" name="Text 29"/>
          <p:cNvSpPr/>
          <p:nvPr/>
        </p:nvSpPr>
        <p:spPr>
          <a:xfrm>
            <a:off x="841248" y="3538728"/>
            <a:ext cx="2011680" cy="384048"/>
          </a:xfrm>
          <a:prstGeom prst="rect">
            <a:avLst/>
          </a:prstGeom>
          <a:noFill/>
          <a:ln/>
        </p:spPr>
        <p:txBody>
          <a:bodyPr wrap="square" lIns="0" tIns="0" rIns="0" bIns="0" rtlCol="0" anchor="ctr"/>
          <a:lstStyle/>
          <a:p>
            <a:pPr indent="0" marL="0">
              <a:buNone/>
            </a:pPr>
            <a:r>
              <a:rPr lang="en-US" sz="1100" b="1" dirty="0">
                <a:solidFill>
                  <a:srgbClr val="0F2044"/>
                </a:solidFill>
              </a:rPr>
              <a:t>Scoped namespace</a:t>
            </a:r>
            <a:endParaRPr lang="en-US" sz="1100" dirty="0"/>
          </a:p>
        </p:txBody>
      </p:sp>
      <p:sp>
        <p:nvSpPr>
          <p:cNvPr id="33" name="Text 30"/>
          <p:cNvSpPr/>
          <p:nvPr/>
        </p:nvSpPr>
        <p:spPr>
          <a:xfrm>
            <a:off x="365760" y="4050792"/>
            <a:ext cx="2468880" cy="841248"/>
          </a:xfrm>
          <a:prstGeom prst="rect">
            <a:avLst/>
          </a:prstGeom>
          <a:noFill/>
          <a:ln/>
        </p:spPr>
        <p:txBody>
          <a:bodyPr wrap="square" lIns="0" tIns="0" rIns="0" bIns="0" rtlCol="0" anchor="ctr"/>
          <a:lstStyle/>
          <a:p>
            <a:pPr indent="0" marL="0">
              <a:buNone/>
            </a:pPr>
            <a:r>
              <a:rPr lang="en-US" sz="850" dirty="0">
                <a:solidFill>
                  <a:srgbClr val="64748B"/>
                </a:solidFill>
              </a:rPr>
              <a:t>Every override event carries tenant_id. Model update pipeline rejects any event whose tenant_id does not match the target model. No cross-contamination by design.</a:t>
            </a:r>
            <a:endParaRPr lang="en-US" sz="850" dirty="0"/>
          </a:p>
        </p:txBody>
      </p:sp>
      <p:sp>
        <p:nvSpPr>
          <p:cNvPr id="34" name="Shape 31"/>
          <p:cNvSpPr/>
          <p:nvPr/>
        </p:nvSpPr>
        <p:spPr>
          <a:xfrm>
            <a:off x="3163824" y="3337560"/>
            <a:ext cx="2798064" cy="1627632"/>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35" name="Shape 32"/>
          <p:cNvSpPr/>
          <p:nvPr/>
        </p:nvSpPr>
        <p:spPr>
          <a:xfrm>
            <a:off x="3163824" y="3337560"/>
            <a:ext cx="2798064" cy="73152"/>
          </a:xfrm>
          <a:prstGeom prst="rect">
            <a:avLst/>
          </a:prstGeom>
          <a:solidFill>
            <a:srgbClr val="0D7377"/>
          </a:solidFill>
          <a:ln w="12700">
            <a:solidFill>
              <a:srgbClr val="0D7377"/>
            </a:solidFill>
            <a:prstDash val="solid"/>
          </a:ln>
        </p:spPr>
      </p:sp>
      <p:pic>
        <p:nvPicPr>
          <p:cNvPr id="36" name="Image 1" descr="preencoded.png"/>
          <p:cNvPicPr>
            <a:picLocks noChangeAspect="1"/>
          </p:cNvPicPr>
          <p:nvPr/>
        </p:nvPicPr>
        <p:blipFill>
          <a:blip r:embed="rId2"/>
          <a:stretch>
            <a:fillRect/>
          </a:stretch>
        </p:blipFill>
        <p:spPr>
          <a:xfrm>
            <a:off x="3328416" y="3538728"/>
            <a:ext cx="365760" cy="365760"/>
          </a:xfrm>
          <a:prstGeom prst="rect">
            <a:avLst/>
          </a:prstGeom>
        </p:spPr>
      </p:pic>
      <p:sp>
        <p:nvSpPr>
          <p:cNvPr id="37" name="Text 33"/>
          <p:cNvSpPr/>
          <p:nvPr/>
        </p:nvSpPr>
        <p:spPr>
          <a:xfrm>
            <a:off x="3803904" y="3538728"/>
            <a:ext cx="2011680" cy="384048"/>
          </a:xfrm>
          <a:prstGeom prst="rect">
            <a:avLst/>
          </a:prstGeom>
          <a:noFill/>
          <a:ln/>
        </p:spPr>
        <p:txBody>
          <a:bodyPr wrap="square" lIns="0" tIns="0" rIns="0" bIns="0" rtlCol="0" anchor="ctr"/>
          <a:lstStyle/>
          <a:p>
            <a:pPr indent="0" marL="0">
              <a:buNone/>
            </a:pPr>
            <a:r>
              <a:rPr lang="en-US" sz="1100" b="1" dirty="0">
                <a:solidFill>
                  <a:srgbClr val="0D7377"/>
                </a:solidFill>
              </a:rPr>
              <a:t>Portable weights</a:t>
            </a:r>
            <a:endParaRPr lang="en-US" sz="1100" dirty="0"/>
          </a:p>
        </p:txBody>
      </p:sp>
      <p:sp>
        <p:nvSpPr>
          <p:cNvPr id="38" name="Text 34"/>
          <p:cNvSpPr/>
          <p:nvPr/>
        </p:nvSpPr>
        <p:spPr>
          <a:xfrm>
            <a:off x="3328416" y="4050792"/>
            <a:ext cx="2468880" cy="841248"/>
          </a:xfrm>
          <a:prstGeom prst="rect">
            <a:avLst/>
          </a:prstGeom>
          <a:noFill/>
          <a:ln/>
        </p:spPr>
        <p:txBody>
          <a:bodyPr wrap="square" lIns="0" tIns="0" rIns="0" bIns="0" rtlCol="0" anchor="ctr"/>
          <a:lstStyle/>
          <a:p>
            <a:pPr indent="0" marL="0">
              <a:buNone/>
            </a:pPr>
            <a:r>
              <a:rPr lang="en-US" sz="850" dirty="0">
                <a:solidFill>
                  <a:srgbClr val="64748B"/>
                </a:solidFill>
              </a:rPr>
              <a:t>Retailer model weights owned by tenant as versioned data asset. Exportable as JSON, auditable by retailer's data team, or reset to current base model at any time.</a:t>
            </a:r>
            <a:endParaRPr lang="en-US" sz="850" dirty="0"/>
          </a:p>
        </p:txBody>
      </p:sp>
      <p:sp>
        <p:nvSpPr>
          <p:cNvPr id="39" name="Shape 35"/>
          <p:cNvSpPr/>
          <p:nvPr/>
        </p:nvSpPr>
        <p:spPr>
          <a:xfrm>
            <a:off x="6126480" y="3337560"/>
            <a:ext cx="2798064" cy="1627632"/>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40" name="Shape 36"/>
          <p:cNvSpPr/>
          <p:nvPr/>
        </p:nvSpPr>
        <p:spPr>
          <a:xfrm>
            <a:off x="6126480" y="3337560"/>
            <a:ext cx="2798064" cy="73152"/>
          </a:xfrm>
          <a:prstGeom prst="rect">
            <a:avLst/>
          </a:prstGeom>
          <a:solidFill>
            <a:srgbClr val="7C3AED"/>
          </a:solidFill>
          <a:ln w="12700">
            <a:solidFill>
              <a:srgbClr val="7C3AED"/>
            </a:solidFill>
            <a:prstDash val="solid"/>
          </a:ln>
        </p:spPr>
      </p:sp>
      <p:pic>
        <p:nvPicPr>
          <p:cNvPr id="41" name="Image 2" descr="preencoded.png"/>
          <p:cNvPicPr>
            <a:picLocks noChangeAspect="1"/>
          </p:cNvPicPr>
          <p:nvPr/>
        </p:nvPicPr>
        <p:blipFill>
          <a:blip r:embed="rId3"/>
          <a:stretch>
            <a:fillRect/>
          </a:stretch>
        </p:blipFill>
        <p:spPr>
          <a:xfrm>
            <a:off x="6291072" y="3538728"/>
            <a:ext cx="365760" cy="365760"/>
          </a:xfrm>
          <a:prstGeom prst="rect">
            <a:avLst/>
          </a:prstGeom>
        </p:spPr>
      </p:pic>
      <p:sp>
        <p:nvSpPr>
          <p:cNvPr id="42" name="Text 37"/>
          <p:cNvSpPr/>
          <p:nvPr/>
        </p:nvSpPr>
        <p:spPr>
          <a:xfrm>
            <a:off x="6766560" y="3538728"/>
            <a:ext cx="2011680" cy="384048"/>
          </a:xfrm>
          <a:prstGeom prst="rect">
            <a:avLst/>
          </a:prstGeom>
          <a:noFill/>
          <a:ln/>
        </p:spPr>
        <p:txBody>
          <a:bodyPr wrap="square" lIns="0" tIns="0" rIns="0" bIns="0" rtlCol="0" anchor="ctr"/>
          <a:lstStyle/>
          <a:p>
            <a:pPr indent="0" marL="0">
              <a:buNone/>
            </a:pPr>
            <a:r>
              <a:rPr lang="en-US" sz="1100" b="1" dirty="0">
                <a:solidFill>
                  <a:srgbClr val="7C3AED"/>
                </a:solidFill>
              </a:rPr>
              <a:t>Auto-proposal at n=3</a:t>
            </a:r>
            <a:endParaRPr lang="en-US" sz="1100" dirty="0"/>
          </a:p>
        </p:txBody>
      </p:sp>
      <p:sp>
        <p:nvSpPr>
          <p:cNvPr id="43" name="Text 38"/>
          <p:cNvSpPr/>
          <p:nvPr/>
        </p:nvSpPr>
        <p:spPr>
          <a:xfrm>
            <a:off x="6291072" y="4050792"/>
            <a:ext cx="2468880" cy="841248"/>
          </a:xfrm>
          <a:prstGeom prst="rect">
            <a:avLst/>
          </a:prstGeom>
          <a:noFill/>
          <a:ln/>
        </p:spPr>
        <p:txBody>
          <a:bodyPr wrap="square" lIns="0" tIns="0" rIns="0" bIns="0" rtlCol="0" anchor="ctr"/>
          <a:lstStyle/>
          <a:p>
            <a:pPr indent="0" marL="0">
              <a:buNone/>
            </a:pPr>
            <a:r>
              <a:rPr lang="en-US" sz="850" dirty="0">
                <a:solidFill>
                  <a:srgbClr val="64748B"/>
                </a:solidFill>
              </a:rPr>
              <a:t>After 3+ overrides in same direction (e.g. planner always raises DOS for occasionwear), agent surfaces a proposed permanent threshold update for planner approval.</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334155"/>
          </a:solidFill>
          <a:ln w="12700">
            <a:solidFill>
              <a:srgbClr val="334155"/>
            </a:solidFill>
            <a:prstDash val="solid"/>
          </a:ln>
        </p:spPr>
      </p:sp>
      <p:sp>
        <p:nvSpPr>
          <p:cNvPr id="3" name="Text 1"/>
          <p:cNvSpPr/>
          <p:nvPr/>
        </p:nvSpPr>
        <p:spPr>
          <a:xfrm>
            <a:off x="365760" y="0"/>
            <a:ext cx="7315200" cy="658368"/>
          </a:xfrm>
          <a:prstGeom prst="rect">
            <a:avLst/>
          </a:prstGeom>
          <a:noFill/>
          <a:ln/>
        </p:spPr>
        <p:txBody>
          <a:bodyPr wrap="square" lIns="0" tIns="0" rIns="0" bIns="0" rtlCol="0" anchor="ctr"/>
          <a:lstStyle/>
          <a:p>
            <a:pPr indent="0" marL="0">
              <a:buNone/>
            </a:pPr>
            <a:r>
              <a:rPr lang="en-US" sz="1000" b="1" spc="300" kern="0" dirty="0">
                <a:solidFill>
                  <a:srgbClr val="FFFFFF"/>
                </a:solidFill>
              </a:rPr>
              <a:t>ENGINEERING — CONFIG vs EXTENSION CODE vs CORE</a:t>
            </a:r>
            <a:endParaRPr lang="en-US" sz="1000" dirty="0"/>
          </a:p>
        </p:txBody>
      </p:sp>
      <p:sp>
        <p:nvSpPr>
          <p:cNvPr id="4" name="Text 2"/>
          <p:cNvSpPr/>
          <p:nvPr/>
        </p:nvSpPr>
        <p:spPr>
          <a:xfrm>
            <a:off x="7863840" y="0"/>
            <a:ext cx="1097280" cy="658368"/>
          </a:xfrm>
          <a:prstGeom prst="rect">
            <a:avLst/>
          </a:prstGeom>
          <a:noFill/>
          <a:ln/>
        </p:spPr>
        <p:txBody>
          <a:bodyPr wrap="square" lIns="0" tIns="0" rIns="0" bIns="0" rtlCol="0" anchor="ctr"/>
          <a:lstStyle/>
          <a:p>
            <a:pPr algn="r" indent="0" marL="0">
              <a:buNone/>
            </a:pPr>
            <a:r>
              <a:rPr lang="en-US" sz="900" dirty="0">
                <a:solidFill>
                  <a:srgbClr val="94A3B8"/>
                </a:solidFill>
              </a:rPr>
              <a:t>ENG-01</a:t>
            </a:r>
            <a:endParaRPr lang="en-US" sz="900" dirty="0"/>
          </a:p>
        </p:txBody>
      </p:sp>
      <p:sp>
        <p:nvSpPr>
          <p:cNvPr id="5" name="Shape 3"/>
          <p:cNvSpPr/>
          <p:nvPr/>
        </p:nvSpPr>
        <p:spPr>
          <a:xfrm>
            <a:off x="201168" y="777240"/>
            <a:ext cx="2798064" cy="4224528"/>
          </a:xfrm>
          <a:prstGeom prst="rect">
            <a:avLst/>
          </a:prstGeom>
          <a:solidFill>
            <a:srgbClr val="F7F9FC"/>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6" name="Shape 4"/>
          <p:cNvSpPr/>
          <p:nvPr/>
        </p:nvSpPr>
        <p:spPr>
          <a:xfrm>
            <a:off x="201168" y="777240"/>
            <a:ext cx="2798064" cy="73152"/>
          </a:xfrm>
          <a:prstGeom prst="rect">
            <a:avLst/>
          </a:prstGeom>
          <a:solidFill>
            <a:srgbClr val="0D7377"/>
          </a:solidFill>
          <a:ln w="12700">
            <a:solidFill>
              <a:srgbClr val="0D7377"/>
            </a:solidFill>
            <a:prstDash val="solid"/>
          </a:ln>
        </p:spPr>
      </p:sp>
      <p:pic>
        <p:nvPicPr>
          <p:cNvPr id="7" name="Image 0" descr="preencoded.png"/>
          <p:cNvPicPr>
            <a:picLocks noChangeAspect="1"/>
          </p:cNvPicPr>
          <p:nvPr/>
        </p:nvPicPr>
        <p:blipFill>
          <a:blip r:embed="rId1"/>
          <a:stretch>
            <a:fillRect/>
          </a:stretch>
        </p:blipFill>
        <p:spPr>
          <a:xfrm>
            <a:off x="365760" y="941832"/>
            <a:ext cx="347472" cy="347472"/>
          </a:xfrm>
          <a:prstGeom prst="rect">
            <a:avLst/>
          </a:prstGeom>
        </p:spPr>
      </p:pic>
      <p:sp>
        <p:nvSpPr>
          <p:cNvPr id="8" name="Text 5"/>
          <p:cNvSpPr/>
          <p:nvPr/>
        </p:nvSpPr>
        <p:spPr>
          <a:xfrm>
            <a:off x="795528" y="941832"/>
            <a:ext cx="2011680" cy="256032"/>
          </a:xfrm>
          <a:prstGeom prst="rect">
            <a:avLst/>
          </a:prstGeom>
          <a:noFill/>
          <a:ln/>
        </p:spPr>
        <p:txBody>
          <a:bodyPr wrap="square" lIns="0" tIns="0" rIns="0" bIns="0" rtlCol="0" anchor="ctr"/>
          <a:lstStyle/>
          <a:p>
            <a:pPr indent="0" marL="0">
              <a:buNone/>
            </a:pPr>
            <a:r>
              <a:rPr lang="en-US" sz="1100" b="1" dirty="0">
                <a:solidFill>
                  <a:srgbClr val="0D7377"/>
                </a:solidFill>
              </a:rPr>
              <a:t>CONFIGURATION</a:t>
            </a:r>
            <a:endParaRPr lang="en-US" sz="1100" dirty="0"/>
          </a:p>
        </p:txBody>
      </p:sp>
      <p:sp>
        <p:nvSpPr>
          <p:cNvPr id="9" name="Text 6"/>
          <p:cNvSpPr/>
          <p:nvPr/>
        </p:nvSpPr>
        <p:spPr>
          <a:xfrm>
            <a:off x="795528" y="1216152"/>
            <a:ext cx="2011680" cy="256032"/>
          </a:xfrm>
          <a:prstGeom prst="rect">
            <a:avLst/>
          </a:prstGeom>
          <a:noFill/>
          <a:ln/>
        </p:spPr>
        <p:txBody>
          <a:bodyPr wrap="square" lIns="0" tIns="0" rIns="0" bIns="0" rtlCol="0" anchor="ctr"/>
          <a:lstStyle/>
          <a:p>
            <a:pPr indent="0" marL="0">
              <a:buNone/>
            </a:pPr>
            <a:r>
              <a:rPr lang="en-US" sz="850" dirty="0">
                <a:solidFill>
                  <a:srgbClr val="64748B"/>
                </a:solidFill>
              </a:rPr>
              <a:t>Change a value — no deployment</a:t>
            </a:r>
            <a:endParaRPr lang="en-US" sz="850" dirty="0"/>
          </a:p>
        </p:txBody>
      </p:sp>
      <p:sp>
        <p:nvSpPr>
          <p:cNvPr id="10" name="Shape 7"/>
          <p:cNvSpPr/>
          <p:nvPr/>
        </p:nvSpPr>
        <p:spPr>
          <a:xfrm>
            <a:off x="338328" y="1554480"/>
            <a:ext cx="2523744" cy="0"/>
          </a:xfrm>
          <a:prstGeom prst="line">
            <a:avLst/>
          </a:prstGeom>
          <a:noFill/>
          <a:ln w="9525">
            <a:solidFill>
              <a:srgbClr val="E2E8F0"/>
            </a:solidFill>
            <a:prstDash val="solid"/>
          </a:ln>
        </p:spPr>
      </p:sp>
      <p:sp>
        <p:nvSpPr>
          <p:cNvPr id="11" name="Text 8"/>
          <p:cNvSpPr/>
          <p:nvPr/>
        </p:nvSpPr>
        <p:spPr>
          <a:xfrm>
            <a:off x="338328" y="1636776"/>
            <a:ext cx="2523744" cy="182880"/>
          </a:xfrm>
          <a:prstGeom prst="rect">
            <a:avLst/>
          </a:prstGeom>
          <a:noFill/>
          <a:ln/>
        </p:spPr>
        <p:txBody>
          <a:bodyPr wrap="square" lIns="0" tIns="0" rIns="0" bIns="0" rtlCol="0" anchor="ctr"/>
          <a:lstStyle/>
          <a:p>
            <a:pPr indent="0" marL="0">
              <a:buNone/>
            </a:pPr>
            <a:r>
              <a:rPr lang="en-US" sz="750" b="1" spc="100" kern="0" dirty="0">
                <a:solidFill>
                  <a:srgbClr val="334155"/>
                </a:solidFill>
              </a:rPr>
              <a:t>DEPLOY PATH</a:t>
            </a:r>
            <a:endParaRPr lang="en-US" sz="750" dirty="0"/>
          </a:p>
        </p:txBody>
      </p:sp>
      <p:sp>
        <p:nvSpPr>
          <p:cNvPr id="12" name="Text 9"/>
          <p:cNvSpPr/>
          <p:nvPr/>
        </p:nvSpPr>
        <p:spPr>
          <a:xfrm>
            <a:off x="338328" y="1828800"/>
            <a:ext cx="2523744" cy="658368"/>
          </a:xfrm>
          <a:prstGeom prst="rect">
            <a:avLst/>
          </a:prstGeom>
          <a:noFill/>
          <a:ln/>
        </p:spPr>
        <p:txBody>
          <a:bodyPr wrap="square" lIns="0" tIns="0" rIns="0" bIns="0" rtlCol="0" anchor="ctr"/>
          <a:lstStyle/>
          <a:p>
            <a:pPr indent="0" marL="0">
              <a:buNone/>
            </a:pPr>
            <a:r>
              <a:rPr lang="en-US" sz="800" dirty="0">
                <a:solidFill>
                  <a:srgbClr val="64748B"/>
                </a:solidFill>
              </a:rPr>
              <a:t>Edit JSON/YAML in retailer config repo → CI validates schema → Auto-deployed on next config sync (&lt; 5 min)</a:t>
            </a:r>
            <a:endParaRPr lang="en-US" sz="800" dirty="0"/>
          </a:p>
        </p:txBody>
      </p:sp>
      <p:sp>
        <p:nvSpPr>
          <p:cNvPr id="13" name="Shape 10"/>
          <p:cNvSpPr/>
          <p:nvPr/>
        </p:nvSpPr>
        <p:spPr>
          <a:xfrm>
            <a:off x="338328" y="2514600"/>
            <a:ext cx="2523744" cy="0"/>
          </a:xfrm>
          <a:prstGeom prst="line">
            <a:avLst/>
          </a:prstGeom>
          <a:noFill/>
          <a:ln w="9525">
            <a:solidFill>
              <a:srgbClr val="E2E8F0"/>
            </a:solidFill>
            <a:prstDash val="solid"/>
          </a:ln>
        </p:spPr>
      </p:sp>
      <p:sp>
        <p:nvSpPr>
          <p:cNvPr id="14" name="Text 11"/>
          <p:cNvSpPr/>
          <p:nvPr/>
        </p:nvSpPr>
        <p:spPr>
          <a:xfrm>
            <a:off x="338328" y="2587752"/>
            <a:ext cx="2523744" cy="182880"/>
          </a:xfrm>
          <a:prstGeom prst="rect">
            <a:avLst/>
          </a:prstGeom>
          <a:noFill/>
          <a:ln/>
        </p:spPr>
        <p:txBody>
          <a:bodyPr wrap="square" lIns="0" tIns="0" rIns="0" bIns="0" rtlCol="0" anchor="ctr"/>
          <a:lstStyle/>
          <a:p>
            <a:pPr indent="0" marL="0">
              <a:buNone/>
            </a:pPr>
            <a:r>
              <a:rPr lang="en-US" sz="750" b="1" spc="100" kern="0" dirty="0">
                <a:solidFill>
                  <a:srgbClr val="334155"/>
                </a:solidFill>
              </a:rPr>
              <a:t>EXAMPLES</a:t>
            </a:r>
            <a:endParaRPr lang="en-US" sz="750" dirty="0"/>
          </a:p>
        </p:txBody>
      </p:sp>
      <p:sp>
        <p:nvSpPr>
          <p:cNvPr id="15" name="Text 12"/>
          <p:cNvSpPr/>
          <p:nvPr/>
        </p:nvSpPr>
        <p:spPr>
          <a:xfrm>
            <a:off x="338328" y="2788920"/>
            <a:ext cx="2523744" cy="1417320"/>
          </a:xfrm>
          <a:prstGeom prst="rect">
            <a:avLst/>
          </a:prstGeom>
          <a:noFill/>
          <a:ln/>
        </p:spPr>
        <p:txBody>
          <a:bodyPr wrap="square" lIns="0" tIns="0" rIns="0" bIns="0" rtlCol="0" anchor="ctr"/>
          <a:lstStyle/>
          <a:p>
            <a:pPr marL="342900" indent="-342900">
              <a:buSzPct val="100000"/>
              <a:buChar char="•"/>
            </a:pPr>
            <a:r>
              <a:rPr lang="en-US" sz="800" dirty="0">
                <a:solidFill>
                  <a:srgbClr val="64748B"/>
                </a:solidFill>
              </a:rPr>
              <a:t>DOS flag threshold: 25% → 30%</a:t>
            </a:r>
            <a:endParaRPr lang="en-US" sz="800" dirty="0"/>
          </a:p>
          <a:p>
            <a:pPr marL="342900" indent="-342900">
              <a:buSzPct val="100000"/>
              <a:buChar char="•"/>
            </a:pPr>
            <a:r>
              <a:rPr lang="en-US" sz="800" dirty="0">
                <a:solidFill>
                  <a:srgbClr val="64748B"/>
                </a:solidFill>
              </a:rPr>
              <a:t>Cover weeks: 6 → 8</a:t>
            </a:r>
            <a:endParaRPr lang="en-US" sz="800" dirty="0"/>
          </a:p>
          <a:p>
            <a:pPr marL="342900" indent="-342900">
              <a:buSzPct val="100000"/>
              <a:buChar char="•"/>
            </a:pPr>
            <a:r>
              <a:rPr lang="en-US" sz="800" dirty="0">
                <a:solidFill>
                  <a:srgbClr val="64748B"/>
                </a:solidFill>
              </a:rPr>
              <a:t>Min options per cluster: 4 → 6</a:t>
            </a:r>
            <a:endParaRPr lang="en-US" sz="800" dirty="0"/>
          </a:p>
          <a:p>
            <a:pPr marL="342900" indent="-342900">
              <a:buSzPct val="100000"/>
              <a:buChar char="•"/>
            </a:pPr>
            <a:r>
              <a:rPr lang="en-US" sz="800" dirty="0">
                <a:solidFill>
                  <a:srgbClr val="64748B"/>
                </a:solidFill>
              </a:rPr>
              <a:t>Approval OTB threshold: £500k → £750k</a:t>
            </a:r>
            <a:endParaRPr lang="en-US" sz="800" dirty="0"/>
          </a:p>
          <a:p>
            <a:pPr marL="342900" indent="-342900">
              <a:buSzPct val="100000"/>
              <a:buChar char="•"/>
            </a:pPr>
            <a:r>
              <a:rPr lang="en-US" sz="800" dirty="0">
                <a:solidFill>
                  <a:srgbClr val="64748B"/>
                </a:solidFill>
              </a:rPr>
              <a:t>Cohesion approval band: 70 → 75</a:t>
            </a:r>
            <a:endParaRPr lang="en-US" sz="800" dirty="0"/>
          </a:p>
          <a:p>
            <a:pPr marL="342900" indent="-342900">
              <a:buSzPct val="100000"/>
              <a:buChar char="•"/>
            </a:pPr>
            <a:r>
              <a:rPr lang="en-US" sz="800" dirty="0">
                <a:solidFill>
                  <a:srgbClr val="64748B"/>
                </a:solidFill>
              </a:rPr>
              <a:t>Agent learning scope: exclude trainees</a:t>
            </a:r>
            <a:endParaRPr lang="en-US" sz="800" dirty="0"/>
          </a:p>
          <a:p>
            <a:pPr indent="0" marL="0">
              <a:buNone/>
            </a:pPr>
            <a:endParaRPr lang="en-US" sz="800" dirty="0"/>
          </a:p>
        </p:txBody>
      </p:sp>
      <p:sp>
        <p:nvSpPr>
          <p:cNvPr id="16" name="Shape 13"/>
          <p:cNvSpPr/>
          <p:nvPr/>
        </p:nvSpPr>
        <p:spPr>
          <a:xfrm>
            <a:off x="310896" y="4325112"/>
            <a:ext cx="2578608" cy="292608"/>
          </a:xfrm>
          <a:prstGeom prst="rect">
            <a:avLst/>
          </a:prstGeom>
          <a:solidFill>
            <a:srgbClr val="D1FAE5"/>
          </a:solidFill>
          <a:ln w="9525">
            <a:solidFill>
              <a:srgbClr val="059669"/>
            </a:solidFill>
            <a:prstDash val="solid"/>
          </a:ln>
        </p:spPr>
      </p:sp>
      <p:sp>
        <p:nvSpPr>
          <p:cNvPr id="17" name="Text 14"/>
          <p:cNvSpPr/>
          <p:nvPr/>
        </p:nvSpPr>
        <p:spPr>
          <a:xfrm>
            <a:off x="384048" y="4343400"/>
            <a:ext cx="2450592" cy="274320"/>
          </a:xfrm>
          <a:prstGeom prst="rect">
            <a:avLst/>
          </a:prstGeom>
          <a:noFill/>
          <a:ln/>
        </p:spPr>
        <p:txBody>
          <a:bodyPr wrap="square" lIns="0" tIns="0" rIns="0" bIns="0" rtlCol="0" anchor="ctr"/>
          <a:lstStyle/>
          <a:p>
            <a:pPr indent="0" marL="0">
              <a:buNone/>
            </a:pPr>
            <a:r>
              <a:rPr lang="en-US" sz="750" dirty="0">
                <a:solidFill>
                  <a:srgbClr val="334155"/>
                </a:solidFill>
              </a:rPr>
              <a:t>TEST: Schema validation only. No unit tests required.</a:t>
            </a:r>
            <a:endParaRPr lang="en-US" sz="750" dirty="0"/>
          </a:p>
        </p:txBody>
      </p:sp>
      <p:sp>
        <p:nvSpPr>
          <p:cNvPr id="18" name="Shape 15"/>
          <p:cNvSpPr/>
          <p:nvPr/>
        </p:nvSpPr>
        <p:spPr>
          <a:xfrm>
            <a:off x="310896" y="4636008"/>
            <a:ext cx="2578608" cy="274320"/>
          </a:xfrm>
          <a:prstGeom prst="rect">
            <a:avLst/>
          </a:prstGeom>
          <a:solidFill>
            <a:srgbClr val="FEF3C7"/>
          </a:solidFill>
          <a:ln w="9525">
            <a:solidFill>
              <a:srgbClr val="F59E0B"/>
            </a:solidFill>
            <a:prstDash val="solid"/>
          </a:ln>
        </p:spPr>
      </p:sp>
      <p:sp>
        <p:nvSpPr>
          <p:cNvPr id="19" name="Text 16"/>
          <p:cNvSpPr/>
          <p:nvPr/>
        </p:nvSpPr>
        <p:spPr>
          <a:xfrm>
            <a:off x="384048" y="4654296"/>
            <a:ext cx="2450592" cy="256032"/>
          </a:xfrm>
          <a:prstGeom prst="rect">
            <a:avLst/>
          </a:prstGeom>
          <a:noFill/>
          <a:ln/>
        </p:spPr>
        <p:txBody>
          <a:bodyPr wrap="square" lIns="0" tIns="0" rIns="0" bIns="0" rtlCol="0" anchor="ctr"/>
          <a:lstStyle/>
          <a:p>
            <a:pPr indent="0" marL="0">
              <a:buNone/>
            </a:pPr>
            <a:r>
              <a:rPr lang="en-US" sz="750" dirty="0">
                <a:solidFill>
                  <a:srgbClr val="334155"/>
                </a:solidFill>
              </a:rPr>
              <a:t>RISK: Low. Rolled back by reverting config commit.</a:t>
            </a:r>
            <a:endParaRPr lang="en-US" sz="750" dirty="0"/>
          </a:p>
        </p:txBody>
      </p:sp>
      <p:sp>
        <p:nvSpPr>
          <p:cNvPr id="20" name="Shape 17"/>
          <p:cNvSpPr/>
          <p:nvPr/>
        </p:nvSpPr>
        <p:spPr>
          <a:xfrm>
            <a:off x="3163824" y="777240"/>
            <a:ext cx="2798064" cy="4224528"/>
          </a:xfrm>
          <a:prstGeom prst="rect">
            <a:avLst/>
          </a:prstGeom>
          <a:solidFill>
            <a:srgbClr val="F7F9FC"/>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21" name="Shape 18"/>
          <p:cNvSpPr/>
          <p:nvPr/>
        </p:nvSpPr>
        <p:spPr>
          <a:xfrm>
            <a:off x="3163824" y="777240"/>
            <a:ext cx="2798064" cy="73152"/>
          </a:xfrm>
          <a:prstGeom prst="rect">
            <a:avLst/>
          </a:prstGeom>
          <a:solidFill>
            <a:srgbClr val="7C3AED"/>
          </a:solidFill>
          <a:ln w="12700">
            <a:solidFill>
              <a:srgbClr val="7C3AED"/>
            </a:solidFill>
            <a:prstDash val="solid"/>
          </a:ln>
        </p:spPr>
      </p:sp>
      <p:pic>
        <p:nvPicPr>
          <p:cNvPr id="22" name="Image 1" descr="preencoded.png"/>
          <p:cNvPicPr>
            <a:picLocks noChangeAspect="1"/>
          </p:cNvPicPr>
          <p:nvPr/>
        </p:nvPicPr>
        <p:blipFill>
          <a:blip r:embed="rId2"/>
          <a:stretch>
            <a:fillRect/>
          </a:stretch>
        </p:blipFill>
        <p:spPr>
          <a:xfrm>
            <a:off x="3328416" y="941832"/>
            <a:ext cx="347472" cy="347472"/>
          </a:xfrm>
          <a:prstGeom prst="rect">
            <a:avLst/>
          </a:prstGeom>
        </p:spPr>
      </p:pic>
      <p:sp>
        <p:nvSpPr>
          <p:cNvPr id="23" name="Text 19"/>
          <p:cNvSpPr/>
          <p:nvPr/>
        </p:nvSpPr>
        <p:spPr>
          <a:xfrm>
            <a:off x="3758184" y="941832"/>
            <a:ext cx="2011680" cy="256032"/>
          </a:xfrm>
          <a:prstGeom prst="rect">
            <a:avLst/>
          </a:prstGeom>
          <a:noFill/>
          <a:ln/>
        </p:spPr>
        <p:txBody>
          <a:bodyPr wrap="square" lIns="0" tIns="0" rIns="0" bIns="0" rtlCol="0" anchor="ctr"/>
          <a:lstStyle/>
          <a:p>
            <a:pPr indent="0" marL="0">
              <a:buNone/>
            </a:pPr>
            <a:r>
              <a:rPr lang="en-US" sz="1100" b="1" dirty="0">
                <a:solidFill>
                  <a:srgbClr val="7C3AED"/>
                </a:solidFill>
              </a:rPr>
              <a:t>EXTENSION CODE</a:t>
            </a:r>
            <a:endParaRPr lang="en-US" sz="1100" dirty="0"/>
          </a:p>
        </p:txBody>
      </p:sp>
      <p:sp>
        <p:nvSpPr>
          <p:cNvPr id="24" name="Text 20"/>
          <p:cNvSpPr/>
          <p:nvPr/>
        </p:nvSpPr>
        <p:spPr>
          <a:xfrm>
            <a:off x="3758184" y="1216152"/>
            <a:ext cx="2011680" cy="256032"/>
          </a:xfrm>
          <a:prstGeom prst="rect">
            <a:avLst/>
          </a:prstGeom>
          <a:noFill/>
          <a:ln/>
        </p:spPr>
        <p:txBody>
          <a:bodyPr wrap="square" lIns="0" tIns="0" rIns="0" bIns="0" rtlCol="0" anchor="ctr"/>
          <a:lstStyle/>
          <a:p>
            <a:pPr indent="0" marL="0">
              <a:buNone/>
            </a:pPr>
            <a:r>
              <a:rPr lang="en-US" sz="850" dirty="0">
                <a:solidFill>
                  <a:srgbClr val="64748B"/>
                </a:solidFill>
              </a:rPr>
              <a:t>New rule — implement against a hook contract</a:t>
            </a:r>
            <a:endParaRPr lang="en-US" sz="850" dirty="0"/>
          </a:p>
        </p:txBody>
      </p:sp>
      <p:sp>
        <p:nvSpPr>
          <p:cNvPr id="25" name="Shape 21"/>
          <p:cNvSpPr/>
          <p:nvPr/>
        </p:nvSpPr>
        <p:spPr>
          <a:xfrm>
            <a:off x="3300984" y="1554480"/>
            <a:ext cx="2523744" cy="0"/>
          </a:xfrm>
          <a:prstGeom prst="line">
            <a:avLst/>
          </a:prstGeom>
          <a:noFill/>
          <a:ln w="9525">
            <a:solidFill>
              <a:srgbClr val="E2E8F0"/>
            </a:solidFill>
            <a:prstDash val="solid"/>
          </a:ln>
        </p:spPr>
      </p:sp>
      <p:sp>
        <p:nvSpPr>
          <p:cNvPr id="26" name="Text 22"/>
          <p:cNvSpPr/>
          <p:nvPr/>
        </p:nvSpPr>
        <p:spPr>
          <a:xfrm>
            <a:off x="3300984" y="1636776"/>
            <a:ext cx="2523744" cy="182880"/>
          </a:xfrm>
          <a:prstGeom prst="rect">
            <a:avLst/>
          </a:prstGeom>
          <a:noFill/>
          <a:ln/>
        </p:spPr>
        <p:txBody>
          <a:bodyPr wrap="square" lIns="0" tIns="0" rIns="0" bIns="0" rtlCol="0" anchor="ctr"/>
          <a:lstStyle/>
          <a:p>
            <a:pPr indent="0" marL="0">
              <a:buNone/>
            </a:pPr>
            <a:r>
              <a:rPr lang="en-US" sz="750" b="1" spc="100" kern="0" dirty="0">
                <a:solidFill>
                  <a:srgbClr val="334155"/>
                </a:solidFill>
              </a:rPr>
              <a:t>DEPLOY PATH</a:t>
            </a:r>
            <a:endParaRPr lang="en-US" sz="750" dirty="0"/>
          </a:p>
        </p:txBody>
      </p:sp>
      <p:sp>
        <p:nvSpPr>
          <p:cNvPr id="27" name="Text 23"/>
          <p:cNvSpPr/>
          <p:nvPr/>
        </p:nvSpPr>
        <p:spPr>
          <a:xfrm>
            <a:off x="3300984" y="1828800"/>
            <a:ext cx="2523744" cy="658368"/>
          </a:xfrm>
          <a:prstGeom prst="rect">
            <a:avLst/>
          </a:prstGeom>
          <a:noFill/>
          <a:ln/>
        </p:spPr>
        <p:txBody>
          <a:bodyPr wrap="square" lIns="0" tIns="0" rIns="0" bIns="0" rtlCol="0" anchor="ctr"/>
          <a:lstStyle/>
          <a:p>
            <a:pPr indent="0" marL="0">
              <a:buNone/>
            </a:pPr>
            <a:r>
              <a:rPr lang="en-US" sz="800" dirty="0">
                <a:solidFill>
                  <a:srgbClr val="64748B"/>
                </a:solidFill>
              </a:rPr>
              <a:t>Retailer dev writes extension module → Unit tests against mock hook interface → Integration test in retailer staging → Deploy to retailer extension container (isolated)</a:t>
            </a:r>
            <a:endParaRPr lang="en-US" sz="800" dirty="0"/>
          </a:p>
        </p:txBody>
      </p:sp>
      <p:sp>
        <p:nvSpPr>
          <p:cNvPr id="28" name="Shape 24"/>
          <p:cNvSpPr/>
          <p:nvPr/>
        </p:nvSpPr>
        <p:spPr>
          <a:xfrm>
            <a:off x="3300984" y="2514600"/>
            <a:ext cx="2523744" cy="0"/>
          </a:xfrm>
          <a:prstGeom prst="line">
            <a:avLst/>
          </a:prstGeom>
          <a:noFill/>
          <a:ln w="9525">
            <a:solidFill>
              <a:srgbClr val="E2E8F0"/>
            </a:solidFill>
            <a:prstDash val="solid"/>
          </a:ln>
        </p:spPr>
      </p:sp>
      <p:sp>
        <p:nvSpPr>
          <p:cNvPr id="29" name="Text 25"/>
          <p:cNvSpPr/>
          <p:nvPr/>
        </p:nvSpPr>
        <p:spPr>
          <a:xfrm>
            <a:off x="3300984" y="2587752"/>
            <a:ext cx="2523744" cy="182880"/>
          </a:xfrm>
          <a:prstGeom prst="rect">
            <a:avLst/>
          </a:prstGeom>
          <a:noFill/>
          <a:ln/>
        </p:spPr>
        <p:txBody>
          <a:bodyPr wrap="square" lIns="0" tIns="0" rIns="0" bIns="0" rtlCol="0" anchor="ctr"/>
          <a:lstStyle/>
          <a:p>
            <a:pPr indent="0" marL="0">
              <a:buNone/>
            </a:pPr>
            <a:r>
              <a:rPr lang="en-US" sz="750" b="1" spc="100" kern="0" dirty="0">
                <a:solidFill>
                  <a:srgbClr val="334155"/>
                </a:solidFill>
              </a:rPr>
              <a:t>EXAMPLES</a:t>
            </a:r>
            <a:endParaRPr lang="en-US" sz="750" dirty="0"/>
          </a:p>
        </p:txBody>
      </p:sp>
      <p:sp>
        <p:nvSpPr>
          <p:cNvPr id="30" name="Text 26"/>
          <p:cNvSpPr/>
          <p:nvPr/>
        </p:nvSpPr>
        <p:spPr>
          <a:xfrm>
            <a:off x="3300984" y="2788920"/>
            <a:ext cx="2523744" cy="1417320"/>
          </a:xfrm>
          <a:prstGeom prst="rect">
            <a:avLst/>
          </a:prstGeom>
          <a:noFill/>
          <a:ln/>
        </p:spPr>
        <p:txBody>
          <a:bodyPr wrap="square" lIns="0" tIns="0" rIns="0" bIns="0" rtlCol="0" anchor="ctr"/>
          <a:lstStyle/>
          <a:p>
            <a:pPr marL="342900" indent="-342900">
              <a:buSzPct val="100000"/>
              <a:buChar char="•"/>
            </a:pPr>
            <a:r>
              <a:rPr lang="en-US" sz="800" dirty="0">
                <a:solidFill>
                  <a:srgbClr val="64748B"/>
                </a:solidFill>
              </a:rPr>
              <a:t>Lead time &gt; 6 wks suppression in FF channel</a:t>
            </a:r>
            <a:endParaRPr lang="en-US" sz="800" dirty="0"/>
          </a:p>
          <a:p>
            <a:pPr marL="342900" indent="-342900">
              <a:buSzPct val="100000"/>
              <a:buChar char="•"/>
            </a:pPr>
            <a:r>
              <a:rPr lang="en-US" sz="800" dirty="0">
                <a:solidFill>
                  <a:srgbClr val="64748B"/>
                </a:solidFill>
              </a:rPr>
              <a:t>Luxury tier requires ≥ 1 option at £200+</a:t>
            </a:r>
            <a:endParaRPr lang="en-US" sz="800" dirty="0"/>
          </a:p>
          <a:p>
            <a:pPr marL="342900" indent="-342900">
              <a:buSzPct val="100000"/>
              <a:buChar char="•"/>
            </a:pPr>
            <a:r>
              <a:rPr lang="en-US" sz="800" dirty="0">
                <a:solidFill>
                  <a:srgbClr val="64748B"/>
                </a:solidFill>
              </a:rPr>
              <a:t>Phase WS call: push range plan to Size Opt.</a:t>
            </a:r>
            <a:endParaRPr lang="en-US" sz="800" dirty="0"/>
          </a:p>
          <a:p>
            <a:pPr marL="342900" indent="-342900">
              <a:buSzPct val="100000"/>
              <a:buChar char="•"/>
            </a:pPr>
            <a:r>
              <a:rPr lang="en-US" sz="800" dirty="0">
                <a:solidFill>
                  <a:srgbClr val="64748B"/>
                </a:solidFill>
              </a:rPr>
              <a:t>Phase WS call: pull market index before Strategy</a:t>
            </a:r>
            <a:endParaRPr lang="en-US" sz="800" dirty="0"/>
          </a:p>
          <a:p>
            <a:pPr marL="342900" indent="-342900">
              <a:buSzPct val="100000"/>
              <a:buChar char="•"/>
            </a:pPr>
            <a:r>
              <a:rPr lang="en-US" sz="800" dirty="0">
                <a:solidFill>
                  <a:srgbClr val="64748B"/>
                </a:solidFill>
              </a:rPr>
              <a:t>Map internal colour codes to platform taxonomy</a:t>
            </a:r>
            <a:endParaRPr lang="en-US" sz="800" dirty="0"/>
          </a:p>
          <a:p>
            <a:pPr marL="342900" indent="-342900">
              <a:buSzPct val="100000"/>
              <a:buChar char="•"/>
            </a:pPr>
            <a:r>
              <a:rPr lang="en-US" sz="800" dirty="0">
                <a:solidFill>
                  <a:srgbClr val="64748B"/>
                </a:solidFill>
              </a:rPr>
              <a:t>ERP field mapping in output transform hook</a:t>
            </a:r>
            <a:endParaRPr lang="en-US" sz="800" dirty="0"/>
          </a:p>
          <a:p>
            <a:pPr indent="0" marL="0">
              <a:buNone/>
            </a:pPr>
            <a:endParaRPr lang="en-US" sz="800" dirty="0"/>
          </a:p>
        </p:txBody>
      </p:sp>
      <p:sp>
        <p:nvSpPr>
          <p:cNvPr id="31" name="Shape 27"/>
          <p:cNvSpPr/>
          <p:nvPr/>
        </p:nvSpPr>
        <p:spPr>
          <a:xfrm>
            <a:off x="3273552" y="4325112"/>
            <a:ext cx="2578608" cy="292608"/>
          </a:xfrm>
          <a:prstGeom prst="rect">
            <a:avLst/>
          </a:prstGeom>
          <a:solidFill>
            <a:srgbClr val="D1FAE5"/>
          </a:solidFill>
          <a:ln w="9525">
            <a:solidFill>
              <a:srgbClr val="059669"/>
            </a:solidFill>
            <a:prstDash val="solid"/>
          </a:ln>
        </p:spPr>
      </p:sp>
      <p:sp>
        <p:nvSpPr>
          <p:cNvPr id="32" name="Text 28"/>
          <p:cNvSpPr/>
          <p:nvPr/>
        </p:nvSpPr>
        <p:spPr>
          <a:xfrm>
            <a:off x="3346704" y="4343400"/>
            <a:ext cx="2450592" cy="274320"/>
          </a:xfrm>
          <a:prstGeom prst="rect">
            <a:avLst/>
          </a:prstGeom>
          <a:noFill/>
          <a:ln/>
        </p:spPr>
        <p:txBody>
          <a:bodyPr wrap="square" lIns="0" tIns="0" rIns="0" bIns="0" rtlCol="0" anchor="ctr"/>
          <a:lstStyle/>
          <a:p>
            <a:pPr indent="0" marL="0">
              <a:buNone/>
            </a:pPr>
            <a:r>
              <a:rPr lang="en-US" sz="750" dirty="0">
                <a:solidFill>
                  <a:srgbClr val="334155"/>
                </a:solidFill>
              </a:rPr>
              <a:t>TEST: Unit tests required. Integration test against hook contract v{n}. Core engine mock provided by platform.</a:t>
            </a:r>
            <a:endParaRPr lang="en-US" sz="750" dirty="0"/>
          </a:p>
        </p:txBody>
      </p:sp>
      <p:sp>
        <p:nvSpPr>
          <p:cNvPr id="33" name="Shape 29"/>
          <p:cNvSpPr/>
          <p:nvPr/>
        </p:nvSpPr>
        <p:spPr>
          <a:xfrm>
            <a:off x="3273552" y="4636008"/>
            <a:ext cx="2578608" cy="274320"/>
          </a:xfrm>
          <a:prstGeom prst="rect">
            <a:avLst/>
          </a:prstGeom>
          <a:solidFill>
            <a:srgbClr val="FEF3C7"/>
          </a:solidFill>
          <a:ln w="9525">
            <a:solidFill>
              <a:srgbClr val="F59E0B"/>
            </a:solidFill>
            <a:prstDash val="solid"/>
          </a:ln>
        </p:spPr>
      </p:sp>
      <p:sp>
        <p:nvSpPr>
          <p:cNvPr id="34" name="Text 30"/>
          <p:cNvSpPr/>
          <p:nvPr/>
        </p:nvSpPr>
        <p:spPr>
          <a:xfrm>
            <a:off x="3346704" y="4654296"/>
            <a:ext cx="2450592" cy="256032"/>
          </a:xfrm>
          <a:prstGeom prst="rect">
            <a:avLst/>
          </a:prstGeom>
          <a:noFill/>
          <a:ln/>
        </p:spPr>
        <p:txBody>
          <a:bodyPr wrap="square" lIns="0" tIns="0" rIns="0" bIns="0" rtlCol="0" anchor="ctr"/>
          <a:lstStyle/>
          <a:p>
            <a:pPr indent="0" marL="0">
              <a:buNone/>
            </a:pPr>
            <a:r>
              <a:rPr lang="en-US" sz="750" dirty="0">
                <a:solidFill>
                  <a:srgbClr val="334155"/>
                </a:solidFill>
              </a:rPr>
              <a:t>RISK: Medium. Extension isolated in container. Core continues with fallback if hook fails.</a:t>
            </a:r>
            <a:endParaRPr lang="en-US" sz="750" dirty="0"/>
          </a:p>
        </p:txBody>
      </p:sp>
      <p:sp>
        <p:nvSpPr>
          <p:cNvPr id="35" name="Shape 31"/>
          <p:cNvSpPr/>
          <p:nvPr/>
        </p:nvSpPr>
        <p:spPr>
          <a:xfrm>
            <a:off x="6126480" y="777240"/>
            <a:ext cx="2798064" cy="4224528"/>
          </a:xfrm>
          <a:prstGeom prst="rect">
            <a:avLst/>
          </a:prstGeom>
          <a:solidFill>
            <a:srgbClr val="F7F9FC"/>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36" name="Shape 32"/>
          <p:cNvSpPr/>
          <p:nvPr/>
        </p:nvSpPr>
        <p:spPr>
          <a:xfrm>
            <a:off x="6126480" y="777240"/>
            <a:ext cx="2798064" cy="73152"/>
          </a:xfrm>
          <a:prstGeom prst="rect">
            <a:avLst/>
          </a:prstGeom>
          <a:solidFill>
            <a:srgbClr val="0F2044"/>
          </a:solidFill>
          <a:ln w="12700">
            <a:solidFill>
              <a:srgbClr val="0F2044"/>
            </a:solidFill>
            <a:prstDash val="solid"/>
          </a:ln>
        </p:spPr>
      </p:sp>
      <p:pic>
        <p:nvPicPr>
          <p:cNvPr id="37" name="Image 2" descr="preencoded.png"/>
          <p:cNvPicPr>
            <a:picLocks noChangeAspect="1"/>
          </p:cNvPicPr>
          <p:nvPr/>
        </p:nvPicPr>
        <p:blipFill>
          <a:blip r:embed="rId3"/>
          <a:stretch>
            <a:fillRect/>
          </a:stretch>
        </p:blipFill>
        <p:spPr>
          <a:xfrm>
            <a:off x="6291072" y="941832"/>
            <a:ext cx="347472" cy="347472"/>
          </a:xfrm>
          <a:prstGeom prst="rect">
            <a:avLst/>
          </a:prstGeom>
        </p:spPr>
      </p:pic>
      <p:sp>
        <p:nvSpPr>
          <p:cNvPr id="38" name="Text 33"/>
          <p:cNvSpPr/>
          <p:nvPr/>
        </p:nvSpPr>
        <p:spPr>
          <a:xfrm>
            <a:off x="6720840" y="941832"/>
            <a:ext cx="2011680" cy="256032"/>
          </a:xfrm>
          <a:prstGeom prst="rect">
            <a:avLst/>
          </a:prstGeom>
          <a:noFill/>
          <a:ln/>
        </p:spPr>
        <p:txBody>
          <a:bodyPr wrap="square" lIns="0" tIns="0" rIns="0" bIns="0" rtlCol="0" anchor="ctr"/>
          <a:lstStyle/>
          <a:p>
            <a:pPr indent="0" marL="0">
              <a:buNone/>
            </a:pPr>
            <a:r>
              <a:rPr lang="en-US" sz="1100" b="1" dirty="0">
                <a:solidFill>
                  <a:srgbClr val="0F2044"/>
                </a:solidFill>
              </a:rPr>
              <a:t>CORE ENGINE</a:t>
            </a:r>
            <a:endParaRPr lang="en-US" sz="1100" dirty="0"/>
          </a:p>
        </p:txBody>
      </p:sp>
      <p:sp>
        <p:nvSpPr>
          <p:cNvPr id="39" name="Text 34"/>
          <p:cNvSpPr/>
          <p:nvPr/>
        </p:nvSpPr>
        <p:spPr>
          <a:xfrm>
            <a:off x="6720840" y="1216152"/>
            <a:ext cx="2011680" cy="256032"/>
          </a:xfrm>
          <a:prstGeom prst="rect">
            <a:avLst/>
          </a:prstGeom>
          <a:noFill/>
          <a:ln/>
        </p:spPr>
        <p:txBody>
          <a:bodyPr wrap="square" lIns="0" tIns="0" rIns="0" bIns="0" rtlCol="0" anchor="ctr"/>
          <a:lstStyle/>
          <a:p>
            <a:pPr indent="0" marL="0">
              <a:buNone/>
            </a:pPr>
            <a:r>
              <a:rPr lang="en-US" sz="850" dirty="0">
                <a:solidFill>
                  <a:srgbClr val="64748B"/>
                </a:solidFill>
              </a:rPr>
              <a:t>Universal logic — platform team only</a:t>
            </a:r>
            <a:endParaRPr lang="en-US" sz="850" dirty="0"/>
          </a:p>
        </p:txBody>
      </p:sp>
      <p:sp>
        <p:nvSpPr>
          <p:cNvPr id="40" name="Shape 35"/>
          <p:cNvSpPr/>
          <p:nvPr/>
        </p:nvSpPr>
        <p:spPr>
          <a:xfrm>
            <a:off x="6263640" y="1554480"/>
            <a:ext cx="2523744" cy="0"/>
          </a:xfrm>
          <a:prstGeom prst="line">
            <a:avLst/>
          </a:prstGeom>
          <a:noFill/>
          <a:ln w="9525">
            <a:solidFill>
              <a:srgbClr val="E2E8F0"/>
            </a:solidFill>
            <a:prstDash val="solid"/>
          </a:ln>
        </p:spPr>
      </p:sp>
      <p:sp>
        <p:nvSpPr>
          <p:cNvPr id="41" name="Text 36"/>
          <p:cNvSpPr/>
          <p:nvPr/>
        </p:nvSpPr>
        <p:spPr>
          <a:xfrm>
            <a:off x="6263640" y="1636776"/>
            <a:ext cx="2523744" cy="182880"/>
          </a:xfrm>
          <a:prstGeom prst="rect">
            <a:avLst/>
          </a:prstGeom>
          <a:noFill/>
          <a:ln/>
        </p:spPr>
        <p:txBody>
          <a:bodyPr wrap="square" lIns="0" tIns="0" rIns="0" bIns="0" rtlCol="0" anchor="ctr"/>
          <a:lstStyle/>
          <a:p>
            <a:pPr indent="0" marL="0">
              <a:buNone/>
            </a:pPr>
            <a:r>
              <a:rPr lang="en-US" sz="750" b="1" spc="100" kern="0" dirty="0">
                <a:solidFill>
                  <a:srgbClr val="334155"/>
                </a:solidFill>
              </a:rPr>
              <a:t>DEPLOY PATH</a:t>
            </a:r>
            <a:endParaRPr lang="en-US" sz="750" dirty="0"/>
          </a:p>
        </p:txBody>
      </p:sp>
      <p:sp>
        <p:nvSpPr>
          <p:cNvPr id="42" name="Text 37"/>
          <p:cNvSpPr/>
          <p:nvPr/>
        </p:nvSpPr>
        <p:spPr>
          <a:xfrm>
            <a:off x="6263640" y="1828800"/>
            <a:ext cx="2523744" cy="658368"/>
          </a:xfrm>
          <a:prstGeom prst="rect">
            <a:avLst/>
          </a:prstGeom>
          <a:noFill/>
          <a:ln/>
        </p:spPr>
        <p:txBody>
          <a:bodyPr wrap="square" lIns="0" tIns="0" rIns="0" bIns="0" rtlCol="0" anchor="ctr"/>
          <a:lstStyle/>
          <a:p>
            <a:pPr indent="0" marL="0">
              <a:buNone/>
            </a:pPr>
            <a:r>
              <a:rPr lang="en-US" sz="800" dirty="0">
                <a:solidFill>
                  <a:srgbClr val="64748B"/>
                </a:solidFill>
              </a:rPr>
              <a:t>Platform engineering → PR review → Full regression suite (all retailer configs × all hook implementations) → Staged rollout with canary → Blue/green deploy per tenant</a:t>
            </a:r>
            <a:endParaRPr lang="en-US" sz="800" dirty="0"/>
          </a:p>
        </p:txBody>
      </p:sp>
      <p:sp>
        <p:nvSpPr>
          <p:cNvPr id="43" name="Shape 38"/>
          <p:cNvSpPr/>
          <p:nvPr/>
        </p:nvSpPr>
        <p:spPr>
          <a:xfrm>
            <a:off x="6263640" y="2514600"/>
            <a:ext cx="2523744" cy="0"/>
          </a:xfrm>
          <a:prstGeom prst="line">
            <a:avLst/>
          </a:prstGeom>
          <a:noFill/>
          <a:ln w="9525">
            <a:solidFill>
              <a:srgbClr val="E2E8F0"/>
            </a:solidFill>
            <a:prstDash val="solid"/>
          </a:ln>
        </p:spPr>
      </p:sp>
      <p:sp>
        <p:nvSpPr>
          <p:cNvPr id="44" name="Text 39"/>
          <p:cNvSpPr/>
          <p:nvPr/>
        </p:nvSpPr>
        <p:spPr>
          <a:xfrm>
            <a:off x="6263640" y="2587752"/>
            <a:ext cx="2523744" cy="182880"/>
          </a:xfrm>
          <a:prstGeom prst="rect">
            <a:avLst/>
          </a:prstGeom>
          <a:noFill/>
          <a:ln/>
        </p:spPr>
        <p:txBody>
          <a:bodyPr wrap="square" lIns="0" tIns="0" rIns="0" bIns="0" rtlCol="0" anchor="ctr"/>
          <a:lstStyle/>
          <a:p>
            <a:pPr indent="0" marL="0">
              <a:buNone/>
            </a:pPr>
            <a:r>
              <a:rPr lang="en-US" sz="750" b="1" spc="100" kern="0" dirty="0">
                <a:solidFill>
                  <a:srgbClr val="334155"/>
                </a:solidFill>
              </a:rPr>
              <a:t>EXAMPLES</a:t>
            </a:r>
            <a:endParaRPr lang="en-US" sz="750" dirty="0"/>
          </a:p>
        </p:txBody>
      </p:sp>
      <p:sp>
        <p:nvSpPr>
          <p:cNvPr id="45" name="Text 40"/>
          <p:cNvSpPr/>
          <p:nvPr/>
        </p:nvSpPr>
        <p:spPr>
          <a:xfrm>
            <a:off x="6263640" y="2788920"/>
            <a:ext cx="2523744" cy="1417320"/>
          </a:xfrm>
          <a:prstGeom prst="rect">
            <a:avLst/>
          </a:prstGeom>
          <a:noFill/>
          <a:ln/>
        </p:spPr>
        <p:txBody>
          <a:bodyPr wrap="square" lIns="0" tIns="0" rIns="0" bIns="0" rtlCol="0" anchor="ctr"/>
          <a:lstStyle/>
          <a:p>
            <a:pPr marL="342900" indent="-342900">
              <a:buSzPct val="100000"/>
              <a:buChar char="•"/>
            </a:pPr>
            <a:r>
              <a:rPr lang="en-US" sz="800" dirty="0">
                <a:solidFill>
                  <a:srgbClr val="64748B"/>
                </a:solidFill>
              </a:rPr>
              <a:t>History optimisation algorithm improvement</a:t>
            </a:r>
            <a:endParaRPr lang="en-US" sz="800" dirty="0"/>
          </a:p>
          <a:p>
            <a:pPr marL="342900" indent="-342900">
              <a:buSzPct val="100000"/>
              <a:buChar char="•"/>
            </a:pPr>
            <a:r>
              <a:rPr lang="en-US" sz="800" dirty="0">
                <a:solidFill>
                  <a:srgbClr val="64748B"/>
                </a:solidFill>
              </a:rPr>
              <a:t>New OLAP cube aggregation dimension</a:t>
            </a:r>
            <a:endParaRPr lang="en-US" sz="800" dirty="0"/>
          </a:p>
          <a:p>
            <a:pPr marL="342900" indent="-342900">
              <a:buSzPct val="100000"/>
              <a:buChar char="•"/>
            </a:pPr>
            <a:r>
              <a:rPr lang="en-US" sz="800" dirty="0">
                <a:solidFill>
                  <a:srgbClr val="64748B"/>
                </a:solidFill>
              </a:rPr>
              <a:t>Buy quantity engine update (new research)</a:t>
            </a:r>
            <a:endParaRPr lang="en-US" sz="800" dirty="0"/>
          </a:p>
          <a:p>
            <a:pPr marL="342900" indent="-342900">
              <a:buSzPct val="100000"/>
              <a:buChar char="•"/>
            </a:pPr>
            <a:r>
              <a:rPr lang="en-US" sz="800" dirty="0">
                <a:solidFill>
                  <a:srgbClr val="64748B"/>
                </a:solidFill>
              </a:rPr>
              <a:t>New hook point added to pipeline</a:t>
            </a:r>
            <a:endParaRPr lang="en-US" sz="800" dirty="0"/>
          </a:p>
          <a:p>
            <a:pPr marL="342900" indent="-342900">
              <a:buSzPct val="100000"/>
              <a:buChar char="•"/>
            </a:pPr>
            <a:r>
              <a:rPr lang="en-US" sz="800" dirty="0">
                <a:solidFill>
                  <a:srgbClr val="64748B"/>
                </a:solidFill>
              </a:rPr>
              <a:t>Learning model architecture change</a:t>
            </a:r>
            <a:endParaRPr lang="en-US" sz="800" dirty="0"/>
          </a:p>
          <a:p>
            <a:pPr marL="342900" indent="-342900">
              <a:buSzPct val="100000"/>
              <a:buChar char="•"/>
            </a:pPr>
            <a:r>
              <a:rPr lang="en-US" sz="800" dirty="0">
                <a:solidFill>
                  <a:srgbClr val="64748B"/>
                </a:solidFill>
              </a:rPr>
              <a:t>Hook contract version bump + deprecation</a:t>
            </a:r>
            <a:endParaRPr lang="en-US" sz="800" dirty="0"/>
          </a:p>
          <a:p>
            <a:pPr indent="0" marL="0">
              <a:buNone/>
            </a:pPr>
            <a:endParaRPr lang="en-US" sz="800" dirty="0"/>
          </a:p>
        </p:txBody>
      </p:sp>
      <p:sp>
        <p:nvSpPr>
          <p:cNvPr id="46" name="Shape 41"/>
          <p:cNvSpPr/>
          <p:nvPr/>
        </p:nvSpPr>
        <p:spPr>
          <a:xfrm>
            <a:off x="6236208" y="4325112"/>
            <a:ext cx="2578608" cy="292608"/>
          </a:xfrm>
          <a:prstGeom prst="rect">
            <a:avLst/>
          </a:prstGeom>
          <a:solidFill>
            <a:srgbClr val="D1FAE5"/>
          </a:solidFill>
          <a:ln w="9525">
            <a:solidFill>
              <a:srgbClr val="059669"/>
            </a:solidFill>
            <a:prstDash val="solid"/>
          </a:ln>
        </p:spPr>
      </p:sp>
      <p:sp>
        <p:nvSpPr>
          <p:cNvPr id="47" name="Text 42"/>
          <p:cNvSpPr/>
          <p:nvPr/>
        </p:nvSpPr>
        <p:spPr>
          <a:xfrm>
            <a:off x="6309360" y="4343400"/>
            <a:ext cx="2450592" cy="274320"/>
          </a:xfrm>
          <a:prstGeom prst="rect">
            <a:avLst/>
          </a:prstGeom>
          <a:noFill/>
          <a:ln/>
        </p:spPr>
        <p:txBody>
          <a:bodyPr wrap="square" lIns="0" tIns="0" rIns="0" bIns="0" rtlCol="0" anchor="ctr"/>
          <a:lstStyle/>
          <a:p>
            <a:pPr indent="0" marL="0">
              <a:buNone/>
            </a:pPr>
            <a:r>
              <a:rPr lang="en-US" sz="750" dirty="0">
                <a:solidFill>
                  <a:srgbClr val="334155"/>
                </a:solidFill>
              </a:rPr>
              <a:t>TEST: Full test suite. All existing retailer extensions must pass in CI before merge. Backward compat required.</a:t>
            </a:r>
            <a:endParaRPr lang="en-US" sz="750" dirty="0"/>
          </a:p>
        </p:txBody>
      </p:sp>
      <p:sp>
        <p:nvSpPr>
          <p:cNvPr id="48" name="Shape 43"/>
          <p:cNvSpPr/>
          <p:nvPr/>
        </p:nvSpPr>
        <p:spPr>
          <a:xfrm>
            <a:off x="6236208" y="4636008"/>
            <a:ext cx="2578608" cy="274320"/>
          </a:xfrm>
          <a:prstGeom prst="rect">
            <a:avLst/>
          </a:prstGeom>
          <a:solidFill>
            <a:srgbClr val="FEF3C7"/>
          </a:solidFill>
          <a:ln w="9525">
            <a:solidFill>
              <a:srgbClr val="F59E0B"/>
            </a:solidFill>
            <a:prstDash val="solid"/>
          </a:ln>
        </p:spPr>
      </p:sp>
      <p:sp>
        <p:nvSpPr>
          <p:cNvPr id="49" name="Text 44"/>
          <p:cNvSpPr/>
          <p:nvPr/>
        </p:nvSpPr>
        <p:spPr>
          <a:xfrm>
            <a:off x="6309360" y="4654296"/>
            <a:ext cx="2450592" cy="256032"/>
          </a:xfrm>
          <a:prstGeom prst="rect">
            <a:avLst/>
          </a:prstGeom>
          <a:noFill/>
          <a:ln/>
        </p:spPr>
        <p:txBody>
          <a:bodyPr wrap="square" lIns="0" tIns="0" rIns="0" bIns="0" rtlCol="0" anchor="ctr"/>
          <a:lstStyle/>
          <a:p>
            <a:pPr indent="0" marL="0">
              <a:buNone/>
            </a:pPr>
            <a:r>
              <a:rPr lang="en-US" sz="750" dirty="0">
                <a:solidFill>
                  <a:srgbClr val="334155"/>
                </a:solidFill>
              </a:rPr>
              <a:t>RISK: High. Any change impacts all retailers. Requires deprecation cycle for hook contract changes.</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F2044"/>
          </a:solidFill>
          <a:ln w="12700">
            <a:solidFill>
              <a:srgbClr val="0F2044"/>
            </a:solidFill>
            <a:prstDash val="solid"/>
          </a:ln>
        </p:spPr>
      </p:sp>
      <p:sp>
        <p:nvSpPr>
          <p:cNvPr id="3" name="Shape 1"/>
          <p:cNvSpPr/>
          <p:nvPr/>
        </p:nvSpPr>
        <p:spPr>
          <a:xfrm>
            <a:off x="0" y="0"/>
            <a:ext cx="292608" cy="658368"/>
          </a:xfrm>
          <a:prstGeom prst="rect">
            <a:avLst/>
          </a:prstGeom>
          <a:solidFill>
            <a:srgbClr val="0D7377"/>
          </a:solidFill>
          <a:ln w="12700">
            <a:solidFill>
              <a:srgbClr val="0D7377"/>
            </a:solidFill>
            <a:prstDash val="solid"/>
          </a:ln>
        </p:spPr>
      </p:sp>
      <p:sp>
        <p:nvSpPr>
          <p:cNvPr id="4" name="Text 2"/>
          <p:cNvSpPr/>
          <p:nvPr/>
        </p:nvSpPr>
        <p:spPr>
          <a:xfrm>
            <a:off x="420624" y="0"/>
            <a:ext cx="5486400" cy="329184"/>
          </a:xfrm>
          <a:prstGeom prst="rect">
            <a:avLst/>
          </a:prstGeom>
          <a:noFill/>
          <a:ln/>
        </p:spPr>
        <p:txBody>
          <a:bodyPr wrap="square" lIns="0" tIns="0" rIns="0" bIns="0" rtlCol="0" anchor="b"/>
          <a:lstStyle/>
          <a:p>
            <a:pPr indent="0" marL="0">
              <a:buNone/>
            </a:pPr>
            <a:r>
              <a:rPr lang="en-US" sz="750" b="1" spc="200" kern="0" dirty="0">
                <a:solidFill>
                  <a:srgbClr val="94A3B8"/>
                </a:solidFill>
              </a:rPr>
              <a:t>APPENDIX  ·  NON-FUNCTIONAL REQUIREMENTS</a:t>
            </a:r>
            <a:endParaRPr lang="en-US" sz="750" dirty="0"/>
          </a:p>
        </p:txBody>
      </p:sp>
      <p:sp>
        <p:nvSpPr>
          <p:cNvPr id="5" name="Text 3"/>
          <p:cNvSpPr/>
          <p:nvPr/>
        </p:nvSpPr>
        <p:spPr>
          <a:xfrm>
            <a:off x="420624" y="320040"/>
            <a:ext cx="6400800" cy="310896"/>
          </a:xfrm>
          <a:prstGeom prst="rect">
            <a:avLst/>
          </a:prstGeom>
          <a:noFill/>
          <a:ln/>
        </p:spPr>
        <p:txBody>
          <a:bodyPr wrap="square" lIns="0" tIns="0" rIns="0" bIns="0" rtlCol="0" anchor="t"/>
          <a:lstStyle/>
          <a:p>
            <a:pPr indent="0" marL="0">
              <a:buNone/>
            </a:pPr>
            <a:r>
              <a:rPr lang="en-US" sz="1200" b="1" dirty="0">
                <a:solidFill>
                  <a:srgbClr val="FFFFFF"/>
                </a:solidFill>
              </a:rPr>
              <a:t>NFR-01  ·  Performance &amp; Scalability</a:t>
            </a:r>
            <a:endParaRPr lang="en-US" sz="1200" dirty="0"/>
          </a:p>
        </p:txBody>
      </p:sp>
      <p:sp>
        <p:nvSpPr>
          <p:cNvPr id="6" name="Text 4"/>
          <p:cNvSpPr/>
          <p:nvPr/>
        </p:nvSpPr>
        <p:spPr>
          <a:xfrm>
            <a:off x="7863840" y="0"/>
            <a:ext cx="1097280" cy="658368"/>
          </a:xfrm>
          <a:prstGeom prst="rect">
            <a:avLst/>
          </a:prstGeom>
          <a:noFill/>
          <a:ln/>
        </p:spPr>
        <p:txBody>
          <a:bodyPr wrap="square" lIns="0" tIns="0" rIns="0" bIns="0" rtlCol="0" anchor="ctr"/>
          <a:lstStyle/>
          <a:p>
            <a:pPr algn="r" indent="0" marL="0">
              <a:buNone/>
            </a:pPr>
            <a:r>
              <a:rPr lang="en-US" sz="900" dirty="0">
                <a:solidFill>
                  <a:srgbClr val="94A3B8"/>
                </a:solidFill>
              </a:rPr>
              <a:t>NFR-01</a:t>
            </a:r>
            <a:endParaRPr lang="en-US" sz="900" dirty="0"/>
          </a:p>
        </p:txBody>
      </p:sp>
      <p:sp>
        <p:nvSpPr>
          <p:cNvPr id="7" name="Shape 5"/>
          <p:cNvSpPr/>
          <p:nvPr/>
        </p:nvSpPr>
        <p:spPr>
          <a:xfrm>
            <a:off x="201168" y="804672"/>
            <a:ext cx="8741664" cy="256032"/>
          </a:xfrm>
          <a:prstGeom prst="rect">
            <a:avLst/>
          </a:prstGeom>
          <a:solidFill>
            <a:srgbClr val="334155"/>
          </a:solidFill>
          <a:ln w="12700">
            <a:solidFill>
              <a:srgbClr val="334155"/>
            </a:solidFill>
            <a:prstDash val="solid"/>
          </a:ln>
        </p:spPr>
      </p:sp>
      <p:sp>
        <p:nvSpPr>
          <p:cNvPr id="8" name="Text 6"/>
          <p:cNvSpPr/>
          <p:nvPr/>
        </p:nvSpPr>
        <p:spPr>
          <a:xfrm>
            <a:off x="320040" y="804672"/>
            <a:ext cx="8412480" cy="256032"/>
          </a:xfrm>
          <a:prstGeom prst="rect">
            <a:avLst/>
          </a:prstGeom>
          <a:noFill/>
          <a:ln/>
        </p:spPr>
        <p:txBody>
          <a:bodyPr wrap="square" lIns="0" tIns="0" rIns="0" bIns="0" rtlCol="0" anchor="ctr"/>
          <a:lstStyle/>
          <a:p>
            <a:pPr indent="0" marL="0">
              <a:buNone/>
            </a:pPr>
            <a:r>
              <a:rPr lang="en-US" sz="850" b="1" spc="200" kern="0" dirty="0">
                <a:solidFill>
                  <a:srgbClr val="FFFFFF"/>
                </a:solidFill>
              </a:rPr>
              <a:t>RESPONSE TIME TARGETS — BY LAYER</a:t>
            </a:r>
            <a:endParaRPr lang="en-US" sz="850" dirty="0"/>
          </a:p>
        </p:txBody>
      </p:sp>
      <p:sp>
        <p:nvSpPr>
          <p:cNvPr id="9" name="Shape 7"/>
          <p:cNvSpPr/>
          <p:nvPr/>
        </p:nvSpPr>
        <p:spPr>
          <a:xfrm>
            <a:off x="201168" y="1060704"/>
            <a:ext cx="8741664" cy="237744"/>
          </a:xfrm>
          <a:prstGeom prst="rect">
            <a:avLst/>
          </a:prstGeom>
          <a:solidFill>
            <a:srgbClr val="0F2044"/>
          </a:solidFill>
          <a:ln w="12700">
            <a:solidFill>
              <a:srgbClr val="0F2044"/>
            </a:solidFill>
            <a:prstDash val="solid"/>
          </a:ln>
        </p:spPr>
      </p:sp>
      <p:sp>
        <p:nvSpPr>
          <p:cNvPr id="10" name="Text 8"/>
          <p:cNvSpPr/>
          <p:nvPr/>
        </p:nvSpPr>
        <p:spPr>
          <a:xfrm>
            <a:off x="256032" y="1060704"/>
            <a:ext cx="2834640" cy="237744"/>
          </a:xfrm>
          <a:prstGeom prst="rect">
            <a:avLst/>
          </a:prstGeom>
          <a:noFill/>
          <a:ln/>
        </p:spPr>
        <p:txBody>
          <a:bodyPr wrap="square" lIns="0" tIns="0" rIns="0" bIns="0" rtlCol="0" anchor="ctr"/>
          <a:lstStyle/>
          <a:p>
            <a:pPr indent="0" marL="0">
              <a:buNone/>
            </a:pPr>
            <a:r>
              <a:rPr lang="en-US" sz="750" b="1" dirty="0">
                <a:solidFill>
                  <a:srgbClr val="FFFFFF"/>
                </a:solidFill>
              </a:rPr>
              <a:t>LAYER / OPERATION</a:t>
            </a:r>
            <a:endParaRPr lang="en-US" sz="750" dirty="0"/>
          </a:p>
        </p:txBody>
      </p:sp>
      <p:sp>
        <p:nvSpPr>
          <p:cNvPr id="11" name="Text 9"/>
          <p:cNvSpPr/>
          <p:nvPr/>
        </p:nvSpPr>
        <p:spPr>
          <a:xfrm>
            <a:off x="3090672" y="1060704"/>
            <a:ext cx="749808" cy="237744"/>
          </a:xfrm>
          <a:prstGeom prst="rect">
            <a:avLst/>
          </a:prstGeom>
          <a:noFill/>
          <a:ln/>
        </p:spPr>
        <p:txBody>
          <a:bodyPr wrap="square" lIns="0" tIns="0" rIns="0" bIns="0" rtlCol="0" anchor="ctr"/>
          <a:lstStyle/>
          <a:p>
            <a:pPr indent="0" marL="0">
              <a:buNone/>
            </a:pPr>
            <a:r>
              <a:rPr lang="en-US" sz="750" b="1" dirty="0">
                <a:solidFill>
                  <a:srgbClr val="FFFFFF"/>
                </a:solidFill>
              </a:rPr>
              <a:t>TARGET</a:t>
            </a:r>
            <a:endParaRPr lang="en-US" sz="750" dirty="0"/>
          </a:p>
        </p:txBody>
      </p:sp>
      <p:sp>
        <p:nvSpPr>
          <p:cNvPr id="12" name="Text 10"/>
          <p:cNvSpPr/>
          <p:nvPr/>
        </p:nvSpPr>
        <p:spPr>
          <a:xfrm>
            <a:off x="3840480" y="1060704"/>
            <a:ext cx="1298448" cy="237744"/>
          </a:xfrm>
          <a:prstGeom prst="rect">
            <a:avLst/>
          </a:prstGeom>
          <a:noFill/>
          <a:ln/>
        </p:spPr>
        <p:txBody>
          <a:bodyPr wrap="square" lIns="0" tIns="0" rIns="0" bIns="0" rtlCol="0" anchor="ctr"/>
          <a:lstStyle/>
          <a:p>
            <a:pPr indent="0" marL="0">
              <a:buNone/>
            </a:pPr>
            <a:r>
              <a:rPr lang="en-US" sz="750" b="1" dirty="0">
                <a:solidFill>
                  <a:srgbClr val="FFFFFF"/>
                </a:solidFill>
              </a:rPr>
              <a:t>OWNER</a:t>
            </a:r>
            <a:endParaRPr lang="en-US" sz="750" dirty="0"/>
          </a:p>
        </p:txBody>
      </p:sp>
      <p:sp>
        <p:nvSpPr>
          <p:cNvPr id="13" name="Text 11"/>
          <p:cNvSpPr/>
          <p:nvPr/>
        </p:nvSpPr>
        <p:spPr>
          <a:xfrm>
            <a:off x="5138928" y="1060704"/>
            <a:ext cx="3291840" cy="237744"/>
          </a:xfrm>
          <a:prstGeom prst="rect">
            <a:avLst/>
          </a:prstGeom>
          <a:noFill/>
          <a:ln/>
        </p:spPr>
        <p:txBody>
          <a:bodyPr wrap="square" lIns="0" tIns="0" rIns="0" bIns="0" rtlCol="0" anchor="ctr"/>
          <a:lstStyle/>
          <a:p>
            <a:pPr indent="0" marL="0">
              <a:buNone/>
            </a:pPr>
            <a:r>
              <a:rPr lang="en-US" sz="750" b="1" dirty="0">
                <a:solidFill>
                  <a:srgbClr val="FFFFFF"/>
                </a:solidFill>
              </a:rPr>
              <a:t>HOW THE ARCHITECTURE DELIVERS IT</a:t>
            </a:r>
            <a:endParaRPr lang="en-US" sz="750" dirty="0"/>
          </a:p>
        </p:txBody>
      </p:sp>
      <p:sp>
        <p:nvSpPr>
          <p:cNvPr id="14" name="Text 12"/>
          <p:cNvSpPr/>
          <p:nvPr/>
        </p:nvSpPr>
        <p:spPr>
          <a:xfrm>
            <a:off x="8430768" y="1060704"/>
            <a:ext cx="475488" cy="237744"/>
          </a:xfrm>
          <a:prstGeom prst="rect">
            <a:avLst/>
          </a:prstGeom>
          <a:noFill/>
          <a:ln/>
        </p:spPr>
        <p:txBody>
          <a:bodyPr wrap="square" lIns="0" tIns="0" rIns="0" bIns="0" rtlCol="0" anchor="ctr"/>
          <a:lstStyle/>
          <a:p>
            <a:pPr indent="0" marL="0">
              <a:buNone/>
            </a:pPr>
            <a:endParaRPr lang="en-US" sz="750" dirty="0"/>
          </a:p>
        </p:txBody>
      </p:sp>
      <p:sp>
        <p:nvSpPr>
          <p:cNvPr id="15" name="Shape 13"/>
          <p:cNvSpPr/>
          <p:nvPr/>
        </p:nvSpPr>
        <p:spPr>
          <a:xfrm>
            <a:off x="201168" y="1298448"/>
            <a:ext cx="8741664" cy="448056"/>
          </a:xfrm>
          <a:prstGeom prst="rect">
            <a:avLst/>
          </a:prstGeom>
          <a:solidFill>
            <a:srgbClr val="FFFFFF"/>
          </a:solidFill>
          <a:ln w="6350">
            <a:solidFill>
              <a:srgbClr val="E2E8F0"/>
            </a:solidFill>
            <a:prstDash val="solid"/>
          </a:ln>
        </p:spPr>
      </p:sp>
      <p:sp>
        <p:nvSpPr>
          <p:cNvPr id="16" name="Text 14"/>
          <p:cNvSpPr/>
          <p:nvPr/>
        </p:nvSpPr>
        <p:spPr>
          <a:xfrm>
            <a:off x="256032" y="1353312"/>
            <a:ext cx="2743200" cy="347472"/>
          </a:xfrm>
          <a:prstGeom prst="rect">
            <a:avLst/>
          </a:prstGeom>
          <a:noFill/>
          <a:ln/>
        </p:spPr>
        <p:txBody>
          <a:bodyPr wrap="square" lIns="0" tIns="0" rIns="0" bIns="0" rtlCol="0" anchor="ctr"/>
          <a:lstStyle/>
          <a:p>
            <a:pPr indent="0" marL="0">
              <a:buNone/>
            </a:pPr>
            <a:r>
              <a:rPr lang="en-US" sz="800" b="1" dirty="0">
                <a:solidFill>
                  <a:srgbClr val="334155"/>
                </a:solidFill>
              </a:rPr>
              <a:t>OLAP Grid — pivot / roll-up / drill-down</a:t>
            </a:r>
            <a:endParaRPr lang="en-US" sz="800" dirty="0"/>
          </a:p>
        </p:txBody>
      </p:sp>
      <p:sp>
        <p:nvSpPr>
          <p:cNvPr id="17" name="Text 15"/>
          <p:cNvSpPr/>
          <p:nvPr/>
        </p:nvSpPr>
        <p:spPr>
          <a:xfrm>
            <a:off x="3090672" y="1353312"/>
            <a:ext cx="658368" cy="347472"/>
          </a:xfrm>
          <a:prstGeom prst="rect">
            <a:avLst/>
          </a:prstGeom>
          <a:noFill/>
          <a:ln/>
        </p:spPr>
        <p:txBody>
          <a:bodyPr wrap="square" lIns="0" tIns="0" rIns="0" bIns="0" rtlCol="0" anchor="ctr"/>
          <a:lstStyle/>
          <a:p>
            <a:pPr indent="0" marL="0">
              <a:buNone/>
            </a:pPr>
            <a:r>
              <a:rPr lang="en-US" sz="900" b="1" dirty="0">
                <a:solidFill>
                  <a:srgbClr val="059669"/>
                </a:solidFill>
              </a:rPr>
              <a:t>&lt; 500 ms</a:t>
            </a:r>
            <a:endParaRPr lang="en-US" sz="900" dirty="0"/>
          </a:p>
        </p:txBody>
      </p:sp>
      <p:sp>
        <p:nvSpPr>
          <p:cNvPr id="18" name="Text 16"/>
          <p:cNvSpPr/>
          <p:nvPr/>
        </p:nvSpPr>
        <p:spPr>
          <a:xfrm>
            <a:off x="3840480" y="1353312"/>
            <a:ext cx="1207008" cy="347472"/>
          </a:xfrm>
          <a:prstGeom prst="rect">
            <a:avLst/>
          </a:prstGeom>
          <a:noFill/>
          <a:ln/>
        </p:spPr>
        <p:txBody>
          <a:bodyPr wrap="square" lIns="0" tIns="0" rIns="0" bIns="0" rtlCol="0" anchor="ctr"/>
          <a:lstStyle/>
          <a:p>
            <a:pPr indent="0" marL="0">
              <a:buNone/>
            </a:pPr>
            <a:r>
              <a:rPr lang="en-US" sz="750" dirty="0">
                <a:solidFill>
                  <a:srgbClr val="64748B"/>
                </a:solidFill>
              </a:rPr>
              <a:t>Semantic / cube layer</a:t>
            </a:r>
            <a:endParaRPr lang="en-US" sz="750" dirty="0"/>
          </a:p>
        </p:txBody>
      </p:sp>
      <p:sp>
        <p:nvSpPr>
          <p:cNvPr id="19" name="Text 17"/>
          <p:cNvSpPr/>
          <p:nvPr/>
        </p:nvSpPr>
        <p:spPr>
          <a:xfrm>
            <a:off x="5138928" y="1335024"/>
            <a:ext cx="3200400" cy="384048"/>
          </a:xfrm>
          <a:prstGeom prst="rect">
            <a:avLst/>
          </a:prstGeom>
          <a:noFill/>
          <a:ln/>
        </p:spPr>
        <p:txBody>
          <a:bodyPr wrap="square" lIns="0" tIns="0" rIns="0" bIns="0" rtlCol="0" anchor="ctr"/>
          <a:lstStyle/>
          <a:p>
            <a:pPr indent="0" marL="0">
              <a:buNone/>
            </a:pPr>
            <a:r>
              <a:rPr lang="en-US" sz="750" dirty="0">
                <a:solidFill>
                  <a:srgbClr val="64748B"/>
                </a:solidFill>
              </a:rPr>
              <a:t>Pre-aggregated MOLAP cube. Planner actions hit cube, not transactional DB. Cube invalidated async on commit.</a:t>
            </a:r>
            <a:endParaRPr lang="en-US" sz="750" dirty="0"/>
          </a:p>
        </p:txBody>
      </p:sp>
      <p:sp>
        <p:nvSpPr>
          <p:cNvPr id="20" name="Shape 18"/>
          <p:cNvSpPr/>
          <p:nvPr/>
        </p:nvSpPr>
        <p:spPr>
          <a:xfrm>
            <a:off x="8513064" y="1453896"/>
            <a:ext cx="146304" cy="146304"/>
          </a:xfrm>
          <a:prstGeom prst="ellipse">
            <a:avLst/>
          </a:prstGeom>
          <a:solidFill>
            <a:srgbClr val="059669"/>
          </a:solidFill>
          <a:ln w="12700">
            <a:solidFill>
              <a:srgbClr val="059669"/>
            </a:solidFill>
            <a:prstDash val="solid"/>
          </a:ln>
        </p:spPr>
      </p:sp>
      <p:sp>
        <p:nvSpPr>
          <p:cNvPr id="21" name="Shape 19"/>
          <p:cNvSpPr/>
          <p:nvPr/>
        </p:nvSpPr>
        <p:spPr>
          <a:xfrm>
            <a:off x="201168" y="1746504"/>
            <a:ext cx="8741664" cy="448056"/>
          </a:xfrm>
          <a:prstGeom prst="rect">
            <a:avLst/>
          </a:prstGeom>
          <a:solidFill>
            <a:srgbClr val="F7F9FC"/>
          </a:solidFill>
          <a:ln w="6350">
            <a:solidFill>
              <a:srgbClr val="E2E8F0"/>
            </a:solidFill>
            <a:prstDash val="solid"/>
          </a:ln>
        </p:spPr>
      </p:sp>
      <p:sp>
        <p:nvSpPr>
          <p:cNvPr id="22" name="Text 20"/>
          <p:cNvSpPr/>
          <p:nvPr/>
        </p:nvSpPr>
        <p:spPr>
          <a:xfrm>
            <a:off x="256032" y="1801368"/>
            <a:ext cx="2743200" cy="347472"/>
          </a:xfrm>
          <a:prstGeom prst="rect">
            <a:avLst/>
          </a:prstGeom>
          <a:noFill/>
          <a:ln/>
        </p:spPr>
        <p:txBody>
          <a:bodyPr wrap="square" lIns="0" tIns="0" rIns="0" bIns="0" rtlCol="0" anchor="ctr"/>
          <a:lstStyle/>
          <a:p>
            <a:pPr indent="0" marL="0">
              <a:buNone/>
            </a:pPr>
            <a:r>
              <a:rPr lang="en-US" sz="800" b="1" dirty="0">
                <a:solidFill>
                  <a:srgbClr val="334155"/>
                </a:solidFill>
              </a:rPr>
              <a:t>OLAP Grid — cell edit (optimistic)</a:t>
            </a:r>
            <a:endParaRPr lang="en-US" sz="800" dirty="0"/>
          </a:p>
        </p:txBody>
      </p:sp>
      <p:sp>
        <p:nvSpPr>
          <p:cNvPr id="23" name="Text 21"/>
          <p:cNvSpPr/>
          <p:nvPr/>
        </p:nvSpPr>
        <p:spPr>
          <a:xfrm>
            <a:off x="3090672" y="1801368"/>
            <a:ext cx="658368" cy="347472"/>
          </a:xfrm>
          <a:prstGeom prst="rect">
            <a:avLst/>
          </a:prstGeom>
          <a:noFill/>
          <a:ln/>
        </p:spPr>
        <p:txBody>
          <a:bodyPr wrap="square" lIns="0" tIns="0" rIns="0" bIns="0" rtlCol="0" anchor="ctr"/>
          <a:lstStyle/>
          <a:p>
            <a:pPr indent="0" marL="0">
              <a:buNone/>
            </a:pPr>
            <a:r>
              <a:rPr lang="en-US" sz="900" b="1" dirty="0">
                <a:solidFill>
                  <a:srgbClr val="059669"/>
                </a:solidFill>
              </a:rPr>
              <a:t>&lt; 80 ms</a:t>
            </a:r>
            <a:endParaRPr lang="en-US" sz="900" dirty="0"/>
          </a:p>
        </p:txBody>
      </p:sp>
      <p:sp>
        <p:nvSpPr>
          <p:cNvPr id="24" name="Text 22"/>
          <p:cNvSpPr/>
          <p:nvPr/>
        </p:nvSpPr>
        <p:spPr>
          <a:xfrm>
            <a:off x="3840480" y="1801368"/>
            <a:ext cx="1207008" cy="347472"/>
          </a:xfrm>
          <a:prstGeom prst="rect">
            <a:avLst/>
          </a:prstGeom>
          <a:noFill/>
          <a:ln/>
        </p:spPr>
        <p:txBody>
          <a:bodyPr wrap="square" lIns="0" tIns="0" rIns="0" bIns="0" rtlCol="0" anchor="ctr"/>
          <a:lstStyle/>
          <a:p>
            <a:pPr indent="0" marL="0">
              <a:buNone/>
            </a:pPr>
            <a:r>
              <a:rPr lang="en-US" sz="750" dirty="0">
                <a:solidFill>
                  <a:srgbClr val="64748B"/>
                </a:solidFill>
              </a:rPr>
              <a:t>View Store</a:t>
            </a:r>
            <a:endParaRPr lang="en-US" sz="750" dirty="0"/>
          </a:p>
        </p:txBody>
      </p:sp>
      <p:sp>
        <p:nvSpPr>
          <p:cNvPr id="25" name="Text 23"/>
          <p:cNvSpPr/>
          <p:nvPr/>
        </p:nvSpPr>
        <p:spPr>
          <a:xfrm>
            <a:off x="5138928" y="1783080"/>
            <a:ext cx="3200400" cy="384048"/>
          </a:xfrm>
          <a:prstGeom prst="rect">
            <a:avLst/>
          </a:prstGeom>
          <a:noFill/>
          <a:ln/>
        </p:spPr>
        <p:txBody>
          <a:bodyPr wrap="square" lIns="0" tIns="0" rIns="0" bIns="0" rtlCol="0" anchor="ctr"/>
          <a:lstStyle/>
          <a:p>
            <a:pPr indent="0" marL="0">
              <a:buNone/>
            </a:pPr>
            <a:r>
              <a:rPr lang="en-US" sz="750" dirty="0">
                <a:solidFill>
                  <a:srgbClr val="64748B"/>
                </a:solidFill>
              </a:rPr>
              <a:t>Write goes to View Store first. UI responds immediately. Cube invalidation and DB commit are async background tasks.</a:t>
            </a:r>
            <a:endParaRPr lang="en-US" sz="750" dirty="0"/>
          </a:p>
        </p:txBody>
      </p:sp>
      <p:sp>
        <p:nvSpPr>
          <p:cNvPr id="26" name="Shape 24"/>
          <p:cNvSpPr/>
          <p:nvPr/>
        </p:nvSpPr>
        <p:spPr>
          <a:xfrm>
            <a:off x="8513064" y="1901952"/>
            <a:ext cx="146304" cy="146304"/>
          </a:xfrm>
          <a:prstGeom prst="ellipse">
            <a:avLst/>
          </a:prstGeom>
          <a:solidFill>
            <a:srgbClr val="059669"/>
          </a:solidFill>
          <a:ln w="12700">
            <a:solidFill>
              <a:srgbClr val="059669"/>
            </a:solidFill>
            <a:prstDash val="solid"/>
          </a:ln>
        </p:spPr>
      </p:sp>
      <p:sp>
        <p:nvSpPr>
          <p:cNvPr id="27" name="Shape 25"/>
          <p:cNvSpPr/>
          <p:nvPr/>
        </p:nvSpPr>
        <p:spPr>
          <a:xfrm>
            <a:off x="201168" y="2194560"/>
            <a:ext cx="8741664" cy="448056"/>
          </a:xfrm>
          <a:prstGeom prst="rect">
            <a:avLst/>
          </a:prstGeom>
          <a:solidFill>
            <a:srgbClr val="FFFFFF"/>
          </a:solidFill>
          <a:ln w="6350">
            <a:solidFill>
              <a:srgbClr val="E2E8F0"/>
            </a:solidFill>
            <a:prstDash val="solid"/>
          </a:ln>
        </p:spPr>
      </p:sp>
      <p:sp>
        <p:nvSpPr>
          <p:cNvPr id="28" name="Text 26"/>
          <p:cNvSpPr/>
          <p:nvPr/>
        </p:nvSpPr>
        <p:spPr>
          <a:xfrm>
            <a:off x="256032" y="2249424"/>
            <a:ext cx="2743200" cy="347472"/>
          </a:xfrm>
          <a:prstGeom prst="rect">
            <a:avLst/>
          </a:prstGeom>
          <a:noFill/>
          <a:ln/>
        </p:spPr>
        <p:txBody>
          <a:bodyPr wrap="square" lIns="0" tIns="0" rIns="0" bIns="0" rtlCol="0" anchor="ctr"/>
          <a:lstStyle/>
          <a:p>
            <a:pPr indent="0" marL="0">
              <a:buNone/>
            </a:pPr>
            <a:r>
              <a:rPr lang="en-US" sz="800" b="1" dirty="0">
                <a:solidFill>
                  <a:srgbClr val="334155"/>
                </a:solidFill>
              </a:rPr>
              <a:t>Hook execution — Score modifier</a:t>
            </a:r>
            <a:endParaRPr lang="en-US" sz="800" dirty="0"/>
          </a:p>
        </p:txBody>
      </p:sp>
      <p:sp>
        <p:nvSpPr>
          <p:cNvPr id="29" name="Text 27"/>
          <p:cNvSpPr/>
          <p:nvPr/>
        </p:nvSpPr>
        <p:spPr>
          <a:xfrm>
            <a:off x="3090672" y="2249424"/>
            <a:ext cx="658368" cy="347472"/>
          </a:xfrm>
          <a:prstGeom prst="rect">
            <a:avLst/>
          </a:prstGeom>
          <a:noFill/>
          <a:ln/>
        </p:spPr>
        <p:txBody>
          <a:bodyPr wrap="square" lIns="0" tIns="0" rIns="0" bIns="0" rtlCol="0" anchor="ctr"/>
          <a:lstStyle/>
          <a:p>
            <a:pPr indent="0" marL="0">
              <a:buNone/>
            </a:pPr>
            <a:r>
              <a:rPr lang="en-US" sz="900" b="1" dirty="0">
                <a:solidFill>
                  <a:srgbClr val="F59E0B"/>
                </a:solidFill>
              </a:rPr>
              <a:t>&lt; 50 ms</a:t>
            </a:r>
            <a:endParaRPr lang="en-US" sz="900" dirty="0"/>
          </a:p>
        </p:txBody>
      </p:sp>
      <p:sp>
        <p:nvSpPr>
          <p:cNvPr id="30" name="Text 28"/>
          <p:cNvSpPr/>
          <p:nvPr/>
        </p:nvSpPr>
        <p:spPr>
          <a:xfrm>
            <a:off x="3840480" y="2249424"/>
            <a:ext cx="1207008" cy="347472"/>
          </a:xfrm>
          <a:prstGeom prst="rect">
            <a:avLst/>
          </a:prstGeom>
          <a:noFill/>
          <a:ln/>
        </p:spPr>
        <p:txBody>
          <a:bodyPr wrap="square" lIns="0" tIns="0" rIns="0" bIns="0" rtlCol="0" anchor="ctr"/>
          <a:lstStyle/>
          <a:p>
            <a:pPr indent="0" marL="0">
              <a:buNone/>
            </a:pPr>
            <a:r>
              <a:rPr lang="en-US" sz="750" dirty="0">
                <a:solidFill>
                  <a:srgbClr val="64748B"/>
                </a:solidFill>
              </a:rPr>
              <a:t>Extension container</a:t>
            </a:r>
            <a:endParaRPr lang="en-US" sz="750" dirty="0"/>
          </a:p>
        </p:txBody>
      </p:sp>
      <p:sp>
        <p:nvSpPr>
          <p:cNvPr id="31" name="Text 29"/>
          <p:cNvSpPr/>
          <p:nvPr/>
        </p:nvSpPr>
        <p:spPr>
          <a:xfrm>
            <a:off x="5138928" y="2231136"/>
            <a:ext cx="3200400" cy="384048"/>
          </a:xfrm>
          <a:prstGeom prst="rect">
            <a:avLst/>
          </a:prstGeom>
          <a:noFill/>
          <a:ln/>
        </p:spPr>
        <p:txBody>
          <a:bodyPr wrap="square" lIns="0" tIns="0" rIns="0" bIns="0" rtlCol="0" anchor="ctr"/>
          <a:lstStyle/>
          <a:p>
            <a:pPr indent="0" marL="0">
              <a:buNone/>
            </a:pPr>
            <a:r>
              <a:rPr lang="en-US" sz="750" dirty="0">
                <a:solidFill>
                  <a:srgbClr val="64748B"/>
                </a:solidFill>
              </a:rPr>
              <a:t>Hard limit enforced by framework. No async external calls permitted inside this hook. Breaching limit returns default.</a:t>
            </a:r>
            <a:endParaRPr lang="en-US" sz="750" dirty="0"/>
          </a:p>
        </p:txBody>
      </p:sp>
      <p:sp>
        <p:nvSpPr>
          <p:cNvPr id="32" name="Shape 30"/>
          <p:cNvSpPr/>
          <p:nvPr/>
        </p:nvSpPr>
        <p:spPr>
          <a:xfrm>
            <a:off x="8513064" y="2350008"/>
            <a:ext cx="146304" cy="146304"/>
          </a:xfrm>
          <a:prstGeom prst="ellipse">
            <a:avLst/>
          </a:prstGeom>
          <a:solidFill>
            <a:srgbClr val="F59E0B"/>
          </a:solidFill>
          <a:ln w="12700">
            <a:solidFill>
              <a:srgbClr val="F59E0B"/>
            </a:solidFill>
            <a:prstDash val="solid"/>
          </a:ln>
        </p:spPr>
      </p:sp>
      <p:sp>
        <p:nvSpPr>
          <p:cNvPr id="33" name="Shape 31"/>
          <p:cNvSpPr/>
          <p:nvPr/>
        </p:nvSpPr>
        <p:spPr>
          <a:xfrm>
            <a:off x="201168" y="2642616"/>
            <a:ext cx="8741664" cy="448056"/>
          </a:xfrm>
          <a:prstGeom prst="rect">
            <a:avLst/>
          </a:prstGeom>
          <a:solidFill>
            <a:srgbClr val="F7F9FC"/>
          </a:solidFill>
          <a:ln w="6350">
            <a:solidFill>
              <a:srgbClr val="E2E8F0"/>
            </a:solidFill>
            <a:prstDash val="solid"/>
          </a:ln>
        </p:spPr>
      </p:sp>
      <p:sp>
        <p:nvSpPr>
          <p:cNvPr id="34" name="Text 32"/>
          <p:cNvSpPr/>
          <p:nvPr/>
        </p:nvSpPr>
        <p:spPr>
          <a:xfrm>
            <a:off x="256032" y="2697480"/>
            <a:ext cx="2743200" cy="347472"/>
          </a:xfrm>
          <a:prstGeom prst="rect">
            <a:avLst/>
          </a:prstGeom>
          <a:noFill/>
          <a:ln/>
        </p:spPr>
        <p:txBody>
          <a:bodyPr wrap="square" lIns="0" tIns="0" rIns="0" bIns="0" rtlCol="0" anchor="ctr"/>
          <a:lstStyle/>
          <a:p>
            <a:pPr indent="0" marL="0">
              <a:buNone/>
            </a:pPr>
            <a:r>
              <a:rPr lang="en-US" sz="800" b="1" dirty="0">
                <a:solidFill>
                  <a:srgbClr val="334155"/>
                </a:solidFill>
              </a:rPr>
              <a:t>Hook execution — Output transform</a:t>
            </a:r>
            <a:endParaRPr lang="en-US" sz="800" dirty="0"/>
          </a:p>
        </p:txBody>
      </p:sp>
      <p:sp>
        <p:nvSpPr>
          <p:cNvPr id="35" name="Text 33"/>
          <p:cNvSpPr/>
          <p:nvPr/>
        </p:nvSpPr>
        <p:spPr>
          <a:xfrm>
            <a:off x="3090672" y="2697480"/>
            <a:ext cx="658368" cy="347472"/>
          </a:xfrm>
          <a:prstGeom prst="rect">
            <a:avLst/>
          </a:prstGeom>
          <a:noFill/>
          <a:ln/>
        </p:spPr>
        <p:txBody>
          <a:bodyPr wrap="square" lIns="0" tIns="0" rIns="0" bIns="0" rtlCol="0" anchor="ctr"/>
          <a:lstStyle/>
          <a:p>
            <a:pPr indent="0" marL="0">
              <a:buNone/>
            </a:pPr>
            <a:r>
              <a:rPr lang="en-US" sz="900" b="1" dirty="0">
                <a:solidFill>
                  <a:srgbClr val="F59E0B"/>
                </a:solidFill>
              </a:rPr>
              <a:t>&lt; 2,000 ms</a:t>
            </a:r>
            <a:endParaRPr lang="en-US" sz="900" dirty="0"/>
          </a:p>
        </p:txBody>
      </p:sp>
      <p:sp>
        <p:nvSpPr>
          <p:cNvPr id="36" name="Text 34"/>
          <p:cNvSpPr/>
          <p:nvPr/>
        </p:nvSpPr>
        <p:spPr>
          <a:xfrm>
            <a:off x="3840480" y="2697480"/>
            <a:ext cx="1207008" cy="347472"/>
          </a:xfrm>
          <a:prstGeom prst="rect">
            <a:avLst/>
          </a:prstGeom>
          <a:noFill/>
          <a:ln/>
        </p:spPr>
        <p:txBody>
          <a:bodyPr wrap="square" lIns="0" tIns="0" rIns="0" bIns="0" rtlCol="0" anchor="ctr"/>
          <a:lstStyle/>
          <a:p>
            <a:pPr indent="0" marL="0">
              <a:buNone/>
            </a:pPr>
            <a:r>
              <a:rPr lang="en-US" sz="750" dirty="0">
                <a:solidFill>
                  <a:srgbClr val="64748B"/>
                </a:solidFill>
              </a:rPr>
              <a:t>Extension container</a:t>
            </a:r>
            <a:endParaRPr lang="en-US" sz="750" dirty="0"/>
          </a:p>
        </p:txBody>
      </p:sp>
      <p:sp>
        <p:nvSpPr>
          <p:cNvPr id="37" name="Text 35"/>
          <p:cNvSpPr/>
          <p:nvPr/>
        </p:nvSpPr>
        <p:spPr>
          <a:xfrm>
            <a:off x="5138928" y="2679192"/>
            <a:ext cx="3200400" cy="384048"/>
          </a:xfrm>
          <a:prstGeom prst="rect">
            <a:avLst/>
          </a:prstGeom>
          <a:noFill/>
          <a:ln/>
        </p:spPr>
        <p:txBody>
          <a:bodyPr wrap="square" lIns="0" tIns="0" rIns="0" bIns="0" rtlCol="0" anchor="ctr"/>
          <a:lstStyle/>
          <a:p>
            <a:pPr indent="0" marL="0">
              <a:buNone/>
            </a:pPr>
            <a:r>
              <a:rPr lang="en-US" sz="750" dirty="0">
                <a:solidFill>
                  <a:srgbClr val="64748B"/>
                </a:solidFill>
              </a:rPr>
              <a:t>Soft limit. Breaching logs a timeout warning to the pipeline. Core planning state is never blocked by this hook.</a:t>
            </a:r>
            <a:endParaRPr lang="en-US" sz="750" dirty="0"/>
          </a:p>
        </p:txBody>
      </p:sp>
      <p:sp>
        <p:nvSpPr>
          <p:cNvPr id="38" name="Shape 36"/>
          <p:cNvSpPr/>
          <p:nvPr/>
        </p:nvSpPr>
        <p:spPr>
          <a:xfrm>
            <a:off x="8513064" y="2798064"/>
            <a:ext cx="146304" cy="146304"/>
          </a:xfrm>
          <a:prstGeom prst="ellipse">
            <a:avLst/>
          </a:prstGeom>
          <a:solidFill>
            <a:srgbClr val="F59E0B"/>
          </a:solidFill>
          <a:ln w="12700">
            <a:solidFill>
              <a:srgbClr val="F59E0B"/>
            </a:solidFill>
            <a:prstDash val="solid"/>
          </a:ln>
        </p:spPr>
      </p:sp>
      <p:sp>
        <p:nvSpPr>
          <p:cNvPr id="39" name="Shape 37"/>
          <p:cNvSpPr/>
          <p:nvPr/>
        </p:nvSpPr>
        <p:spPr>
          <a:xfrm>
            <a:off x="201168" y="3090672"/>
            <a:ext cx="8741664" cy="448056"/>
          </a:xfrm>
          <a:prstGeom prst="rect">
            <a:avLst/>
          </a:prstGeom>
          <a:solidFill>
            <a:srgbClr val="FFFFFF"/>
          </a:solidFill>
          <a:ln w="6350">
            <a:solidFill>
              <a:srgbClr val="E2E8F0"/>
            </a:solidFill>
            <a:prstDash val="solid"/>
          </a:ln>
        </p:spPr>
      </p:sp>
      <p:sp>
        <p:nvSpPr>
          <p:cNvPr id="40" name="Text 38"/>
          <p:cNvSpPr/>
          <p:nvPr/>
        </p:nvSpPr>
        <p:spPr>
          <a:xfrm>
            <a:off x="256032" y="3145536"/>
            <a:ext cx="2743200" cy="347472"/>
          </a:xfrm>
          <a:prstGeom prst="rect">
            <a:avLst/>
          </a:prstGeom>
          <a:noFill/>
          <a:ln/>
        </p:spPr>
        <p:txBody>
          <a:bodyPr wrap="square" lIns="0" tIns="0" rIns="0" bIns="0" rtlCol="0" anchor="ctr"/>
          <a:lstStyle/>
          <a:p>
            <a:pPr indent="0" marL="0">
              <a:buNone/>
            </a:pPr>
            <a:r>
              <a:rPr lang="en-US" sz="800" b="1" dirty="0">
                <a:solidFill>
                  <a:srgbClr val="334155"/>
                </a:solidFill>
              </a:rPr>
              <a:t>Phase WS hook — blocking inbound</a:t>
            </a:r>
            <a:endParaRPr lang="en-US" sz="800" dirty="0"/>
          </a:p>
        </p:txBody>
      </p:sp>
      <p:sp>
        <p:nvSpPr>
          <p:cNvPr id="41" name="Text 39"/>
          <p:cNvSpPr/>
          <p:nvPr/>
        </p:nvSpPr>
        <p:spPr>
          <a:xfrm>
            <a:off x="3090672" y="3145536"/>
            <a:ext cx="658368" cy="347472"/>
          </a:xfrm>
          <a:prstGeom prst="rect">
            <a:avLst/>
          </a:prstGeom>
          <a:noFill/>
          <a:ln/>
        </p:spPr>
        <p:txBody>
          <a:bodyPr wrap="square" lIns="0" tIns="0" rIns="0" bIns="0" rtlCol="0" anchor="ctr"/>
          <a:lstStyle/>
          <a:p>
            <a:pPr indent="0" marL="0">
              <a:buNone/>
            </a:pPr>
            <a:r>
              <a:rPr lang="en-US" sz="900" b="1" dirty="0">
                <a:solidFill>
                  <a:srgbClr val="F59E0B"/>
                </a:solidFill>
              </a:rPr>
              <a:t>&lt; 5,000 ms</a:t>
            </a:r>
            <a:endParaRPr lang="en-US" sz="900" dirty="0"/>
          </a:p>
        </p:txBody>
      </p:sp>
      <p:sp>
        <p:nvSpPr>
          <p:cNvPr id="42" name="Text 40"/>
          <p:cNvSpPr/>
          <p:nvPr/>
        </p:nvSpPr>
        <p:spPr>
          <a:xfrm>
            <a:off x="3840480" y="3145536"/>
            <a:ext cx="1207008" cy="347472"/>
          </a:xfrm>
          <a:prstGeom prst="rect">
            <a:avLst/>
          </a:prstGeom>
          <a:noFill/>
          <a:ln/>
        </p:spPr>
        <p:txBody>
          <a:bodyPr wrap="square" lIns="0" tIns="0" rIns="0" bIns="0" rtlCol="0" anchor="ctr"/>
          <a:lstStyle/>
          <a:p>
            <a:pPr indent="0" marL="0">
              <a:buNone/>
            </a:pPr>
            <a:r>
              <a:rPr lang="en-US" sz="750" dirty="0">
                <a:solidFill>
                  <a:srgbClr val="64748B"/>
                </a:solidFill>
              </a:rPr>
              <a:t>Retailer extension</a:t>
            </a:r>
            <a:endParaRPr lang="en-US" sz="750" dirty="0"/>
          </a:p>
        </p:txBody>
      </p:sp>
      <p:sp>
        <p:nvSpPr>
          <p:cNvPr id="43" name="Text 41"/>
          <p:cNvSpPr/>
          <p:nvPr/>
        </p:nvSpPr>
        <p:spPr>
          <a:xfrm>
            <a:off x="5138928" y="3127248"/>
            <a:ext cx="3200400" cy="384048"/>
          </a:xfrm>
          <a:prstGeom prst="rect">
            <a:avLst/>
          </a:prstGeom>
          <a:noFill/>
          <a:ln/>
        </p:spPr>
        <p:txBody>
          <a:bodyPr wrap="square" lIns="0" tIns="0" rIns="0" bIns="0" rtlCol="0" anchor="ctr"/>
          <a:lstStyle/>
          <a:p>
            <a:pPr indent="0" marL="0">
              <a:buNone/>
            </a:pPr>
            <a:r>
              <a:rPr lang="en-US" sz="750" dirty="0">
                <a:solidFill>
                  <a:srgbClr val="64748B"/>
                </a:solidFill>
              </a:rPr>
              <a:t>Retailer defines timeout in hook config. On breach: blocking hooks surface error to planner; non-blocking log warning.</a:t>
            </a:r>
            <a:endParaRPr lang="en-US" sz="750" dirty="0"/>
          </a:p>
        </p:txBody>
      </p:sp>
      <p:sp>
        <p:nvSpPr>
          <p:cNvPr id="44" name="Shape 42"/>
          <p:cNvSpPr/>
          <p:nvPr/>
        </p:nvSpPr>
        <p:spPr>
          <a:xfrm>
            <a:off x="8513064" y="3246120"/>
            <a:ext cx="146304" cy="146304"/>
          </a:xfrm>
          <a:prstGeom prst="ellipse">
            <a:avLst/>
          </a:prstGeom>
          <a:solidFill>
            <a:srgbClr val="F59E0B"/>
          </a:solidFill>
          <a:ln w="12700">
            <a:solidFill>
              <a:srgbClr val="F59E0B"/>
            </a:solidFill>
            <a:prstDash val="solid"/>
          </a:ln>
        </p:spPr>
      </p:sp>
      <p:sp>
        <p:nvSpPr>
          <p:cNvPr id="45" name="Shape 43"/>
          <p:cNvSpPr/>
          <p:nvPr/>
        </p:nvSpPr>
        <p:spPr>
          <a:xfrm>
            <a:off x="201168" y="3538728"/>
            <a:ext cx="8741664" cy="448056"/>
          </a:xfrm>
          <a:prstGeom prst="rect">
            <a:avLst/>
          </a:prstGeom>
          <a:solidFill>
            <a:srgbClr val="F7F9FC"/>
          </a:solidFill>
          <a:ln w="6350">
            <a:solidFill>
              <a:srgbClr val="E2E8F0"/>
            </a:solidFill>
            <a:prstDash val="solid"/>
          </a:ln>
        </p:spPr>
      </p:sp>
      <p:sp>
        <p:nvSpPr>
          <p:cNvPr id="46" name="Text 44"/>
          <p:cNvSpPr/>
          <p:nvPr/>
        </p:nvSpPr>
        <p:spPr>
          <a:xfrm>
            <a:off x="256032" y="3593592"/>
            <a:ext cx="2743200" cy="347472"/>
          </a:xfrm>
          <a:prstGeom prst="rect">
            <a:avLst/>
          </a:prstGeom>
          <a:noFill/>
          <a:ln/>
        </p:spPr>
        <p:txBody>
          <a:bodyPr wrap="square" lIns="0" tIns="0" rIns="0" bIns="0" rtlCol="0" anchor="ctr"/>
          <a:lstStyle/>
          <a:p>
            <a:pPr indent="0" marL="0">
              <a:buNone/>
            </a:pPr>
            <a:r>
              <a:rPr lang="en-US" sz="800" b="1" dirty="0">
                <a:solidFill>
                  <a:srgbClr val="334155"/>
                </a:solidFill>
              </a:rPr>
              <a:t>Core algorithm — History Optimisation</a:t>
            </a:r>
            <a:endParaRPr lang="en-US" sz="800" dirty="0"/>
          </a:p>
        </p:txBody>
      </p:sp>
      <p:sp>
        <p:nvSpPr>
          <p:cNvPr id="47" name="Text 45"/>
          <p:cNvSpPr/>
          <p:nvPr/>
        </p:nvSpPr>
        <p:spPr>
          <a:xfrm>
            <a:off x="3090672" y="3593592"/>
            <a:ext cx="658368" cy="347472"/>
          </a:xfrm>
          <a:prstGeom prst="rect">
            <a:avLst/>
          </a:prstGeom>
          <a:noFill/>
          <a:ln/>
        </p:spPr>
        <p:txBody>
          <a:bodyPr wrap="square" lIns="0" tIns="0" rIns="0" bIns="0" rtlCol="0" anchor="ctr"/>
          <a:lstStyle/>
          <a:p>
            <a:pPr indent="0" marL="0">
              <a:buNone/>
            </a:pPr>
            <a:r>
              <a:rPr lang="en-US" sz="900" b="1" dirty="0">
                <a:solidFill>
                  <a:srgbClr val="0D7377"/>
                </a:solidFill>
              </a:rPr>
              <a:t>&lt; 30 s</a:t>
            </a:r>
            <a:endParaRPr lang="en-US" sz="900" dirty="0"/>
          </a:p>
        </p:txBody>
      </p:sp>
      <p:sp>
        <p:nvSpPr>
          <p:cNvPr id="48" name="Text 46"/>
          <p:cNvSpPr/>
          <p:nvPr/>
        </p:nvSpPr>
        <p:spPr>
          <a:xfrm>
            <a:off x="3840480" y="3593592"/>
            <a:ext cx="1207008" cy="347472"/>
          </a:xfrm>
          <a:prstGeom prst="rect">
            <a:avLst/>
          </a:prstGeom>
          <a:noFill/>
          <a:ln/>
        </p:spPr>
        <p:txBody>
          <a:bodyPr wrap="square" lIns="0" tIns="0" rIns="0" bIns="0" rtlCol="0" anchor="ctr"/>
          <a:lstStyle/>
          <a:p>
            <a:pPr indent="0" marL="0">
              <a:buNone/>
            </a:pPr>
            <a:r>
              <a:rPr lang="en-US" sz="750" dirty="0">
                <a:solidFill>
                  <a:srgbClr val="64748B"/>
                </a:solidFill>
              </a:rPr>
              <a:t>Core engine (async)</a:t>
            </a:r>
            <a:endParaRPr lang="en-US" sz="750" dirty="0"/>
          </a:p>
        </p:txBody>
      </p:sp>
      <p:sp>
        <p:nvSpPr>
          <p:cNvPr id="49" name="Text 47"/>
          <p:cNvSpPr/>
          <p:nvPr/>
        </p:nvSpPr>
        <p:spPr>
          <a:xfrm>
            <a:off x="5138928" y="3575304"/>
            <a:ext cx="3200400" cy="384048"/>
          </a:xfrm>
          <a:prstGeom prst="rect">
            <a:avLst/>
          </a:prstGeom>
          <a:noFill/>
          <a:ln/>
        </p:spPr>
        <p:txBody>
          <a:bodyPr wrap="square" lIns="0" tIns="0" rIns="0" bIns="0" rtlCol="0" anchor="ctr"/>
          <a:lstStyle/>
          <a:p>
            <a:pPr indent="0" marL="0">
              <a:buNone/>
            </a:pPr>
            <a:r>
              <a:rPr lang="en-US" sz="750" dirty="0">
                <a:solidFill>
                  <a:srgbClr val="64748B"/>
                </a:solidFill>
              </a:rPr>
              <a:t>Runs as async background job, not in request path. Planner sees progress indicator. Results written to cube on completion.</a:t>
            </a:r>
            <a:endParaRPr lang="en-US" sz="750" dirty="0"/>
          </a:p>
        </p:txBody>
      </p:sp>
      <p:sp>
        <p:nvSpPr>
          <p:cNvPr id="50" name="Shape 48"/>
          <p:cNvSpPr/>
          <p:nvPr/>
        </p:nvSpPr>
        <p:spPr>
          <a:xfrm>
            <a:off x="8513064" y="3694176"/>
            <a:ext cx="146304" cy="146304"/>
          </a:xfrm>
          <a:prstGeom prst="ellipse">
            <a:avLst/>
          </a:prstGeom>
          <a:solidFill>
            <a:srgbClr val="0D7377"/>
          </a:solidFill>
          <a:ln w="12700">
            <a:solidFill>
              <a:srgbClr val="0D7377"/>
            </a:solidFill>
            <a:prstDash val="solid"/>
          </a:ln>
        </p:spPr>
      </p:sp>
      <p:sp>
        <p:nvSpPr>
          <p:cNvPr id="51" name="Shape 49"/>
          <p:cNvSpPr/>
          <p:nvPr/>
        </p:nvSpPr>
        <p:spPr>
          <a:xfrm>
            <a:off x="201168" y="3986784"/>
            <a:ext cx="8741664" cy="448056"/>
          </a:xfrm>
          <a:prstGeom prst="rect">
            <a:avLst/>
          </a:prstGeom>
          <a:solidFill>
            <a:srgbClr val="FFFFFF"/>
          </a:solidFill>
          <a:ln w="6350">
            <a:solidFill>
              <a:srgbClr val="E2E8F0"/>
            </a:solidFill>
            <a:prstDash val="solid"/>
          </a:ln>
        </p:spPr>
      </p:sp>
      <p:sp>
        <p:nvSpPr>
          <p:cNvPr id="52" name="Text 50"/>
          <p:cNvSpPr/>
          <p:nvPr/>
        </p:nvSpPr>
        <p:spPr>
          <a:xfrm>
            <a:off x="256032" y="4041648"/>
            <a:ext cx="2743200" cy="347472"/>
          </a:xfrm>
          <a:prstGeom prst="rect">
            <a:avLst/>
          </a:prstGeom>
          <a:noFill/>
          <a:ln/>
        </p:spPr>
        <p:txBody>
          <a:bodyPr wrap="square" lIns="0" tIns="0" rIns="0" bIns="0" rtlCol="0" anchor="ctr"/>
          <a:lstStyle/>
          <a:p>
            <a:pPr indent="0" marL="0">
              <a:buNone/>
            </a:pPr>
            <a:r>
              <a:rPr lang="en-US" sz="800" b="1" dirty="0">
                <a:solidFill>
                  <a:srgbClr val="334155"/>
                </a:solidFill>
              </a:rPr>
              <a:t>Core algorithm — Assortment Strategy (3 scenarios)</a:t>
            </a:r>
            <a:endParaRPr lang="en-US" sz="800" dirty="0"/>
          </a:p>
        </p:txBody>
      </p:sp>
      <p:sp>
        <p:nvSpPr>
          <p:cNvPr id="53" name="Text 51"/>
          <p:cNvSpPr/>
          <p:nvPr/>
        </p:nvSpPr>
        <p:spPr>
          <a:xfrm>
            <a:off x="3090672" y="4041648"/>
            <a:ext cx="658368" cy="347472"/>
          </a:xfrm>
          <a:prstGeom prst="rect">
            <a:avLst/>
          </a:prstGeom>
          <a:noFill/>
          <a:ln/>
        </p:spPr>
        <p:txBody>
          <a:bodyPr wrap="square" lIns="0" tIns="0" rIns="0" bIns="0" rtlCol="0" anchor="ctr"/>
          <a:lstStyle/>
          <a:p>
            <a:pPr indent="0" marL="0">
              <a:buNone/>
            </a:pPr>
            <a:r>
              <a:rPr lang="en-US" sz="900" b="1" dirty="0">
                <a:solidFill>
                  <a:srgbClr val="0D7377"/>
                </a:solidFill>
              </a:rPr>
              <a:t>&lt; 60 s</a:t>
            </a:r>
            <a:endParaRPr lang="en-US" sz="900" dirty="0"/>
          </a:p>
        </p:txBody>
      </p:sp>
      <p:sp>
        <p:nvSpPr>
          <p:cNvPr id="54" name="Text 52"/>
          <p:cNvSpPr/>
          <p:nvPr/>
        </p:nvSpPr>
        <p:spPr>
          <a:xfrm>
            <a:off x="3840480" y="4041648"/>
            <a:ext cx="1207008" cy="347472"/>
          </a:xfrm>
          <a:prstGeom prst="rect">
            <a:avLst/>
          </a:prstGeom>
          <a:noFill/>
          <a:ln/>
        </p:spPr>
        <p:txBody>
          <a:bodyPr wrap="square" lIns="0" tIns="0" rIns="0" bIns="0" rtlCol="0" anchor="ctr"/>
          <a:lstStyle/>
          <a:p>
            <a:pPr indent="0" marL="0">
              <a:buNone/>
            </a:pPr>
            <a:r>
              <a:rPr lang="en-US" sz="750" dirty="0">
                <a:solidFill>
                  <a:srgbClr val="64748B"/>
                </a:solidFill>
              </a:rPr>
              <a:t>Core engine (async)</a:t>
            </a:r>
            <a:endParaRPr lang="en-US" sz="750" dirty="0"/>
          </a:p>
        </p:txBody>
      </p:sp>
      <p:sp>
        <p:nvSpPr>
          <p:cNvPr id="55" name="Text 53"/>
          <p:cNvSpPr/>
          <p:nvPr/>
        </p:nvSpPr>
        <p:spPr>
          <a:xfrm>
            <a:off x="5138928" y="4023360"/>
            <a:ext cx="3200400" cy="384048"/>
          </a:xfrm>
          <a:prstGeom prst="rect">
            <a:avLst/>
          </a:prstGeom>
          <a:noFill/>
          <a:ln/>
        </p:spPr>
        <p:txBody>
          <a:bodyPr wrap="square" lIns="0" tIns="0" rIns="0" bIns="0" rtlCol="0" anchor="ctr"/>
          <a:lstStyle/>
          <a:p>
            <a:pPr indent="0" marL="0">
              <a:buNone/>
            </a:pPr>
            <a:r>
              <a:rPr lang="en-US" sz="750" dirty="0">
                <a:solidFill>
                  <a:srgbClr val="64748B"/>
                </a:solidFill>
              </a:rPr>
              <a:t>Triggered on demand. Async job with live progress. Planner can navigate away and return. Results persist to View Store.</a:t>
            </a:r>
            <a:endParaRPr lang="en-US" sz="750" dirty="0"/>
          </a:p>
        </p:txBody>
      </p:sp>
      <p:sp>
        <p:nvSpPr>
          <p:cNvPr id="56" name="Shape 54"/>
          <p:cNvSpPr/>
          <p:nvPr/>
        </p:nvSpPr>
        <p:spPr>
          <a:xfrm>
            <a:off x="8513064" y="4142232"/>
            <a:ext cx="146304" cy="146304"/>
          </a:xfrm>
          <a:prstGeom prst="ellipse">
            <a:avLst/>
          </a:prstGeom>
          <a:solidFill>
            <a:srgbClr val="0D7377"/>
          </a:solidFill>
          <a:ln w="12700">
            <a:solidFill>
              <a:srgbClr val="0D7377"/>
            </a:solidFill>
            <a:prstDash val="solid"/>
          </a:ln>
        </p:spPr>
      </p:sp>
      <p:sp>
        <p:nvSpPr>
          <p:cNvPr id="57" name="Shape 55"/>
          <p:cNvSpPr/>
          <p:nvPr/>
        </p:nvSpPr>
        <p:spPr>
          <a:xfrm>
            <a:off x="201168" y="4535424"/>
            <a:ext cx="8741664" cy="237744"/>
          </a:xfrm>
          <a:prstGeom prst="rect">
            <a:avLst/>
          </a:prstGeom>
          <a:solidFill>
            <a:srgbClr val="334155"/>
          </a:solidFill>
          <a:ln w="12700">
            <a:solidFill>
              <a:srgbClr val="334155"/>
            </a:solidFill>
            <a:prstDash val="solid"/>
          </a:ln>
        </p:spPr>
      </p:sp>
      <p:sp>
        <p:nvSpPr>
          <p:cNvPr id="58" name="Text 56"/>
          <p:cNvSpPr/>
          <p:nvPr/>
        </p:nvSpPr>
        <p:spPr>
          <a:xfrm>
            <a:off x="320040" y="4535424"/>
            <a:ext cx="8412480" cy="237744"/>
          </a:xfrm>
          <a:prstGeom prst="rect">
            <a:avLst/>
          </a:prstGeom>
          <a:noFill/>
          <a:ln/>
        </p:spPr>
        <p:txBody>
          <a:bodyPr wrap="square" lIns="0" tIns="0" rIns="0" bIns="0" rtlCol="0" anchor="ctr"/>
          <a:lstStyle/>
          <a:p>
            <a:pPr indent="0" marL="0">
              <a:buNone/>
            </a:pPr>
            <a:r>
              <a:rPr lang="en-US" sz="850" b="1" spc="200" kern="0" dirty="0">
                <a:solidFill>
                  <a:srgbClr val="FFFFFF"/>
                </a:solidFill>
              </a:rPr>
              <a:t>SCALABILITY MODEL — HOW EACH LAYER SCALES</a:t>
            </a:r>
            <a:endParaRPr lang="en-US" sz="850" dirty="0"/>
          </a:p>
        </p:txBody>
      </p:sp>
      <p:sp>
        <p:nvSpPr>
          <p:cNvPr id="59" name="Shape 57"/>
          <p:cNvSpPr/>
          <p:nvPr/>
        </p:nvSpPr>
        <p:spPr>
          <a:xfrm>
            <a:off x="201168" y="4791456"/>
            <a:ext cx="2084832" cy="804672"/>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60" name="Shape 58"/>
          <p:cNvSpPr/>
          <p:nvPr/>
        </p:nvSpPr>
        <p:spPr>
          <a:xfrm>
            <a:off x="201168" y="4791456"/>
            <a:ext cx="2084832" cy="54864"/>
          </a:xfrm>
          <a:prstGeom prst="rect">
            <a:avLst/>
          </a:prstGeom>
          <a:solidFill>
            <a:srgbClr val="0D7377"/>
          </a:solidFill>
          <a:ln w="12700">
            <a:solidFill>
              <a:srgbClr val="0D7377"/>
            </a:solidFill>
            <a:prstDash val="solid"/>
          </a:ln>
        </p:spPr>
      </p:sp>
      <p:sp>
        <p:nvSpPr>
          <p:cNvPr id="61" name="Text 59"/>
          <p:cNvSpPr/>
          <p:nvPr/>
        </p:nvSpPr>
        <p:spPr>
          <a:xfrm>
            <a:off x="292608" y="4882896"/>
            <a:ext cx="1920240" cy="201168"/>
          </a:xfrm>
          <a:prstGeom prst="rect">
            <a:avLst/>
          </a:prstGeom>
          <a:noFill/>
          <a:ln/>
        </p:spPr>
        <p:txBody>
          <a:bodyPr wrap="square" lIns="0" tIns="0" rIns="0" bIns="0" rtlCol="0" anchor="ctr"/>
          <a:lstStyle/>
          <a:p>
            <a:pPr indent="0" marL="0">
              <a:buNone/>
            </a:pPr>
            <a:r>
              <a:rPr lang="en-US" sz="900" b="1" dirty="0">
                <a:solidFill>
                  <a:srgbClr val="0F2044"/>
                </a:solidFill>
              </a:rPr>
              <a:t>Core engine</a:t>
            </a:r>
            <a:endParaRPr lang="en-US" sz="900" dirty="0"/>
          </a:p>
        </p:txBody>
      </p:sp>
      <p:sp>
        <p:nvSpPr>
          <p:cNvPr id="62" name="Text 60"/>
          <p:cNvSpPr/>
          <p:nvPr/>
        </p:nvSpPr>
        <p:spPr>
          <a:xfrm>
            <a:off x="292608" y="5084064"/>
            <a:ext cx="914400" cy="164592"/>
          </a:xfrm>
          <a:prstGeom prst="rect">
            <a:avLst/>
          </a:prstGeom>
          <a:noFill/>
          <a:ln/>
        </p:spPr>
        <p:txBody>
          <a:bodyPr wrap="square" lIns="0" tIns="0" rIns="0" bIns="0" rtlCol="0" anchor="ctr"/>
          <a:lstStyle/>
          <a:p>
            <a:pPr indent="0" marL="0">
              <a:buNone/>
            </a:pPr>
            <a:r>
              <a:rPr lang="en-US" sz="800" b="1" dirty="0">
                <a:solidFill>
                  <a:srgbClr val="0D7377"/>
                </a:solidFill>
              </a:rPr>
              <a:t>Horizontal</a:t>
            </a:r>
            <a:endParaRPr lang="en-US" sz="800" dirty="0"/>
          </a:p>
        </p:txBody>
      </p:sp>
      <p:sp>
        <p:nvSpPr>
          <p:cNvPr id="63" name="Text 61"/>
          <p:cNvSpPr/>
          <p:nvPr/>
        </p:nvSpPr>
        <p:spPr>
          <a:xfrm>
            <a:off x="292608" y="5248656"/>
            <a:ext cx="1920240" cy="310896"/>
          </a:xfrm>
          <a:prstGeom prst="rect">
            <a:avLst/>
          </a:prstGeom>
          <a:noFill/>
          <a:ln/>
        </p:spPr>
        <p:txBody>
          <a:bodyPr wrap="square" lIns="0" tIns="0" rIns="0" bIns="0" rtlCol="0" anchor="ctr"/>
          <a:lstStyle/>
          <a:p>
            <a:pPr indent="0" marL="0">
              <a:buNone/>
            </a:pPr>
            <a:r>
              <a:rPr lang="en-US" sz="700" dirty="0">
                <a:solidFill>
                  <a:srgbClr val="64748B"/>
                </a:solidFill>
              </a:rPr>
              <a:t>Stateless binary — add nodes behind load balancer. All state in DB + cube. Config change triggers a rolling restart, no downtime.</a:t>
            </a:r>
            <a:endParaRPr lang="en-US" sz="700" dirty="0"/>
          </a:p>
        </p:txBody>
      </p:sp>
      <p:sp>
        <p:nvSpPr>
          <p:cNvPr id="64" name="Shape 62"/>
          <p:cNvSpPr/>
          <p:nvPr/>
        </p:nvSpPr>
        <p:spPr>
          <a:xfrm>
            <a:off x="2395728" y="4791456"/>
            <a:ext cx="2084832" cy="804672"/>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65" name="Shape 63"/>
          <p:cNvSpPr/>
          <p:nvPr/>
        </p:nvSpPr>
        <p:spPr>
          <a:xfrm>
            <a:off x="2395728" y="4791456"/>
            <a:ext cx="2084832" cy="54864"/>
          </a:xfrm>
          <a:prstGeom prst="rect">
            <a:avLst/>
          </a:prstGeom>
          <a:solidFill>
            <a:srgbClr val="0D7377"/>
          </a:solidFill>
          <a:ln w="12700">
            <a:solidFill>
              <a:srgbClr val="0D7377"/>
            </a:solidFill>
            <a:prstDash val="solid"/>
          </a:ln>
        </p:spPr>
      </p:sp>
      <p:sp>
        <p:nvSpPr>
          <p:cNvPr id="66" name="Text 64"/>
          <p:cNvSpPr/>
          <p:nvPr/>
        </p:nvSpPr>
        <p:spPr>
          <a:xfrm>
            <a:off x="2487168" y="4882896"/>
            <a:ext cx="1920240" cy="201168"/>
          </a:xfrm>
          <a:prstGeom prst="rect">
            <a:avLst/>
          </a:prstGeom>
          <a:noFill/>
          <a:ln/>
        </p:spPr>
        <p:txBody>
          <a:bodyPr wrap="square" lIns="0" tIns="0" rIns="0" bIns="0" rtlCol="0" anchor="ctr"/>
          <a:lstStyle/>
          <a:p>
            <a:pPr indent="0" marL="0">
              <a:buNone/>
            </a:pPr>
            <a:r>
              <a:rPr lang="en-US" sz="900" b="1" dirty="0">
                <a:solidFill>
                  <a:srgbClr val="0F2044"/>
                </a:solidFill>
              </a:rPr>
              <a:t>Extension containers</a:t>
            </a:r>
            <a:endParaRPr lang="en-US" sz="900" dirty="0"/>
          </a:p>
        </p:txBody>
      </p:sp>
      <p:sp>
        <p:nvSpPr>
          <p:cNvPr id="67" name="Text 65"/>
          <p:cNvSpPr/>
          <p:nvPr/>
        </p:nvSpPr>
        <p:spPr>
          <a:xfrm>
            <a:off x="2487168" y="5084064"/>
            <a:ext cx="914400" cy="164592"/>
          </a:xfrm>
          <a:prstGeom prst="rect">
            <a:avLst/>
          </a:prstGeom>
          <a:noFill/>
          <a:ln/>
        </p:spPr>
        <p:txBody>
          <a:bodyPr wrap="square" lIns="0" tIns="0" rIns="0" bIns="0" rtlCol="0" anchor="ctr"/>
          <a:lstStyle/>
          <a:p>
            <a:pPr indent="0" marL="0">
              <a:buNone/>
            </a:pPr>
            <a:r>
              <a:rPr lang="en-US" sz="800" b="1" dirty="0">
                <a:solidFill>
                  <a:srgbClr val="0D7377"/>
                </a:solidFill>
              </a:rPr>
              <a:t>Per-tenant</a:t>
            </a:r>
            <a:endParaRPr lang="en-US" sz="800" dirty="0"/>
          </a:p>
        </p:txBody>
      </p:sp>
      <p:sp>
        <p:nvSpPr>
          <p:cNvPr id="68" name="Text 66"/>
          <p:cNvSpPr/>
          <p:nvPr/>
        </p:nvSpPr>
        <p:spPr>
          <a:xfrm>
            <a:off x="2487168" y="5248656"/>
            <a:ext cx="1920240" cy="310896"/>
          </a:xfrm>
          <a:prstGeom prst="rect">
            <a:avLst/>
          </a:prstGeom>
          <a:noFill/>
          <a:ln/>
        </p:spPr>
        <p:txBody>
          <a:bodyPr wrap="square" lIns="0" tIns="0" rIns="0" bIns="0" rtlCol="0" anchor="ctr"/>
          <a:lstStyle/>
          <a:p>
            <a:pPr indent="0" marL="0">
              <a:buNone/>
            </a:pPr>
            <a:r>
              <a:rPr lang="en-US" sz="700" dirty="0">
                <a:solidFill>
                  <a:srgbClr val="64748B"/>
                </a:solidFill>
              </a:rPr>
              <a:t>Each retailer's extensions run in isolated containers. Scale independently. A spike in one retailer's load does not affect others.</a:t>
            </a:r>
            <a:endParaRPr lang="en-US" sz="700" dirty="0"/>
          </a:p>
        </p:txBody>
      </p:sp>
      <p:sp>
        <p:nvSpPr>
          <p:cNvPr id="69" name="Shape 67"/>
          <p:cNvSpPr/>
          <p:nvPr/>
        </p:nvSpPr>
        <p:spPr>
          <a:xfrm>
            <a:off x="4590288" y="4791456"/>
            <a:ext cx="2084832" cy="804672"/>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70" name="Shape 68"/>
          <p:cNvSpPr/>
          <p:nvPr/>
        </p:nvSpPr>
        <p:spPr>
          <a:xfrm>
            <a:off x="4590288" y="4791456"/>
            <a:ext cx="2084832" cy="54864"/>
          </a:xfrm>
          <a:prstGeom prst="rect">
            <a:avLst/>
          </a:prstGeom>
          <a:solidFill>
            <a:srgbClr val="0D7377"/>
          </a:solidFill>
          <a:ln w="12700">
            <a:solidFill>
              <a:srgbClr val="0D7377"/>
            </a:solidFill>
            <a:prstDash val="solid"/>
          </a:ln>
        </p:spPr>
      </p:sp>
      <p:sp>
        <p:nvSpPr>
          <p:cNvPr id="71" name="Text 69"/>
          <p:cNvSpPr/>
          <p:nvPr/>
        </p:nvSpPr>
        <p:spPr>
          <a:xfrm>
            <a:off x="4681728" y="4882896"/>
            <a:ext cx="1920240" cy="201168"/>
          </a:xfrm>
          <a:prstGeom prst="rect">
            <a:avLst/>
          </a:prstGeom>
          <a:noFill/>
          <a:ln/>
        </p:spPr>
        <p:txBody>
          <a:bodyPr wrap="square" lIns="0" tIns="0" rIns="0" bIns="0" rtlCol="0" anchor="ctr"/>
          <a:lstStyle/>
          <a:p>
            <a:pPr indent="0" marL="0">
              <a:buNone/>
            </a:pPr>
            <a:r>
              <a:rPr lang="en-US" sz="900" b="1" dirty="0">
                <a:solidFill>
                  <a:srgbClr val="0F2044"/>
                </a:solidFill>
              </a:rPr>
              <a:t>OLAP / cube layer</a:t>
            </a:r>
            <a:endParaRPr lang="en-US" sz="900" dirty="0"/>
          </a:p>
        </p:txBody>
      </p:sp>
      <p:sp>
        <p:nvSpPr>
          <p:cNvPr id="72" name="Text 70"/>
          <p:cNvSpPr/>
          <p:nvPr/>
        </p:nvSpPr>
        <p:spPr>
          <a:xfrm>
            <a:off x="4681728" y="5084064"/>
            <a:ext cx="914400" cy="164592"/>
          </a:xfrm>
          <a:prstGeom prst="rect">
            <a:avLst/>
          </a:prstGeom>
          <a:noFill/>
          <a:ln/>
        </p:spPr>
        <p:txBody>
          <a:bodyPr wrap="square" lIns="0" tIns="0" rIns="0" bIns="0" rtlCol="0" anchor="ctr"/>
          <a:lstStyle/>
          <a:p>
            <a:pPr indent="0" marL="0">
              <a:buNone/>
            </a:pPr>
            <a:r>
              <a:rPr lang="en-US" sz="800" b="1" dirty="0">
                <a:solidFill>
                  <a:srgbClr val="0D7377"/>
                </a:solidFill>
              </a:rPr>
              <a:t>Read replicas</a:t>
            </a:r>
            <a:endParaRPr lang="en-US" sz="800" dirty="0"/>
          </a:p>
        </p:txBody>
      </p:sp>
      <p:sp>
        <p:nvSpPr>
          <p:cNvPr id="73" name="Text 71"/>
          <p:cNvSpPr/>
          <p:nvPr/>
        </p:nvSpPr>
        <p:spPr>
          <a:xfrm>
            <a:off x="4681728" y="5248656"/>
            <a:ext cx="1920240" cy="310896"/>
          </a:xfrm>
          <a:prstGeom prst="rect">
            <a:avLst/>
          </a:prstGeom>
          <a:noFill/>
          <a:ln/>
        </p:spPr>
        <p:txBody>
          <a:bodyPr wrap="square" lIns="0" tIns="0" rIns="0" bIns="0" rtlCol="0" anchor="ctr"/>
          <a:lstStyle/>
          <a:p>
            <a:pPr indent="0" marL="0">
              <a:buNone/>
            </a:pPr>
            <a:r>
              <a:rPr lang="en-US" sz="700" dirty="0">
                <a:solidFill>
                  <a:srgbClr val="64748B"/>
                </a:solidFill>
              </a:rPr>
              <a:t>Cube serves reads from replicas. Write path (cube invalidation) is async and decoupled from planner response time.</a:t>
            </a:r>
            <a:endParaRPr lang="en-US" sz="700" dirty="0"/>
          </a:p>
        </p:txBody>
      </p:sp>
      <p:sp>
        <p:nvSpPr>
          <p:cNvPr id="74" name="Shape 72"/>
          <p:cNvSpPr/>
          <p:nvPr/>
        </p:nvSpPr>
        <p:spPr>
          <a:xfrm>
            <a:off x="6784848" y="4791456"/>
            <a:ext cx="2084832" cy="804672"/>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75" name="Shape 73"/>
          <p:cNvSpPr/>
          <p:nvPr/>
        </p:nvSpPr>
        <p:spPr>
          <a:xfrm>
            <a:off x="6784848" y="4791456"/>
            <a:ext cx="2084832" cy="54864"/>
          </a:xfrm>
          <a:prstGeom prst="rect">
            <a:avLst/>
          </a:prstGeom>
          <a:solidFill>
            <a:srgbClr val="0D7377"/>
          </a:solidFill>
          <a:ln w="12700">
            <a:solidFill>
              <a:srgbClr val="0D7377"/>
            </a:solidFill>
            <a:prstDash val="solid"/>
          </a:ln>
        </p:spPr>
      </p:sp>
      <p:sp>
        <p:nvSpPr>
          <p:cNvPr id="76" name="Text 74"/>
          <p:cNvSpPr/>
          <p:nvPr/>
        </p:nvSpPr>
        <p:spPr>
          <a:xfrm>
            <a:off x="6876288" y="4882896"/>
            <a:ext cx="1920240" cy="201168"/>
          </a:xfrm>
          <a:prstGeom prst="rect">
            <a:avLst/>
          </a:prstGeom>
          <a:noFill/>
          <a:ln/>
        </p:spPr>
        <p:txBody>
          <a:bodyPr wrap="square" lIns="0" tIns="0" rIns="0" bIns="0" rtlCol="0" anchor="ctr"/>
          <a:lstStyle/>
          <a:p>
            <a:pPr indent="0" marL="0">
              <a:buNone/>
            </a:pPr>
            <a:r>
              <a:rPr lang="en-US" sz="900" b="1" dirty="0">
                <a:solidFill>
                  <a:srgbClr val="0F2044"/>
                </a:solidFill>
              </a:rPr>
              <a:t>View Store</a:t>
            </a:r>
            <a:endParaRPr lang="en-US" sz="900" dirty="0"/>
          </a:p>
        </p:txBody>
      </p:sp>
      <p:sp>
        <p:nvSpPr>
          <p:cNvPr id="77" name="Text 75"/>
          <p:cNvSpPr/>
          <p:nvPr/>
        </p:nvSpPr>
        <p:spPr>
          <a:xfrm>
            <a:off x="6876288" y="5084064"/>
            <a:ext cx="914400" cy="164592"/>
          </a:xfrm>
          <a:prstGeom prst="rect">
            <a:avLst/>
          </a:prstGeom>
          <a:noFill/>
          <a:ln/>
        </p:spPr>
        <p:txBody>
          <a:bodyPr wrap="square" lIns="0" tIns="0" rIns="0" bIns="0" rtlCol="0" anchor="ctr"/>
          <a:lstStyle/>
          <a:p>
            <a:pPr indent="0" marL="0">
              <a:buNone/>
            </a:pPr>
            <a:r>
              <a:rPr lang="en-US" sz="800" b="1" dirty="0">
                <a:solidFill>
                  <a:srgbClr val="0D7377"/>
                </a:solidFill>
              </a:rPr>
              <a:t>Per-user sharding</a:t>
            </a:r>
            <a:endParaRPr lang="en-US" sz="800" dirty="0"/>
          </a:p>
        </p:txBody>
      </p:sp>
      <p:sp>
        <p:nvSpPr>
          <p:cNvPr id="78" name="Text 76"/>
          <p:cNvSpPr/>
          <p:nvPr/>
        </p:nvSpPr>
        <p:spPr>
          <a:xfrm>
            <a:off x="6876288" y="5248656"/>
            <a:ext cx="1920240" cy="310896"/>
          </a:xfrm>
          <a:prstGeom prst="rect">
            <a:avLst/>
          </a:prstGeom>
          <a:noFill/>
          <a:ln/>
        </p:spPr>
        <p:txBody>
          <a:bodyPr wrap="square" lIns="0" tIns="0" rIns="0" bIns="0" rtlCol="0" anchor="ctr"/>
          <a:lstStyle/>
          <a:p>
            <a:pPr indent="0" marL="0">
              <a:buNone/>
            </a:pPr>
            <a:r>
              <a:rPr lang="en-US" sz="700" dirty="0">
                <a:solidFill>
                  <a:srgbClr val="64748B"/>
                </a:solidFill>
              </a:rPr>
              <a:t>View Store partitioned by user_id. No cross-user contention. Growth is linear with active planner count.</a:t>
            </a:r>
            <a:endParaRPr lang="en-US" sz="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F2044"/>
          </a:solidFill>
          <a:ln w="12700">
            <a:solidFill>
              <a:srgbClr val="0F2044"/>
            </a:solidFill>
            <a:prstDash val="solid"/>
          </a:ln>
        </p:spPr>
      </p:sp>
      <p:sp>
        <p:nvSpPr>
          <p:cNvPr id="3" name="Shape 1"/>
          <p:cNvSpPr/>
          <p:nvPr/>
        </p:nvSpPr>
        <p:spPr>
          <a:xfrm>
            <a:off x="0" y="0"/>
            <a:ext cx="292608" cy="658368"/>
          </a:xfrm>
          <a:prstGeom prst="rect">
            <a:avLst/>
          </a:prstGeom>
          <a:solidFill>
            <a:srgbClr val="0D7377"/>
          </a:solidFill>
          <a:ln w="12700">
            <a:solidFill>
              <a:srgbClr val="0D7377"/>
            </a:solidFill>
            <a:prstDash val="solid"/>
          </a:ln>
        </p:spPr>
      </p:sp>
      <p:sp>
        <p:nvSpPr>
          <p:cNvPr id="4" name="Text 2"/>
          <p:cNvSpPr/>
          <p:nvPr/>
        </p:nvSpPr>
        <p:spPr>
          <a:xfrm>
            <a:off x="420624" y="0"/>
            <a:ext cx="5486400" cy="329184"/>
          </a:xfrm>
          <a:prstGeom prst="rect">
            <a:avLst/>
          </a:prstGeom>
          <a:noFill/>
          <a:ln/>
        </p:spPr>
        <p:txBody>
          <a:bodyPr wrap="square" lIns="0" tIns="0" rIns="0" bIns="0" rtlCol="0" anchor="b"/>
          <a:lstStyle/>
          <a:p>
            <a:pPr indent="0" marL="0">
              <a:buNone/>
            </a:pPr>
            <a:r>
              <a:rPr lang="en-US" sz="750" b="1" spc="200" kern="0" dirty="0">
                <a:solidFill>
                  <a:srgbClr val="94A3B8"/>
                </a:solidFill>
              </a:rPr>
              <a:t>APPENDIX  ·  NON-FUNCTIONAL REQUIREMENTS</a:t>
            </a:r>
            <a:endParaRPr lang="en-US" sz="750" dirty="0"/>
          </a:p>
        </p:txBody>
      </p:sp>
      <p:sp>
        <p:nvSpPr>
          <p:cNvPr id="5" name="Text 3"/>
          <p:cNvSpPr/>
          <p:nvPr/>
        </p:nvSpPr>
        <p:spPr>
          <a:xfrm>
            <a:off x="420624" y="320040"/>
            <a:ext cx="6400800" cy="310896"/>
          </a:xfrm>
          <a:prstGeom prst="rect">
            <a:avLst/>
          </a:prstGeom>
          <a:noFill/>
          <a:ln/>
        </p:spPr>
        <p:txBody>
          <a:bodyPr wrap="square" lIns="0" tIns="0" rIns="0" bIns="0" rtlCol="0" anchor="t"/>
          <a:lstStyle/>
          <a:p>
            <a:pPr indent="0" marL="0">
              <a:buNone/>
            </a:pPr>
            <a:r>
              <a:rPr lang="en-US" sz="1200" b="1" dirty="0">
                <a:solidFill>
                  <a:srgbClr val="FFFFFF"/>
                </a:solidFill>
              </a:rPr>
              <a:t>NFR-02  ·  Resilience &amp; Security</a:t>
            </a:r>
            <a:endParaRPr lang="en-US" sz="1200" dirty="0"/>
          </a:p>
        </p:txBody>
      </p:sp>
      <p:sp>
        <p:nvSpPr>
          <p:cNvPr id="6" name="Text 4"/>
          <p:cNvSpPr/>
          <p:nvPr/>
        </p:nvSpPr>
        <p:spPr>
          <a:xfrm>
            <a:off x="7863840" y="0"/>
            <a:ext cx="1097280" cy="658368"/>
          </a:xfrm>
          <a:prstGeom prst="rect">
            <a:avLst/>
          </a:prstGeom>
          <a:noFill/>
          <a:ln/>
        </p:spPr>
        <p:txBody>
          <a:bodyPr wrap="square" lIns="0" tIns="0" rIns="0" bIns="0" rtlCol="0" anchor="ctr"/>
          <a:lstStyle/>
          <a:p>
            <a:pPr algn="r" indent="0" marL="0">
              <a:buNone/>
            </a:pPr>
            <a:r>
              <a:rPr lang="en-US" sz="900" dirty="0">
                <a:solidFill>
                  <a:srgbClr val="94A3B8"/>
                </a:solidFill>
              </a:rPr>
              <a:t>NFR-02</a:t>
            </a:r>
            <a:endParaRPr lang="en-US" sz="900" dirty="0"/>
          </a:p>
        </p:txBody>
      </p:sp>
      <p:sp>
        <p:nvSpPr>
          <p:cNvPr id="7" name="Shape 5"/>
          <p:cNvSpPr/>
          <p:nvPr/>
        </p:nvSpPr>
        <p:spPr>
          <a:xfrm>
            <a:off x="201168" y="804672"/>
            <a:ext cx="8741664" cy="237744"/>
          </a:xfrm>
          <a:prstGeom prst="rect">
            <a:avLst/>
          </a:prstGeom>
          <a:solidFill>
            <a:srgbClr val="334155"/>
          </a:solidFill>
          <a:ln w="12700">
            <a:solidFill>
              <a:srgbClr val="334155"/>
            </a:solidFill>
            <a:prstDash val="solid"/>
          </a:ln>
        </p:spPr>
      </p:sp>
      <p:sp>
        <p:nvSpPr>
          <p:cNvPr id="8" name="Text 6"/>
          <p:cNvSpPr/>
          <p:nvPr/>
        </p:nvSpPr>
        <p:spPr>
          <a:xfrm>
            <a:off x="320040" y="804672"/>
            <a:ext cx="8412480" cy="237744"/>
          </a:xfrm>
          <a:prstGeom prst="rect">
            <a:avLst/>
          </a:prstGeom>
          <a:noFill/>
          <a:ln/>
        </p:spPr>
        <p:txBody>
          <a:bodyPr wrap="square" lIns="0" tIns="0" rIns="0" bIns="0" rtlCol="0" anchor="ctr"/>
          <a:lstStyle/>
          <a:p>
            <a:pPr indent="0" marL="0">
              <a:buNone/>
            </a:pPr>
            <a:r>
              <a:rPr lang="en-US" sz="850" b="1" spc="100" kern="0" dirty="0">
                <a:solidFill>
                  <a:srgbClr val="FFFFFF"/>
                </a:solidFill>
              </a:rPr>
              <a:t>HOOK FAILURE MODES &amp; FALLBACK BEHAVIOUR — RESILIENCE GUARANTEED BY ARCHITECTURE</a:t>
            </a:r>
            <a:endParaRPr lang="en-US" sz="850" dirty="0"/>
          </a:p>
        </p:txBody>
      </p:sp>
      <p:sp>
        <p:nvSpPr>
          <p:cNvPr id="9" name="Shape 7"/>
          <p:cNvSpPr/>
          <p:nvPr/>
        </p:nvSpPr>
        <p:spPr>
          <a:xfrm>
            <a:off x="201168" y="1042416"/>
            <a:ext cx="8741664" cy="237744"/>
          </a:xfrm>
          <a:prstGeom prst="rect">
            <a:avLst/>
          </a:prstGeom>
          <a:solidFill>
            <a:srgbClr val="0F2044"/>
          </a:solidFill>
          <a:ln w="12700">
            <a:solidFill>
              <a:srgbClr val="0F2044"/>
            </a:solidFill>
            <a:prstDash val="solid"/>
          </a:ln>
        </p:spPr>
      </p:sp>
      <p:sp>
        <p:nvSpPr>
          <p:cNvPr id="10" name="Text 8"/>
          <p:cNvSpPr/>
          <p:nvPr/>
        </p:nvSpPr>
        <p:spPr>
          <a:xfrm>
            <a:off x="246888" y="1042416"/>
            <a:ext cx="1572768" cy="237744"/>
          </a:xfrm>
          <a:prstGeom prst="rect">
            <a:avLst/>
          </a:prstGeom>
          <a:noFill/>
          <a:ln/>
        </p:spPr>
        <p:txBody>
          <a:bodyPr wrap="square" lIns="0" tIns="0" rIns="0" bIns="0" rtlCol="0" anchor="ctr"/>
          <a:lstStyle/>
          <a:p>
            <a:pPr indent="0" marL="0">
              <a:buNone/>
            </a:pPr>
            <a:r>
              <a:rPr lang="en-US" sz="750" b="1" dirty="0">
                <a:solidFill>
                  <a:srgbClr val="FFFFFF"/>
                </a:solidFill>
              </a:rPr>
              <a:t>HOOK</a:t>
            </a:r>
            <a:endParaRPr lang="en-US" sz="750" dirty="0"/>
          </a:p>
        </p:txBody>
      </p:sp>
      <p:sp>
        <p:nvSpPr>
          <p:cNvPr id="11" name="Text 9"/>
          <p:cNvSpPr/>
          <p:nvPr/>
        </p:nvSpPr>
        <p:spPr>
          <a:xfrm>
            <a:off x="1819656" y="1042416"/>
            <a:ext cx="1188720" cy="237744"/>
          </a:xfrm>
          <a:prstGeom prst="rect">
            <a:avLst/>
          </a:prstGeom>
          <a:noFill/>
          <a:ln/>
        </p:spPr>
        <p:txBody>
          <a:bodyPr wrap="square" lIns="0" tIns="0" rIns="0" bIns="0" rtlCol="0" anchor="ctr"/>
          <a:lstStyle/>
          <a:p>
            <a:pPr indent="0" marL="0">
              <a:buNone/>
            </a:pPr>
            <a:r>
              <a:rPr lang="en-US" sz="750" b="1" dirty="0">
                <a:solidFill>
                  <a:srgbClr val="FFFFFF"/>
                </a:solidFill>
              </a:rPr>
              <a:t>FAILURE TYPE</a:t>
            </a:r>
            <a:endParaRPr lang="en-US" sz="750" dirty="0"/>
          </a:p>
        </p:txBody>
      </p:sp>
      <p:sp>
        <p:nvSpPr>
          <p:cNvPr id="12" name="Text 10"/>
          <p:cNvSpPr/>
          <p:nvPr/>
        </p:nvSpPr>
        <p:spPr>
          <a:xfrm>
            <a:off x="3008376" y="1042416"/>
            <a:ext cx="914400" cy="237744"/>
          </a:xfrm>
          <a:prstGeom prst="rect">
            <a:avLst/>
          </a:prstGeom>
          <a:noFill/>
          <a:ln/>
        </p:spPr>
        <p:txBody>
          <a:bodyPr wrap="square" lIns="0" tIns="0" rIns="0" bIns="0" rtlCol="0" anchor="ctr"/>
          <a:lstStyle/>
          <a:p>
            <a:pPr indent="0" marL="0">
              <a:buNone/>
            </a:pPr>
            <a:r>
              <a:rPr lang="en-US" sz="750" b="1" dirty="0">
                <a:solidFill>
                  <a:srgbClr val="FFFFFF"/>
                </a:solidFill>
              </a:rPr>
              <a:t>PLANNING EFFECT</a:t>
            </a:r>
            <a:endParaRPr lang="en-US" sz="750" dirty="0"/>
          </a:p>
        </p:txBody>
      </p:sp>
      <p:sp>
        <p:nvSpPr>
          <p:cNvPr id="13" name="Text 11"/>
          <p:cNvSpPr/>
          <p:nvPr/>
        </p:nvSpPr>
        <p:spPr>
          <a:xfrm>
            <a:off x="3922776" y="1042416"/>
            <a:ext cx="3749040" cy="237744"/>
          </a:xfrm>
          <a:prstGeom prst="rect">
            <a:avLst/>
          </a:prstGeom>
          <a:noFill/>
          <a:ln/>
        </p:spPr>
        <p:txBody>
          <a:bodyPr wrap="square" lIns="0" tIns="0" rIns="0" bIns="0" rtlCol="0" anchor="ctr"/>
          <a:lstStyle/>
          <a:p>
            <a:pPr indent="0" marL="0">
              <a:buNone/>
            </a:pPr>
            <a:r>
              <a:rPr lang="en-US" sz="750" b="1" dirty="0">
                <a:solidFill>
                  <a:srgbClr val="FFFFFF"/>
                </a:solidFill>
              </a:rPr>
              <a:t>FALLBACK BEHAVIOUR</a:t>
            </a:r>
            <a:endParaRPr lang="en-US" sz="750" dirty="0"/>
          </a:p>
        </p:txBody>
      </p:sp>
      <p:sp>
        <p:nvSpPr>
          <p:cNvPr id="14" name="Text 12"/>
          <p:cNvSpPr/>
          <p:nvPr/>
        </p:nvSpPr>
        <p:spPr>
          <a:xfrm>
            <a:off x="7671816" y="1042416"/>
            <a:ext cx="1170432" cy="237744"/>
          </a:xfrm>
          <a:prstGeom prst="rect">
            <a:avLst/>
          </a:prstGeom>
          <a:noFill/>
          <a:ln/>
        </p:spPr>
        <p:txBody>
          <a:bodyPr wrap="square" lIns="0" tIns="0" rIns="0" bIns="0" rtlCol="0" anchor="ctr"/>
          <a:lstStyle/>
          <a:p>
            <a:pPr indent="0" marL="0">
              <a:buNone/>
            </a:pPr>
            <a:r>
              <a:rPr lang="en-US" sz="750" b="1" dirty="0">
                <a:solidFill>
                  <a:srgbClr val="FFFFFF"/>
                </a:solidFill>
              </a:rPr>
              <a:t>RESILIENCE SLA</a:t>
            </a:r>
            <a:endParaRPr lang="en-US" sz="750" dirty="0"/>
          </a:p>
        </p:txBody>
      </p:sp>
      <p:sp>
        <p:nvSpPr>
          <p:cNvPr id="15" name="Shape 13"/>
          <p:cNvSpPr/>
          <p:nvPr/>
        </p:nvSpPr>
        <p:spPr>
          <a:xfrm>
            <a:off x="201168" y="1280160"/>
            <a:ext cx="8741664" cy="402336"/>
          </a:xfrm>
          <a:prstGeom prst="rect">
            <a:avLst/>
          </a:prstGeom>
          <a:solidFill>
            <a:srgbClr val="F7F9FC"/>
          </a:solidFill>
          <a:ln w="6350">
            <a:solidFill>
              <a:srgbClr val="E2E8F0"/>
            </a:solidFill>
            <a:prstDash val="solid"/>
          </a:ln>
        </p:spPr>
      </p:sp>
      <p:sp>
        <p:nvSpPr>
          <p:cNvPr id="16" name="Text 14"/>
          <p:cNvSpPr/>
          <p:nvPr/>
        </p:nvSpPr>
        <p:spPr>
          <a:xfrm>
            <a:off x="246888" y="1316736"/>
            <a:ext cx="1499616" cy="329184"/>
          </a:xfrm>
          <a:prstGeom prst="rect">
            <a:avLst/>
          </a:prstGeom>
          <a:noFill/>
          <a:ln/>
        </p:spPr>
        <p:txBody>
          <a:bodyPr wrap="square" lIns="0" tIns="0" rIns="0" bIns="0" rtlCol="0" anchor="ctr"/>
          <a:lstStyle/>
          <a:p>
            <a:pPr indent="0" marL="0">
              <a:buNone/>
            </a:pPr>
            <a:r>
              <a:rPr lang="en-US" sz="800" b="1" dirty="0">
                <a:solidFill>
                  <a:srgbClr val="0F2044"/>
                </a:solidFill>
              </a:rPr>
              <a:t>Score modifier (H2)</a:t>
            </a:r>
            <a:endParaRPr lang="en-US" sz="800" dirty="0"/>
          </a:p>
        </p:txBody>
      </p:sp>
      <p:sp>
        <p:nvSpPr>
          <p:cNvPr id="17" name="Text 15"/>
          <p:cNvSpPr/>
          <p:nvPr/>
        </p:nvSpPr>
        <p:spPr>
          <a:xfrm>
            <a:off x="1819656" y="1316736"/>
            <a:ext cx="1115568" cy="329184"/>
          </a:xfrm>
          <a:prstGeom prst="rect">
            <a:avLst/>
          </a:prstGeom>
          <a:noFill/>
          <a:ln/>
        </p:spPr>
        <p:txBody>
          <a:bodyPr wrap="square" lIns="0" tIns="0" rIns="0" bIns="0" rtlCol="0" anchor="ctr"/>
          <a:lstStyle/>
          <a:p>
            <a:pPr indent="0" marL="0">
              <a:buNone/>
            </a:pPr>
            <a:r>
              <a:rPr lang="en-US" sz="750" dirty="0">
                <a:solidFill>
                  <a:srgbClr val="DC2626"/>
                </a:solidFill>
              </a:rPr>
              <a:t>Extension crash</a:t>
            </a:r>
            <a:endParaRPr lang="en-US" sz="750" dirty="0"/>
          </a:p>
        </p:txBody>
      </p:sp>
      <p:sp>
        <p:nvSpPr>
          <p:cNvPr id="18" name="Text 16"/>
          <p:cNvSpPr/>
          <p:nvPr/>
        </p:nvSpPr>
        <p:spPr>
          <a:xfrm>
            <a:off x="3008376" y="1316736"/>
            <a:ext cx="841248" cy="329184"/>
          </a:xfrm>
          <a:prstGeom prst="rect">
            <a:avLst/>
          </a:prstGeom>
          <a:noFill/>
          <a:ln/>
        </p:spPr>
        <p:txBody>
          <a:bodyPr wrap="square" lIns="0" tIns="0" rIns="0" bIns="0" rtlCol="0" anchor="ctr"/>
          <a:lstStyle/>
          <a:p>
            <a:pPr indent="0" marL="0">
              <a:buNone/>
            </a:pPr>
            <a:r>
              <a:rPr lang="en-US" sz="750" b="1" dirty="0">
                <a:solidFill>
                  <a:srgbClr val="059669"/>
                </a:solidFill>
              </a:rPr>
              <a:t>None on core</a:t>
            </a:r>
            <a:endParaRPr lang="en-US" sz="750" dirty="0"/>
          </a:p>
        </p:txBody>
      </p:sp>
      <p:sp>
        <p:nvSpPr>
          <p:cNvPr id="19" name="Text 17"/>
          <p:cNvSpPr/>
          <p:nvPr/>
        </p:nvSpPr>
        <p:spPr>
          <a:xfrm>
            <a:off x="3922776" y="1307592"/>
            <a:ext cx="3675888" cy="365760"/>
          </a:xfrm>
          <a:prstGeom prst="rect">
            <a:avLst/>
          </a:prstGeom>
          <a:noFill/>
          <a:ln/>
        </p:spPr>
        <p:txBody>
          <a:bodyPr wrap="square" lIns="0" tIns="0" rIns="0" bIns="0" rtlCol="0" anchor="ctr"/>
          <a:lstStyle/>
          <a:p>
            <a:pPr indent="0" marL="0">
              <a:buNone/>
            </a:pPr>
            <a:r>
              <a:rPr lang="en-US" sz="750" dirty="0">
                <a:solidFill>
                  <a:srgbClr val="64748B"/>
                </a:solidFill>
              </a:rPr>
              <a:t>Framework catches exception. Core continues with unmodified score vector. Crash logged to retailer's extension error stream. No planner-visible interruption.</a:t>
            </a:r>
            <a:endParaRPr lang="en-US" sz="750" dirty="0"/>
          </a:p>
        </p:txBody>
      </p:sp>
      <p:sp>
        <p:nvSpPr>
          <p:cNvPr id="20" name="Text 18"/>
          <p:cNvSpPr/>
          <p:nvPr/>
        </p:nvSpPr>
        <p:spPr>
          <a:xfrm>
            <a:off x="7671816" y="1316736"/>
            <a:ext cx="1097280" cy="329184"/>
          </a:xfrm>
          <a:prstGeom prst="rect">
            <a:avLst/>
          </a:prstGeom>
          <a:noFill/>
          <a:ln/>
        </p:spPr>
        <p:txBody>
          <a:bodyPr wrap="square" lIns="0" tIns="0" rIns="0" bIns="0" rtlCol="0" anchor="ctr"/>
          <a:lstStyle/>
          <a:p>
            <a:pPr indent="0" marL="0">
              <a:buNone/>
            </a:pPr>
            <a:r>
              <a:rPr lang="en-US" sz="800" b="1" dirty="0">
                <a:solidFill>
                  <a:srgbClr val="0D7377"/>
                </a:solidFill>
              </a:rPr>
              <a:t>Zero downtime</a:t>
            </a:r>
            <a:endParaRPr lang="en-US" sz="800" dirty="0"/>
          </a:p>
        </p:txBody>
      </p:sp>
      <p:sp>
        <p:nvSpPr>
          <p:cNvPr id="21" name="Shape 19"/>
          <p:cNvSpPr/>
          <p:nvPr/>
        </p:nvSpPr>
        <p:spPr>
          <a:xfrm>
            <a:off x="201168" y="1682496"/>
            <a:ext cx="8741664" cy="402336"/>
          </a:xfrm>
          <a:prstGeom prst="rect">
            <a:avLst/>
          </a:prstGeom>
          <a:solidFill>
            <a:srgbClr val="FFFFFF"/>
          </a:solidFill>
          <a:ln w="6350">
            <a:solidFill>
              <a:srgbClr val="E2E8F0"/>
            </a:solidFill>
            <a:prstDash val="solid"/>
          </a:ln>
        </p:spPr>
      </p:sp>
      <p:sp>
        <p:nvSpPr>
          <p:cNvPr id="22" name="Text 20"/>
          <p:cNvSpPr/>
          <p:nvPr/>
        </p:nvSpPr>
        <p:spPr>
          <a:xfrm>
            <a:off x="246888" y="1719072"/>
            <a:ext cx="1499616" cy="329184"/>
          </a:xfrm>
          <a:prstGeom prst="rect">
            <a:avLst/>
          </a:prstGeom>
          <a:noFill/>
          <a:ln/>
        </p:spPr>
        <p:txBody>
          <a:bodyPr wrap="square" lIns="0" tIns="0" rIns="0" bIns="0" rtlCol="0" anchor="ctr"/>
          <a:lstStyle/>
          <a:p>
            <a:pPr indent="0" marL="0">
              <a:buNone/>
            </a:pPr>
            <a:r>
              <a:rPr lang="en-US" sz="800" b="1" dirty="0">
                <a:solidFill>
                  <a:srgbClr val="0F2044"/>
                </a:solidFill>
              </a:rPr>
              <a:t>Custom suppression (H3)</a:t>
            </a:r>
            <a:endParaRPr lang="en-US" sz="800" dirty="0"/>
          </a:p>
        </p:txBody>
      </p:sp>
      <p:sp>
        <p:nvSpPr>
          <p:cNvPr id="23" name="Text 21"/>
          <p:cNvSpPr/>
          <p:nvPr/>
        </p:nvSpPr>
        <p:spPr>
          <a:xfrm>
            <a:off x="1819656" y="1719072"/>
            <a:ext cx="1115568" cy="329184"/>
          </a:xfrm>
          <a:prstGeom prst="rect">
            <a:avLst/>
          </a:prstGeom>
          <a:noFill/>
          <a:ln/>
        </p:spPr>
        <p:txBody>
          <a:bodyPr wrap="square" lIns="0" tIns="0" rIns="0" bIns="0" rtlCol="0" anchor="ctr"/>
          <a:lstStyle/>
          <a:p>
            <a:pPr indent="0" marL="0">
              <a:buNone/>
            </a:pPr>
            <a:r>
              <a:rPr lang="en-US" sz="750" dirty="0">
                <a:solidFill>
                  <a:srgbClr val="DC2626"/>
                </a:solidFill>
              </a:rPr>
              <a:t>Extension timeout</a:t>
            </a:r>
            <a:endParaRPr lang="en-US" sz="750" dirty="0"/>
          </a:p>
        </p:txBody>
      </p:sp>
      <p:sp>
        <p:nvSpPr>
          <p:cNvPr id="24" name="Text 22"/>
          <p:cNvSpPr/>
          <p:nvPr/>
        </p:nvSpPr>
        <p:spPr>
          <a:xfrm>
            <a:off x="3008376" y="1719072"/>
            <a:ext cx="841248" cy="329184"/>
          </a:xfrm>
          <a:prstGeom prst="rect">
            <a:avLst/>
          </a:prstGeom>
          <a:noFill/>
          <a:ln/>
        </p:spPr>
        <p:txBody>
          <a:bodyPr wrap="square" lIns="0" tIns="0" rIns="0" bIns="0" rtlCol="0" anchor="ctr"/>
          <a:lstStyle/>
          <a:p>
            <a:pPr indent="0" marL="0">
              <a:buNone/>
            </a:pPr>
            <a:r>
              <a:rPr lang="en-US" sz="750" b="1" dirty="0">
                <a:solidFill>
                  <a:srgbClr val="059669"/>
                </a:solidFill>
              </a:rPr>
              <a:t>None on core</a:t>
            </a:r>
            <a:endParaRPr lang="en-US" sz="750" dirty="0"/>
          </a:p>
        </p:txBody>
      </p:sp>
      <p:sp>
        <p:nvSpPr>
          <p:cNvPr id="25" name="Text 23"/>
          <p:cNvSpPr/>
          <p:nvPr/>
        </p:nvSpPr>
        <p:spPr>
          <a:xfrm>
            <a:off x="3922776" y="1709928"/>
            <a:ext cx="3675888" cy="365760"/>
          </a:xfrm>
          <a:prstGeom prst="rect">
            <a:avLst/>
          </a:prstGeom>
          <a:noFill/>
          <a:ln/>
        </p:spPr>
        <p:txBody>
          <a:bodyPr wrap="square" lIns="0" tIns="0" rIns="0" bIns="0" rtlCol="0" anchor="ctr"/>
          <a:lstStyle/>
          <a:p>
            <a:pPr indent="0" marL="0">
              <a:buNone/>
            </a:pPr>
            <a:r>
              <a:rPr lang="en-US" sz="750" dirty="0">
                <a:solidFill>
                  <a:srgbClr val="64748B"/>
                </a:solidFill>
              </a:rPr>
              <a:t>Hook has 100ms hard timeout. On breach, core proceeds with its own suppression list only. Retailer's custom rules not applied for that run. Alert raised.</a:t>
            </a:r>
            <a:endParaRPr lang="en-US" sz="750" dirty="0"/>
          </a:p>
        </p:txBody>
      </p:sp>
      <p:sp>
        <p:nvSpPr>
          <p:cNvPr id="26" name="Text 24"/>
          <p:cNvSpPr/>
          <p:nvPr/>
        </p:nvSpPr>
        <p:spPr>
          <a:xfrm>
            <a:off x="7671816" y="1719072"/>
            <a:ext cx="1097280" cy="329184"/>
          </a:xfrm>
          <a:prstGeom prst="rect">
            <a:avLst/>
          </a:prstGeom>
          <a:noFill/>
          <a:ln/>
        </p:spPr>
        <p:txBody>
          <a:bodyPr wrap="square" lIns="0" tIns="0" rIns="0" bIns="0" rtlCol="0" anchor="ctr"/>
          <a:lstStyle/>
          <a:p>
            <a:pPr indent="0" marL="0">
              <a:buNone/>
            </a:pPr>
            <a:r>
              <a:rPr lang="en-US" sz="800" b="1" dirty="0">
                <a:solidFill>
                  <a:srgbClr val="0D7377"/>
                </a:solidFill>
              </a:rPr>
              <a:t>Zero downtime</a:t>
            </a:r>
            <a:endParaRPr lang="en-US" sz="800" dirty="0"/>
          </a:p>
        </p:txBody>
      </p:sp>
      <p:sp>
        <p:nvSpPr>
          <p:cNvPr id="27" name="Shape 25"/>
          <p:cNvSpPr/>
          <p:nvPr/>
        </p:nvSpPr>
        <p:spPr>
          <a:xfrm>
            <a:off x="201168" y="2084832"/>
            <a:ext cx="8741664" cy="402336"/>
          </a:xfrm>
          <a:prstGeom prst="rect">
            <a:avLst/>
          </a:prstGeom>
          <a:solidFill>
            <a:srgbClr val="F7F9FC"/>
          </a:solidFill>
          <a:ln w="6350">
            <a:solidFill>
              <a:srgbClr val="E2E8F0"/>
            </a:solidFill>
            <a:prstDash val="solid"/>
          </a:ln>
        </p:spPr>
      </p:sp>
      <p:sp>
        <p:nvSpPr>
          <p:cNvPr id="28" name="Text 26"/>
          <p:cNvSpPr/>
          <p:nvPr/>
        </p:nvSpPr>
        <p:spPr>
          <a:xfrm>
            <a:off x="246888" y="2121408"/>
            <a:ext cx="1499616" cy="329184"/>
          </a:xfrm>
          <a:prstGeom prst="rect">
            <a:avLst/>
          </a:prstGeom>
          <a:noFill/>
          <a:ln/>
        </p:spPr>
        <p:txBody>
          <a:bodyPr wrap="square" lIns="0" tIns="0" rIns="0" bIns="0" rtlCol="0" anchor="ctr"/>
          <a:lstStyle/>
          <a:p>
            <a:pPr indent="0" marL="0">
              <a:buNone/>
            </a:pPr>
            <a:r>
              <a:rPr lang="en-US" sz="800" b="1" dirty="0">
                <a:solidFill>
                  <a:srgbClr val="0F2044"/>
                </a:solidFill>
              </a:rPr>
              <a:t>Phase WS — blocking IN</a:t>
            </a:r>
            <a:endParaRPr lang="en-US" sz="800" dirty="0"/>
          </a:p>
        </p:txBody>
      </p:sp>
      <p:sp>
        <p:nvSpPr>
          <p:cNvPr id="29" name="Text 27"/>
          <p:cNvSpPr/>
          <p:nvPr/>
        </p:nvSpPr>
        <p:spPr>
          <a:xfrm>
            <a:off x="1819656" y="2121408"/>
            <a:ext cx="1115568" cy="329184"/>
          </a:xfrm>
          <a:prstGeom prst="rect">
            <a:avLst/>
          </a:prstGeom>
          <a:noFill/>
          <a:ln/>
        </p:spPr>
        <p:txBody>
          <a:bodyPr wrap="square" lIns="0" tIns="0" rIns="0" bIns="0" rtlCol="0" anchor="ctr"/>
          <a:lstStyle/>
          <a:p>
            <a:pPr indent="0" marL="0">
              <a:buNone/>
            </a:pPr>
            <a:r>
              <a:rPr lang="en-US" sz="750" dirty="0">
                <a:solidFill>
                  <a:srgbClr val="DC2626"/>
                </a:solidFill>
              </a:rPr>
              <a:t>External system down</a:t>
            </a:r>
            <a:endParaRPr lang="en-US" sz="750" dirty="0"/>
          </a:p>
        </p:txBody>
      </p:sp>
      <p:sp>
        <p:nvSpPr>
          <p:cNvPr id="30" name="Text 28"/>
          <p:cNvSpPr/>
          <p:nvPr/>
        </p:nvSpPr>
        <p:spPr>
          <a:xfrm>
            <a:off x="3008376" y="2121408"/>
            <a:ext cx="841248" cy="329184"/>
          </a:xfrm>
          <a:prstGeom prst="rect">
            <a:avLst/>
          </a:prstGeom>
          <a:noFill/>
          <a:ln/>
        </p:spPr>
        <p:txBody>
          <a:bodyPr wrap="square" lIns="0" tIns="0" rIns="0" bIns="0" rtlCol="0" anchor="ctr"/>
          <a:lstStyle/>
          <a:p>
            <a:pPr indent="0" marL="0">
              <a:buNone/>
            </a:pPr>
            <a:r>
              <a:rPr lang="en-US" sz="750" b="1" dirty="0">
                <a:solidFill>
                  <a:srgbClr val="F59E0B"/>
                </a:solidFill>
              </a:rPr>
              <a:t>Phase blocked</a:t>
            </a:r>
            <a:endParaRPr lang="en-US" sz="750" dirty="0"/>
          </a:p>
        </p:txBody>
      </p:sp>
      <p:sp>
        <p:nvSpPr>
          <p:cNvPr id="31" name="Text 29"/>
          <p:cNvSpPr/>
          <p:nvPr/>
        </p:nvSpPr>
        <p:spPr>
          <a:xfrm>
            <a:off x="3922776" y="2112264"/>
            <a:ext cx="3675888" cy="365760"/>
          </a:xfrm>
          <a:prstGeom prst="rect">
            <a:avLst/>
          </a:prstGeom>
          <a:noFill/>
          <a:ln/>
        </p:spPr>
        <p:txBody>
          <a:bodyPr wrap="square" lIns="0" tIns="0" rIns="0" bIns="0" rtlCol="0" anchor="ctr"/>
          <a:lstStyle/>
          <a:p>
            <a:pPr indent="0" marL="0">
              <a:buNone/>
            </a:pPr>
            <a:r>
              <a:rPr lang="en-US" sz="750" dirty="0">
                <a:solidFill>
                  <a:srgbClr val="64748B"/>
                </a:solidFill>
              </a:rPr>
              <a:t>Planner sees actionable error: 'PLM data unavailable — retry or proceed with last-known data.' Last successful feed cached for configurable window (default 24h).</a:t>
            </a:r>
            <a:endParaRPr lang="en-US" sz="750" dirty="0"/>
          </a:p>
        </p:txBody>
      </p:sp>
      <p:sp>
        <p:nvSpPr>
          <p:cNvPr id="32" name="Text 30"/>
          <p:cNvSpPr/>
          <p:nvPr/>
        </p:nvSpPr>
        <p:spPr>
          <a:xfrm>
            <a:off x="7671816" y="2121408"/>
            <a:ext cx="1097280" cy="329184"/>
          </a:xfrm>
          <a:prstGeom prst="rect">
            <a:avLst/>
          </a:prstGeom>
          <a:noFill/>
          <a:ln/>
        </p:spPr>
        <p:txBody>
          <a:bodyPr wrap="square" lIns="0" tIns="0" rIns="0" bIns="0" rtlCol="0" anchor="ctr"/>
          <a:lstStyle/>
          <a:p>
            <a:pPr indent="0" marL="0">
              <a:buNone/>
            </a:pPr>
            <a:r>
              <a:rPr lang="en-US" sz="800" b="1" dirty="0">
                <a:solidFill>
                  <a:srgbClr val="0D7377"/>
                </a:solidFill>
              </a:rPr>
              <a:t>Degraded, not down</a:t>
            </a:r>
            <a:endParaRPr lang="en-US" sz="800" dirty="0"/>
          </a:p>
        </p:txBody>
      </p:sp>
      <p:sp>
        <p:nvSpPr>
          <p:cNvPr id="33" name="Shape 31"/>
          <p:cNvSpPr/>
          <p:nvPr/>
        </p:nvSpPr>
        <p:spPr>
          <a:xfrm>
            <a:off x="201168" y="2487168"/>
            <a:ext cx="8741664" cy="402336"/>
          </a:xfrm>
          <a:prstGeom prst="rect">
            <a:avLst/>
          </a:prstGeom>
          <a:solidFill>
            <a:srgbClr val="FFFFFF"/>
          </a:solidFill>
          <a:ln w="6350">
            <a:solidFill>
              <a:srgbClr val="E2E8F0"/>
            </a:solidFill>
            <a:prstDash val="solid"/>
          </a:ln>
        </p:spPr>
      </p:sp>
      <p:sp>
        <p:nvSpPr>
          <p:cNvPr id="34" name="Text 32"/>
          <p:cNvSpPr/>
          <p:nvPr/>
        </p:nvSpPr>
        <p:spPr>
          <a:xfrm>
            <a:off x="246888" y="2523744"/>
            <a:ext cx="1499616" cy="329184"/>
          </a:xfrm>
          <a:prstGeom prst="rect">
            <a:avLst/>
          </a:prstGeom>
          <a:noFill/>
          <a:ln/>
        </p:spPr>
        <p:txBody>
          <a:bodyPr wrap="square" lIns="0" tIns="0" rIns="0" bIns="0" rtlCol="0" anchor="ctr"/>
          <a:lstStyle/>
          <a:p>
            <a:pPr indent="0" marL="0">
              <a:buNone/>
            </a:pPr>
            <a:r>
              <a:rPr lang="en-US" sz="800" b="1" dirty="0">
                <a:solidFill>
                  <a:srgbClr val="0F2044"/>
                </a:solidFill>
              </a:rPr>
              <a:t>Phase WS — non-blocking OUT</a:t>
            </a:r>
            <a:endParaRPr lang="en-US" sz="800" dirty="0"/>
          </a:p>
        </p:txBody>
      </p:sp>
      <p:sp>
        <p:nvSpPr>
          <p:cNvPr id="35" name="Text 33"/>
          <p:cNvSpPr/>
          <p:nvPr/>
        </p:nvSpPr>
        <p:spPr>
          <a:xfrm>
            <a:off x="1819656" y="2523744"/>
            <a:ext cx="1115568" cy="329184"/>
          </a:xfrm>
          <a:prstGeom prst="rect">
            <a:avLst/>
          </a:prstGeom>
          <a:noFill/>
          <a:ln/>
        </p:spPr>
        <p:txBody>
          <a:bodyPr wrap="square" lIns="0" tIns="0" rIns="0" bIns="0" rtlCol="0" anchor="ctr"/>
          <a:lstStyle/>
          <a:p>
            <a:pPr indent="0" marL="0">
              <a:buNone/>
            </a:pPr>
            <a:r>
              <a:rPr lang="en-US" sz="750" dirty="0">
                <a:solidFill>
                  <a:srgbClr val="DC2626"/>
                </a:solidFill>
              </a:rPr>
              <a:t>External system down</a:t>
            </a:r>
            <a:endParaRPr lang="en-US" sz="750" dirty="0"/>
          </a:p>
        </p:txBody>
      </p:sp>
      <p:sp>
        <p:nvSpPr>
          <p:cNvPr id="36" name="Text 34"/>
          <p:cNvSpPr/>
          <p:nvPr/>
        </p:nvSpPr>
        <p:spPr>
          <a:xfrm>
            <a:off x="3008376" y="2523744"/>
            <a:ext cx="841248" cy="329184"/>
          </a:xfrm>
          <a:prstGeom prst="rect">
            <a:avLst/>
          </a:prstGeom>
          <a:noFill/>
          <a:ln/>
        </p:spPr>
        <p:txBody>
          <a:bodyPr wrap="square" lIns="0" tIns="0" rIns="0" bIns="0" rtlCol="0" anchor="ctr"/>
          <a:lstStyle/>
          <a:p>
            <a:pPr indent="0" marL="0">
              <a:buNone/>
            </a:pPr>
            <a:r>
              <a:rPr lang="en-US" sz="750" b="1" dirty="0">
                <a:solidFill>
                  <a:srgbClr val="059669"/>
                </a:solidFill>
              </a:rPr>
              <a:t>None on planner</a:t>
            </a:r>
            <a:endParaRPr lang="en-US" sz="750" dirty="0"/>
          </a:p>
        </p:txBody>
      </p:sp>
      <p:sp>
        <p:nvSpPr>
          <p:cNvPr id="37" name="Text 35"/>
          <p:cNvSpPr/>
          <p:nvPr/>
        </p:nvSpPr>
        <p:spPr>
          <a:xfrm>
            <a:off x="3922776" y="2514600"/>
            <a:ext cx="3675888" cy="365760"/>
          </a:xfrm>
          <a:prstGeom prst="rect">
            <a:avLst/>
          </a:prstGeom>
          <a:noFill/>
          <a:ln/>
        </p:spPr>
        <p:txBody>
          <a:bodyPr wrap="square" lIns="0" tIns="0" rIns="0" bIns="0" rtlCol="0" anchor="ctr"/>
          <a:lstStyle/>
          <a:p>
            <a:pPr indent="0" marL="0">
              <a:buNone/>
            </a:pPr>
            <a:r>
              <a:rPr lang="en-US" sz="750" dirty="0">
                <a:solidFill>
                  <a:srgbClr val="64748B"/>
                </a:solidFill>
              </a:rPr>
              <a:t>Core pipeline completes. Hook failure queued for retry (configurable: 3× with exponential backoff). Planner sees warning badge on affected stage. No rollback.</a:t>
            </a:r>
            <a:endParaRPr lang="en-US" sz="750" dirty="0"/>
          </a:p>
        </p:txBody>
      </p:sp>
      <p:sp>
        <p:nvSpPr>
          <p:cNvPr id="38" name="Text 36"/>
          <p:cNvSpPr/>
          <p:nvPr/>
        </p:nvSpPr>
        <p:spPr>
          <a:xfrm>
            <a:off x="7671816" y="2523744"/>
            <a:ext cx="1097280" cy="329184"/>
          </a:xfrm>
          <a:prstGeom prst="rect">
            <a:avLst/>
          </a:prstGeom>
          <a:noFill/>
          <a:ln/>
        </p:spPr>
        <p:txBody>
          <a:bodyPr wrap="square" lIns="0" tIns="0" rIns="0" bIns="0" rtlCol="0" anchor="ctr"/>
          <a:lstStyle/>
          <a:p>
            <a:pPr indent="0" marL="0">
              <a:buNone/>
            </a:pPr>
            <a:r>
              <a:rPr lang="en-US" sz="800" b="1" dirty="0">
                <a:solidFill>
                  <a:srgbClr val="0D7377"/>
                </a:solidFill>
              </a:rPr>
              <a:t>Zero downtime</a:t>
            </a:r>
            <a:endParaRPr lang="en-US" sz="800" dirty="0"/>
          </a:p>
        </p:txBody>
      </p:sp>
      <p:sp>
        <p:nvSpPr>
          <p:cNvPr id="39" name="Shape 37"/>
          <p:cNvSpPr/>
          <p:nvPr/>
        </p:nvSpPr>
        <p:spPr>
          <a:xfrm>
            <a:off x="201168" y="2889504"/>
            <a:ext cx="8741664" cy="402336"/>
          </a:xfrm>
          <a:prstGeom prst="rect">
            <a:avLst/>
          </a:prstGeom>
          <a:solidFill>
            <a:srgbClr val="F7F9FC"/>
          </a:solidFill>
          <a:ln w="6350">
            <a:solidFill>
              <a:srgbClr val="E2E8F0"/>
            </a:solidFill>
            <a:prstDash val="solid"/>
          </a:ln>
        </p:spPr>
      </p:sp>
      <p:sp>
        <p:nvSpPr>
          <p:cNvPr id="40" name="Text 38"/>
          <p:cNvSpPr/>
          <p:nvPr/>
        </p:nvSpPr>
        <p:spPr>
          <a:xfrm>
            <a:off x="246888" y="2926080"/>
            <a:ext cx="1499616" cy="329184"/>
          </a:xfrm>
          <a:prstGeom prst="rect">
            <a:avLst/>
          </a:prstGeom>
          <a:noFill/>
          <a:ln/>
        </p:spPr>
        <p:txBody>
          <a:bodyPr wrap="square" lIns="0" tIns="0" rIns="0" bIns="0" rtlCol="0" anchor="ctr"/>
          <a:lstStyle/>
          <a:p>
            <a:pPr indent="0" marL="0">
              <a:buNone/>
            </a:pPr>
            <a:r>
              <a:rPr lang="en-US" sz="800" b="1" dirty="0">
                <a:solidFill>
                  <a:srgbClr val="0F2044"/>
                </a:solidFill>
              </a:rPr>
              <a:t>Approval workflow (H5)</a:t>
            </a:r>
            <a:endParaRPr lang="en-US" sz="800" dirty="0"/>
          </a:p>
        </p:txBody>
      </p:sp>
      <p:sp>
        <p:nvSpPr>
          <p:cNvPr id="41" name="Text 39"/>
          <p:cNvSpPr/>
          <p:nvPr/>
        </p:nvSpPr>
        <p:spPr>
          <a:xfrm>
            <a:off x="1819656" y="2926080"/>
            <a:ext cx="1115568" cy="329184"/>
          </a:xfrm>
          <a:prstGeom prst="rect">
            <a:avLst/>
          </a:prstGeom>
          <a:noFill/>
          <a:ln/>
        </p:spPr>
        <p:txBody>
          <a:bodyPr wrap="square" lIns="0" tIns="0" rIns="0" bIns="0" rtlCol="0" anchor="ctr"/>
          <a:lstStyle/>
          <a:p>
            <a:pPr indent="0" marL="0">
              <a:buNone/>
            </a:pPr>
            <a:r>
              <a:rPr lang="en-US" sz="750" dirty="0">
                <a:solidFill>
                  <a:srgbClr val="DC2626"/>
                </a:solidFill>
              </a:rPr>
              <a:t>Approver unavailable</a:t>
            </a:r>
            <a:endParaRPr lang="en-US" sz="750" dirty="0"/>
          </a:p>
        </p:txBody>
      </p:sp>
      <p:sp>
        <p:nvSpPr>
          <p:cNvPr id="42" name="Text 40"/>
          <p:cNvSpPr/>
          <p:nvPr/>
        </p:nvSpPr>
        <p:spPr>
          <a:xfrm>
            <a:off x="3008376" y="2926080"/>
            <a:ext cx="841248" cy="329184"/>
          </a:xfrm>
          <a:prstGeom prst="rect">
            <a:avLst/>
          </a:prstGeom>
          <a:noFill/>
          <a:ln/>
        </p:spPr>
        <p:txBody>
          <a:bodyPr wrap="square" lIns="0" tIns="0" rIns="0" bIns="0" rtlCol="0" anchor="ctr"/>
          <a:lstStyle/>
          <a:p>
            <a:pPr indent="0" marL="0">
              <a:buNone/>
            </a:pPr>
            <a:r>
              <a:rPr lang="en-US" sz="750" b="1" dirty="0">
                <a:solidFill>
                  <a:srgbClr val="F59E0B"/>
                </a:solidFill>
              </a:rPr>
              <a:t>Plan queued</a:t>
            </a:r>
            <a:endParaRPr lang="en-US" sz="750" dirty="0"/>
          </a:p>
        </p:txBody>
      </p:sp>
      <p:sp>
        <p:nvSpPr>
          <p:cNvPr id="43" name="Text 41"/>
          <p:cNvSpPr/>
          <p:nvPr/>
        </p:nvSpPr>
        <p:spPr>
          <a:xfrm>
            <a:off x="3922776" y="2916936"/>
            <a:ext cx="3675888" cy="365760"/>
          </a:xfrm>
          <a:prstGeom prst="rect">
            <a:avLst/>
          </a:prstGeom>
          <a:noFill/>
          <a:ln/>
        </p:spPr>
        <p:txBody>
          <a:bodyPr wrap="square" lIns="0" tIns="0" rIns="0" bIns="0" rtlCol="0" anchor="ctr"/>
          <a:lstStyle/>
          <a:p>
            <a:pPr indent="0" marL="0">
              <a:buNone/>
            </a:pPr>
            <a:r>
              <a:rPr lang="en-US" sz="750" dirty="0">
                <a:solidFill>
                  <a:srgbClr val="64748B"/>
                </a:solidFill>
              </a:rPr>
              <a:t>SLA timer starts on submission. On breach, auto-escalation fires to next approver tier as defined in retailer config. Plan never silently stalls.</a:t>
            </a:r>
            <a:endParaRPr lang="en-US" sz="750" dirty="0"/>
          </a:p>
        </p:txBody>
      </p:sp>
      <p:sp>
        <p:nvSpPr>
          <p:cNvPr id="44" name="Text 42"/>
          <p:cNvSpPr/>
          <p:nvPr/>
        </p:nvSpPr>
        <p:spPr>
          <a:xfrm>
            <a:off x="7671816" y="2926080"/>
            <a:ext cx="1097280" cy="329184"/>
          </a:xfrm>
          <a:prstGeom prst="rect">
            <a:avLst/>
          </a:prstGeom>
          <a:noFill/>
          <a:ln/>
        </p:spPr>
        <p:txBody>
          <a:bodyPr wrap="square" lIns="0" tIns="0" rIns="0" bIns="0" rtlCol="0" anchor="ctr"/>
          <a:lstStyle/>
          <a:p>
            <a:pPr indent="0" marL="0">
              <a:buNone/>
            </a:pPr>
            <a:r>
              <a:rPr lang="en-US" sz="800" b="1" dirty="0">
                <a:solidFill>
                  <a:srgbClr val="0D7377"/>
                </a:solidFill>
              </a:rPr>
              <a:t>SLA-bounded</a:t>
            </a:r>
            <a:endParaRPr lang="en-US" sz="800" dirty="0"/>
          </a:p>
        </p:txBody>
      </p:sp>
      <p:sp>
        <p:nvSpPr>
          <p:cNvPr id="45" name="Shape 43"/>
          <p:cNvSpPr/>
          <p:nvPr/>
        </p:nvSpPr>
        <p:spPr>
          <a:xfrm>
            <a:off x="201168" y="3291840"/>
            <a:ext cx="8741664" cy="402336"/>
          </a:xfrm>
          <a:prstGeom prst="rect">
            <a:avLst/>
          </a:prstGeom>
          <a:solidFill>
            <a:srgbClr val="FFFFFF"/>
          </a:solidFill>
          <a:ln w="6350">
            <a:solidFill>
              <a:srgbClr val="E2E8F0"/>
            </a:solidFill>
            <a:prstDash val="solid"/>
          </a:ln>
        </p:spPr>
      </p:sp>
      <p:sp>
        <p:nvSpPr>
          <p:cNvPr id="46" name="Text 44"/>
          <p:cNvSpPr/>
          <p:nvPr/>
        </p:nvSpPr>
        <p:spPr>
          <a:xfrm>
            <a:off x="246888" y="3328416"/>
            <a:ext cx="1499616" cy="329184"/>
          </a:xfrm>
          <a:prstGeom prst="rect">
            <a:avLst/>
          </a:prstGeom>
          <a:noFill/>
          <a:ln/>
        </p:spPr>
        <p:txBody>
          <a:bodyPr wrap="square" lIns="0" tIns="0" rIns="0" bIns="0" rtlCol="0" anchor="ctr"/>
          <a:lstStyle/>
          <a:p>
            <a:pPr indent="0" marL="0">
              <a:buNone/>
            </a:pPr>
            <a:r>
              <a:rPr lang="en-US" sz="800" b="1" dirty="0">
                <a:solidFill>
                  <a:srgbClr val="0F2044"/>
                </a:solidFill>
              </a:rPr>
              <a:t>Agent learning router</a:t>
            </a:r>
            <a:endParaRPr lang="en-US" sz="800" dirty="0"/>
          </a:p>
        </p:txBody>
      </p:sp>
      <p:sp>
        <p:nvSpPr>
          <p:cNvPr id="47" name="Text 45"/>
          <p:cNvSpPr/>
          <p:nvPr/>
        </p:nvSpPr>
        <p:spPr>
          <a:xfrm>
            <a:off x="1819656" y="3328416"/>
            <a:ext cx="1115568" cy="329184"/>
          </a:xfrm>
          <a:prstGeom prst="rect">
            <a:avLst/>
          </a:prstGeom>
          <a:noFill/>
          <a:ln/>
        </p:spPr>
        <p:txBody>
          <a:bodyPr wrap="square" lIns="0" tIns="0" rIns="0" bIns="0" rtlCol="0" anchor="ctr"/>
          <a:lstStyle/>
          <a:p>
            <a:pPr indent="0" marL="0">
              <a:buNone/>
            </a:pPr>
            <a:r>
              <a:rPr lang="en-US" sz="750" dirty="0">
                <a:solidFill>
                  <a:srgbClr val="DC2626"/>
                </a:solidFill>
              </a:rPr>
              <a:t>Model update failure</a:t>
            </a:r>
            <a:endParaRPr lang="en-US" sz="750" dirty="0"/>
          </a:p>
        </p:txBody>
      </p:sp>
      <p:sp>
        <p:nvSpPr>
          <p:cNvPr id="48" name="Text 46"/>
          <p:cNvSpPr/>
          <p:nvPr/>
        </p:nvSpPr>
        <p:spPr>
          <a:xfrm>
            <a:off x="3008376" y="3328416"/>
            <a:ext cx="841248" cy="329184"/>
          </a:xfrm>
          <a:prstGeom prst="rect">
            <a:avLst/>
          </a:prstGeom>
          <a:noFill/>
          <a:ln/>
        </p:spPr>
        <p:txBody>
          <a:bodyPr wrap="square" lIns="0" tIns="0" rIns="0" bIns="0" rtlCol="0" anchor="ctr"/>
          <a:lstStyle/>
          <a:p>
            <a:pPr indent="0" marL="0">
              <a:buNone/>
            </a:pPr>
            <a:r>
              <a:rPr lang="en-US" sz="750" b="1" dirty="0">
                <a:solidFill>
                  <a:srgbClr val="059669"/>
                </a:solidFill>
              </a:rPr>
              <a:t>None on planning</a:t>
            </a:r>
            <a:endParaRPr lang="en-US" sz="750" dirty="0"/>
          </a:p>
        </p:txBody>
      </p:sp>
      <p:sp>
        <p:nvSpPr>
          <p:cNvPr id="49" name="Text 47"/>
          <p:cNvSpPr/>
          <p:nvPr/>
        </p:nvSpPr>
        <p:spPr>
          <a:xfrm>
            <a:off x="3922776" y="3319272"/>
            <a:ext cx="3675888" cy="365760"/>
          </a:xfrm>
          <a:prstGeom prst="rect">
            <a:avLst/>
          </a:prstGeom>
          <a:noFill/>
          <a:ln/>
        </p:spPr>
        <p:txBody>
          <a:bodyPr wrap="square" lIns="0" tIns="0" rIns="0" bIns="0" rtlCol="0" anchor="ctr"/>
          <a:lstStyle/>
          <a:p>
            <a:pPr indent="0" marL="0">
              <a:buNone/>
            </a:pPr>
            <a:r>
              <a:rPr lang="en-US" sz="750" dirty="0">
                <a:solidFill>
                  <a:srgbClr val="64748B"/>
                </a:solidFill>
              </a:rPr>
              <a:t>Override event persisted to durable queue. Model update retried async. Planning continues with last-known model weights. No planner-visible impact.</a:t>
            </a:r>
            <a:endParaRPr lang="en-US" sz="750" dirty="0"/>
          </a:p>
        </p:txBody>
      </p:sp>
      <p:sp>
        <p:nvSpPr>
          <p:cNvPr id="50" name="Text 48"/>
          <p:cNvSpPr/>
          <p:nvPr/>
        </p:nvSpPr>
        <p:spPr>
          <a:xfrm>
            <a:off x="7671816" y="3328416"/>
            <a:ext cx="1097280" cy="329184"/>
          </a:xfrm>
          <a:prstGeom prst="rect">
            <a:avLst/>
          </a:prstGeom>
          <a:noFill/>
          <a:ln/>
        </p:spPr>
        <p:txBody>
          <a:bodyPr wrap="square" lIns="0" tIns="0" rIns="0" bIns="0" rtlCol="0" anchor="ctr"/>
          <a:lstStyle/>
          <a:p>
            <a:pPr indent="0" marL="0">
              <a:buNone/>
            </a:pPr>
            <a:r>
              <a:rPr lang="en-US" sz="800" b="1" dirty="0">
                <a:solidFill>
                  <a:srgbClr val="0D7377"/>
                </a:solidFill>
              </a:rPr>
              <a:t>Zero downtime</a:t>
            </a:r>
            <a:endParaRPr lang="en-US" sz="800" dirty="0"/>
          </a:p>
        </p:txBody>
      </p:sp>
      <p:sp>
        <p:nvSpPr>
          <p:cNvPr id="51" name="Shape 49"/>
          <p:cNvSpPr/>
          <p:nvPr/>
        </p:nvSpPr>
        <p:spPr>
          <a:xfrm>
            <a:off x="201168" y="3767328"/>
            <a:ext cx="8741664" cy="237744"/>
          </a:xfrm>
          <a:prstGeom prst="rect">
            <a:avLst/>
          </a:prstGeom>
          <a:solidFill>
            <a:srgbClr val="334155"/>
          </a:solidFill>
          <a:ln w="12700">
            <a:solidFill>
              <a:srgbClr val="334155"/>
            </a:solidFill>
            <a:prstDash val="solid"/>
          </a:ln>
        </p:spPr>
      </p:sp>
      <p:sp>
        <p:nvSpPr>
          <p:cNvPr id="52" name="Text 50"/>
          <p:cNvSpPr/>
          <p:nvPr/>
        </p:nvSpPr>
        <p:spPr>
          <a:xfrm>
            <a:off x="320040" y="3767328"/>
            <a:ext cx="8412480" cy="237744"/>
          </a:xfrm>
          <a:prstGeom prst="rect">
            <a:avLst/>
          </a:prstGeom>
          <a:noFill/>
          <a:ln/>
        </p:spPr>
        <p:txBody>
          <a:bodyPr wrap="square" lIns="0" tIns="0" rIns="0" bIns="0" rtlCol="0" anchor="ctr"/>
          <a:lstStyle/>
          <a:p>
            <a:pPr indent="0" marL="0">
              <a:buNone/>
            </a:pPr>
            <a:r>
              <a:rPr lang="en-US" sz="850" b="1" spc="100" kern="0" dirty="0">
                <a:solidFill>
                  <a:srgbClr val="FFFFFF"/>
                </a:solidFill>
              </a:rPr>
              <a:t>SECURITY GUARANTEES — WHERE EACH GUARANTEE LIVES IN THE ARCHITECTURE</a:t>
            </a:r>
            <a:endParaRPr lang="en-US" sz="850" dirty="0"/>
          </a:p>
        </p:txBody>
      </p:sp>
      <p:sp>
        <p:nvSpPr>
          <p:cNvPr id="53" name="Shape 51"/>
          <p:cNvSpPr/>
          <p:nvPr/>
        </p:nvSpPr>
        <p:spPr>
          <a:xfrm>
            <a:off x="201168" y="4041648"/>
            <a:ext cx="1664208" cy="987552"/>
          </a:xfrm>
          <a:prstGeom prst="rect">
            <a:avLst/>
          </a:prstGeom>
          <a:solidFill>
            <a:srgbClr val="F7F9FC"/>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54" name="Shape 52"/>
          <p:cNvSpPr/>
          <p:nvPr/>
        </p:nvSpPr>
        <p:spPr>
          <a:xfrm>
            <a:off x="201168" y="4041648"/>
            <a:ext cx="1664208" cy="54864"/>
          </a:xfrm>
          <a:prstGeom prst="rect">
            <a:avLst/>
          </a:prstGeom>
          <a:solidFill>
            <a:srgbClr val="0D7377"/>
          </a:solidFill>
          <a:ln w="12700">
            <a:solidFill>
              <a:srgbClr val="0D7377"/>
            </a:solidFill>
            <a:prstDash val="solid"/>
          </a:ln>
        </p:spPr>
      </p:sp>
      <p:pic>
        <p:nvPicPr>
          <p:cNvPr id="55" name="Image 0" descr="preencoded.png"/>
          <p:cNvPicPr>
            <a:picLocks noChangeAspect="1"/>
          </p:cNvPicPr>
          <p:nvPr/>
        </p:nvPicPr>
        <p:blipFill>
          <a:blip r:embed="rId1"/>
          <a:stretch>
            <a:fillRect/>
          </a:stretch>
        </p:blipFill>
        <p:spPr>
          <a:xfrm>
            <a:off x="310896" y="4151376"/>
            <a:ext cx="274320" cy="274320"/>
          </a:xfrm>
          <a:prstGeom prst="rect">
            <a:avLst/>
          </a:prstGeom>
        </p:spPr>
      </p:pic>
      <p:sp>
        <p:nvSpPr>
          <p:cNvPr id="56" name="Text 53"/>
          <p:cNvSpPr/>
          <p:nvPr/>
        </p:nvSpPr>
        <p:spPr>
          <a:xfrm>
            <a:off x="292608" y="4462272"/>
            <a:ext cx="1499616" cy="256032"/>
          </a:xfrm>
          <a:prstGeom prst="rect">
            <a:avLst/>
          </a:prstGeom>
          <a:noFill/>
          <a:ln/>
        </p:spPr>
        <p:txBody>
          <a:bodyPr wrap="square" lIns="0" tIns="0" rIns="0" bIns="0" rtlCol="0" anchor="ctr"/>
          <a:lstStyle/>
          <a:p>
            <a:pPr indent="0" marL="0">
              <a:buNone/>
            </a:pPr>
            <a:r>
              <a:rPr lang="en-US" sz="850" b="1" dirty="0">
                <a:solidFill>
                  <a:srgbClr val="0F2044"/>
                </a:solidFill>
              </a:rPr>
              <a:t>Credential isolation</a:t>
            </a:r>
            <a:endParaRPr lang="en-US" sz="850" dirty="0"/>
          </a:p>
        </p:txBody>
      </p:sp>
      <p:sp>
        <p:nvSpPr>
          <p:cNvPr id="57" name="Text 54"/>
          <p:cNvSpPr/>
          <p:nvPr/>
        </p:nvSpPr>
        <p:spPr>
          <a:xfrm>
            <a:off x="292608" y="4700016"/>
            <a:ext cx="1499616" cy="310896"/>
          </a:xfrm>
          <a:prstGeom prst="rect">
            <a:avLst/>
          </a:prstGeom>
          <a:noFill/>
          <a:ln/>
        </p:spPr>
        <p:txBody>
          <a:bodyPr wrap="square" lIns="0" tIns="0" rIns="0" bIns="0" rtlCol="0" anchor="ctr"/>
          <a:lstStyle/>
          <a:p>
            <a:pPr indent="0" marL="0">
              <a:buNone/>
            </a:pPr>
            <a:r>
              <a:rPr lang="en-US" sz="700" dirty="0">
                <a:solidFill>
                  <a:srgbClr val="64748B"/>
                </a:solidFill>
              </a:rPr>
              <a:t>Core engine holds zero external API credentials. All credentials live in retailer extension containers. Compromise of one tenant's credentials cannot expose another's.</a:t>
            </a:r>
            <a:endParaRPr lang="en-US" sz="700" dirty="0"/>
          </a:p>
        </p:txBody>
      </p:sp>
      <p:sp>
        <p:nvSpPr>
          <p:cNvPr id="58" name="Shape 55"/>
          <p:cNvSpPr/>
          <p:nvPr/>
        </p:nvSpPr>
        <p:spPr>
          <a:xfrm>
            <a:off x="1956816" y="4041648"/>
            <a:ext cx="1664208" cy="987552"/>
          </a:xfrm>
          <a:prstGeom prst="rect">
            <a:avLst/>
          </a:prstGeom>
          <a:solidFill>
            <a:srgbClr val="F7F9FC"/>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59" name="Shape 56"/>
          <p:cNvSpPr/>
          <p:nvPr/>
        </p:nvSpPr>
        <p:spPr>
          <a:xfrm>
            <a:off x="1956816" y="4041648"/>
            <a:ext cx="1664208" cy="54864"/>
          </a:xfrm>
          <a:prstGeom prst="rect">
            <a:avLst/>
          </a:prstGeom>
          <a:solidFill>
            <a:srgbClr val="0F2044"/>
          </a:solidFill>
          <a:ln w="12700">
            <a:solidFill>
              <a:srgbClr val="0F2044"/>
            </a:solidFill>
            <a:prstDash val="solid"/>
          </a:ln>
        </p:spPr>
      </p:sp>
      <p:pic>
        <p:nvPicPr>
          <p:cNvPr id="60" name="Image 1" descr="preencoded.png"/>
          <p:cNvPicPr>
            <a:picLocks noChangeAspect="1"/>
          </p:cNvPicPr>
          <p:nvPr/>
        </p:nvPicPr>
        <p:blipFill>
          <a:blip r:embed="rId2"/>
          <a:stretch>
            <a:fillRect/>
          </a:stretch>
        </p:blipFill>
        <p:spPr>
          <a:xfrm>
            <a:off x="2066544" y="4151376"/>
            <a:ext cx="274320" cy="274320"/>
          </a:xfrm>
          <a:prstGeom prst="rect">
            <a:avLst/>
          </a:prstGeom>
        </p:spPr>
      </p:pic>
      <p:sp>
        <p:nvSpPr>
          <p:cNvPr id="61" name="Text 57"/>
          <p:cNvSpPr/>
          <p:nvPr/>
        </p:nvSpPr>
        <p:spPr>
          <a:xfrm>
            <a:off x="2048256" y="4462272"/>
            <a:ext cx="1499616" cy="256032"/>
          </a:xfrm>
          <a:prstGeom prst="rect">
            <a:avLst/>
          </a:prstGeom>
          <a:noFill/>
          <a:ln/>
        </p:spPr>
        <p:txBody>
          <a:bodyPr wrap="square" lIns="0" tIns="0" rIns="0" bIns="0" rtlCol="0" anchor="ctr"/>
          <a:lstStyle/>
          <a:p>
            <a:pPr indent="0" marL="0">
              <a:buNone/>
            </a:pPr>
            <a:r>
              <a:rPr lang="en-US" sz="850" b="1" dirty="0">
                <a:solidFill>
                  <a:srgbClr val="0F2044"/>
                </a:solidFill>
              </a:rPr>
              <a:t>RBAC + attribute scoping</a:t>
            </a:r>
            <a:endParaRPr lang="en-US" sz="850" dirty="0"/>
          </a:p>
        </p:txBody>
      </p:sp>
      <p:sp>
        <p:nvSpPr>
          <p:cNvPr id="62" name="Text 58"/>
          <p:cNvSpPr/>
          <p:nvPr/>
        </p:nvSpPr>
        <p:spPr>
          <a:xfrm>
            <a:off x="2048256" y="4700016"/>
            <a:ext cx="1499616" cy="310896"/>
          </a:xfrm>
          <a:prstGeom prst="rect">
            <a:avLst/>
          </a:prstGeom>
          <a:noFill/>
          <a:ln/>
        </p:spPr>
        <p:txBody>
          <a:bodyPr wrap="square" lIns="0" tIns="0" rIns="0" bIns="0" rtlCol="0" anchor="ctr"/>
          <a:lstStyle/>
          <a:p>
            <a:pPr indent="0" marL="0">
              <a:buNone/>
            </a:pPr>
            <a:r>
              <a:rPr lang="en-US" sz="700" dirty="0">
                <a:solidFill>
                  <a:srgbClr val="64748B"/>
                </a:solidFill>
              </a:rPr>
              <a:t>5-layer access control evaluated on every query and mutation. Role → Scope → Ownership → Sensitivity mask → Session validity. No layer bypassable by any user role.</a:t>
            </a:r>
            <a:endParaRPr lang="en-US" sz="700" dirty="0"/>
          </a:p>
        </p:txBody>
      </p:sp>
      <p:sp>
        <p:nvSpPr>
          <p:cNvPr id="63" name="Shape 59"/>
          <p:cNvSpPr/>
          <p:nvPr/>
        </p:nvSpPr>
        <p:spPr>
          <a:xfrm>
            <a:off x="3712464" y="4041648"/>
            <a:ext cx="1664208" cy="987552"/>
          </a:xfrm>
          <a:prstGeom prst="rect">
            <a:avLst/>
          </a:prstGeom>
          <a:solidFill>
            <a:srgbClr val="F7F9FC"/>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64" name="Shape 60"/>
          <p:cNvSpPr/>
          <p:nvPr/>
        </p:nvSpPr>
        <p:spPr>
          <a:xfrm>
            <a:off x="3712464" y="4041648"/>
            <a:ext cx="1664208" cy="54864"/>
          </a:xfrm>
          <a:prstGeom prst="rect">
            <a:avLst/>
          </a:prstGeom>
          <a:solidFill>
            <a:srgbClr val="7C3AED"/>
          </a:solidFill>
          <a:ln w="12700">
            <a:solidFill>
              <a:srgbClr val="7C3AED"/>
            </a:solidFill>
            <a:prstDash val="solid"/>
          </a:ln>
        </p:spPr>
      </p:sp>
      <p:pic>
        <p:nvPicPr>
          <p:cNvPr id="65" name="Image 2" descr="preencoded.png"/>
          <p:cNvPicPr>
            <a:picLocks noChangeAspect="1"/>
          </p:cNvPicPr>
          <p:nvPr/>
        </p:nvPicPr>
        <p:blipFill>
          <a:blip r:embed="rId3"/>
          <a:stretch>
            <a:fillRect/>
          </a:stretch>
        </p:blipFill>
        <p:spPr>
          <a:xfrm>
            <a:off x="3822192" y="4151376"/>
            <a:ext cx="274320" cy="274320"/>
          </a:xfrm>
          <a:prstGeom prst="rect">
            <a:avLst/>
          </a:prstGeom>
        </p:spPr>
      </p:pic>
      <p:sp>
        <p:nvSpPr>
          <p:cNvPr id="66" name="Text 61"/>
          <p:cNvSpPr/>
          <p:nvPr/>
        </p:nvSpPr>
        <p:spPr>
          <a:xfrm>
            <a:off x="3803904" y="4462272"/>
            <a:ext cx="1499616" cy="256032"/>
          </a:xfrm>
          <a:prstGeom prst="rect">
            <a:avLst/>
          </a:prstGeom>
          <a:noFill/>
          <a:ln/>
        </p:spPr>
        <p:txBody>
          <a:bodyPr wrap="square" lIns="0" tIns="0" rIns="0" bIns="0" rtlCol="0" anchor="ctr"/>
          <a:lstStyle/>
          <a:p>
            <a:pPr indent="0" marL="0">
              <a:buNone/>
            </a:pPr>
            <a:r>
              <a:rPr lang="en-US" sz="850" b="1" dirty="0">
                <a:solidFill>
                  <a:srgbClr val="0F2044"/>
                </a:solidFill>
              </a:rPr>
              <a:t>Data residency</a:t>
            </a:r>
            <a:endParaRPr lang="en-US" sz="850" dirty="0"/>
          </a:p>
        </p:txBody>
      </p:sp>
      <p:sp>
        <p:nvSpPr>
          <p:cNvPr id="67" name="Text 62"/>
          <p:cNvSpPr/>
          <p:nvPr/>
        </p:nvSpPr>
        <p:spPr>
          <a:xfrm>
            <a:off x="3803904" y="4700016"/>
            <a:ext cx="1499616" cy="310896"/>
          </a:xfrm>
          <a:prstGeom prst="rect">
            <a:avLst/>
          </a:prstGeom>
          <a:noFill/>
          <a:ln/>
        </p:spPr>
        <p:txBody>
          <a:bodyPr wrap="square" lIns="0" tIns="0" rIns="0" bIns="0" rtlCol="0" anchor="ctr"/>
          <a:lstStyle/>
          <a:p>
            <a:pPr indent="0" marL="0">
              <a:buNone/>
            </a:pPr>
            <a:r>
              <a:rPr lang="en-US" sz="700" dirty="0">
                <a:solidFill>
                  <a:srgbClr val="64748B"/>
                </a:solidFill>
              </a:rPr>
              <a:t>View Storage Hook (H8) lets retailers route View Store writes to their own storage endpoint. EU/APAC data residency requirements met without platform changes.</a:t>
            </a:r>
            <a:endParaRPr lang="en-US" sz="700" dirty="0"/>
          </a:p>
        </p:txBody>
      </p:sp>
      <p:sp>
        <p:nvSpPr>
          <p:cNvPr id="68" name="Shape 63"/>
          <p:cNvSpPr/>
          <p:nvPr/>
        </p:nvSpPr>
        <p:spPr>
          <a:xfrm>
            <a:off x="5468112" y="4041648"/>
            <a:ext cx="1664208" cy="987552"/>
          </a:xfrm>
          <a:prstGeom prst="rect">
            <a:avLst/>
          </a:prstGeom>
          <a:solidFill>
            <a:srgbClr val="F7F9FC"/>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69" name="Shape 64"/>
          <p:cNvSpPr/>
          <p:nvPr/>
        </p:nvSpPr>
        <p:spPr>
          <a:xfrm>
            <a:off x="5468112" y="4041648"/>
            <a:ext cx="1664208" cy="54864"/>
          </a:xfrm>
          <a:prstGeom prst="rect">
            <a:avLst/>
          </a:prstGeom>
          <a:solidFill>
            <a:srgbClr val="F59E0B"/>
          </a:solidFill>
          <a:ln w="12700">
            <a:solidFill>
              <a:srgbClr val="F59E0B"/>
            </a:solidFill>
            <a:prstDash val="solid"/>
          </a:ln>
        </p:spPr>
      </p:sp>
      <p:pic>
        <p:nvPicPr>
          <p:cNvPr id="70" name="Image 3" descr="preencoded.png"/>
          <p:cNvPicPr>
            <a:picLocks noChangeAspect="1"/>
          </p:cNvPicPr>
          <p:nvPr/>
        </p:nvPicPr>
        <p:blipFill>
          <a:blip r:embed="rId4"/>
          <a:stretch>
            <a:fillRect/>
          </a:stretch>
        </p:blipFill>
        <p:spPr>
          <a:xfrm>
            <a:off x="5577840" y="4151376"/>
            <a:ext cx="274320" cy="274320"/>
          </a:xfrm>
          <a:prstGeom prst="rect">
            <a:avLst/>
          </a:prstGeom>
        </p:spPr>
      </p:pic>
      <p:sp>
        <p:nvSpPr>
          <p:cNvPr id="71" name="Text 65"/>
          <p:cNvSpPr/>
          <p:nvPr/>
        </p:nvSpPr>
        <p:spPr>
          <a:xfrm>
            <a:off x="5559552" y="4462272"/>
            <a:ext cx="1499616" cy="256032"/>
          </a:xfrm>
          <a:prstGeom prst="rect">
            <a:avLst/>
          </a:prstGeom>
          <a:noFill/>
          <a:ln/>
        </p:spPr>
        <p:txBody>
          <a:bodyPr wrap="square" lIns="0" tIns="0" rIns="0" bIns="0" rtlCol="0" anchor="ctr"/>
          <a:lstStyle/>
          <a:p>
            <a:pPr indent="0" marL="0">
              <a:buNone/>
            </a:pPr>
            <a:r>
              <a:rPr lang="en-US" sz="850" b="1" dirty="0">
                <a:solidFill>
                  <a:srgbClr val="0F2044"/>
                </a:solidFill>
              </a:rPr>
              <a:t>Immutable audit trail</a:t>
            </a:r>
            <a:endParaRPr lang="en-US" sz="850" dirty="0"/>
          </a:p>
        </p:txBody>
      </p:sp>
      <p:sp>
        <p:nvSpPr>
          <p:cNvPr id="72" name="Text 66"/>
          <p:cNvSpPr/>
          <p:nvPr/>
        </p:nvSpPr>
        <p:spPr>
          <a:xfrm>
            <a:off x="5559552" y="4700016"/>
            <a:ext cx="1499616" cy="310896"/>
          </a:xfrm>
          <a:prstGeom prst="rect">
            <a:avLst/>
          </a:prstGeom>
          <a:noFill/>
          <a:ln/>
        </p:spPr>
        <p:txBody>
          <a:bodyPr wrap="square" lIns="0" tIns="0" rIns="0" bIns="0" rtlCol="0" anchor="ctr"/>
          <a:lstStyle/>
          <a:p>
            <a:pPr indent="0" marL="0">
              <a:buNone/>
            </a:pPr>
            <a:r>
              <a:rPr lang="en-US" sz="700" dirty="0">
                <a:solidFill>
                  <a:srgbClr val="64748B"/>
                </a:solidFill>
              </a:rPr>
              <a:t>Every override event, hook execution, approval action, and permission change is written to an append-only audit log. No actor — including platform admins — can modify it.</a:t>
            </a:r>
            <a:endParaRPr lang="en-US" sz="700" dirty="0"/>
          </a:p>
        </p:txBody>
      </p:sp>
      <p:sp>
        <p:nvSpPr>
          <p:cNvPr id="73" name="Shape 67"/>
          <p:cNvSpPr/>
          <p:nvPr/>
        </p:nvSpPr>
        <p:spPr>
          <a:xfrm>
            <a:off x="7223760" y="4041648"/>
            <a:ext cx="1664208" cy="987552"/>
          </a:xfrm>
          <a:prstGeom prst="rect">
            <a:avLst/>
          </a:prstGeom>
          <a:solidFill>
            <a:srgbClr val="F7F9FC"/>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74" name="Shape 68"/>
          <p:cNvSpPr/>
          <p:nvPr/>
        </p:nvSpPr>
        <p:spPr>
          <a:xfrm>
            <a:off x="7223760" y="4041648"/>
            <a:ext cx="1664208" cy="54864"/>
          </a:xfrm>
          <a:prstGeom prst="rect">
            <a:avLst/>
          </a:prstGeom>
          <a:solidFill>
            <a:srgbClr val="059669"/>
          </a:solidFill>
          <a:ln w="12700">
            <a:solidFill>
              <a:srgbClr val="059669"/>
            </a:solidFill>
            <a:prstDash val="solid"/>
          </a:ln>
        </p:spPr>
      </p:sp>
      <p:pic>
        <p:nvPicPr>
          <p:cNvPr id="75" name="Image 4" descr="preencoded.png"/>
          <p:cNvPicPr>
            <a:picLocks noChangeAspect="1"/>
          </p:cNvPicPr>
          <p:nvPr/>
        </p:nvPicPr>
        <p:blipFill>
          <a:blip r:embed="rId5"/>
          <a:stretch>
            <a:fillRect/>
          </a:stretch>
        </p:blipFill>
        <p:spPr>
          <a:xfrm>
            <a:off x="7333488" y="4151376"/>
            <a:ext cx="274320" cy="274320"/>
          </a:xfrm>
          <a:prstGeom prst="rect">
            <a:avLst/>
          </a:prstGeom>
        </p:spPr>
      </p:pic>
      <p:sp>
        <p:nvSpPr>
          <p:cNvPr id="76" name="Text 69"/>
          <p:cNvSpPr/>
          <p:nvPr/>
        </p:nvSpPr>
        <p:spPr>
          <a:xfrm>
            <a:off x="7315200" y="4462272"/>
            <a:ext cx="1499616" cy="256032"/>
          </a:xfrm>
          <a:prstGeom prst="rect">
            <a:avLst/>
          </a:prstGeom>
          <a:noFill/>
          <a:ln/>
        </p:spPr>
        <p:txBody>
          <a:bodyPr wrap="square" lIns="0" tIns="0" rIns="0" bIns="0" rtlCol="0" anchor="ctr"/>
          <a:lstStyle/>
          <a:p>
            <a:pPr indent="0" marL="0">
              <a:buNone/>
            </a:pPr>
            <a:r>
              <a:rPr lang="en-US" sz="850" b="1" dirty="0">
                <a:solidFill>
                  <a:srgbClr val="0F2044"/>
                </a:solidFill>
              </a:rPr>
              <a:t>Tenant data boundary</a:t>
            </a:r>
            <a:endParaRPr lang="en-US" sz="850" dirty="0"/>
          </a:p>
        </p:txBody>
      </p:sp>
      <p:sp>
        <p:nvSpPr>
          <p:cNvPr id="77" name="Text 70"/>
          <p:cNvSpPr/>
          <p:nvPr/>
        </p:nvSpPr>
        <p:spPr>
          <a:xfrm>
            <a:off x="7315200" y="4700016"/>
            <a:ext cx="1499616" cy="310896"/>
          </a:xfrm>
          <a:prstGeom prst="rect">
            <a:avLst/>
          </a:prstGeom>
          <a:noFill/>
          <a:ln/>
        </p:spPr>
        <p:txBody>
          <a:bodyPr wrap="square" lIns="0" tIns="0" rIns="0" bIns="0" rtlCol="0" anchor="ctr"/>
          <a:lstStyle/>
          <a:p>
            <a:pPr indent="0" marL="0">
              <a:buNone/>
            </a:pPr>
            <a:r>
              <a:rPr lang="en-US" sz="700" dirty="0">
                <a:solidFill>
                  <a:srgbClr val="64748B"/>
                </a:solidFill>
              </a:rPr>
              <a:t>Agent learning router rejects any override event whose tenant_id does not match the target model. No query path can return another tenant's planning data or model weights.</a:t>
            </a:r>
            <a:endParaRPr lang="en-US" sz="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F2044"/>
          </a:solidFill>
          <a:ln w="12700">
            <a:solidFill>
              <a:srgbClr val="0F2044"/>
            </a:solidFill>
            <a:prstDash val="solid"/>
          </a:ln>
        </p:spPr>
      </p:sp>
      <p:sp>
        <p:nvSpPr>
          <p:cNvPr id="3" name="Shape 1"/>
          <p:cNvSpPr/>
          <p:nvPr/>
        </p:nvSpPr>
        <p:spPr>
          <a:xfrm>
            <a:off x="0" y="0"/>
            <a:ext cx="292608" cy="658368"/>
          </a:xfrm>
          <a:prstGeom prst="rect">
            <a:avLst/>
          </a:prstGeom>
          <a:solidFill>
            <a:srgbClr val="0D7377"/>
          </a:solidFill>
          <a:ln w="12700">
            <a:solidFill>
              <a:srgbClr val="0D7377"/>
            </a:solidFill>
            <a:prstDash val="solid"/>
          </a:ln>
        </p:spPr>
      </p:sp>
      <p:sp>
        <p:nvSpPr>
          <p:cNvPr id="4" name="Text 2"/>
          <p:cNvSpPr/>
          <p:nvPr/>
        </p:nvSpPr>
        <p:spPr>
          <a:xfrm>
            <a:off x="420624" y="0"/>
            <a:ext cx="5486400" cy="329184"/>
          </a:xfrm>
          <a:prstGeom prst="rect">
            <a:avLst/>
          </a:prstGeom>
          <a:noFill/>
          <a:ln/>
        </p:spPr>
        <p:txBody>
          <a:bodyPr wrap="square" lIns="0" tIns="0" rIns="0" bIns="0" rtlCol="0" anchor="b"/>
          <a:lstStyle/>
          <a:p>
            <a:pPr indent="0" marL="0">
              <a:buNone/>
            </a:pPr>
            <a:r>
              <a:rPr lang="en-US" sz="750" b="1" spc="200" kern="0" dirty="0">
                <a:solidFill>
                  <a:srgbClr val="94A3B8"/>
                </a:solidFill>
              </a:rPr>
              <a:t>APPENDIX  ·  NON-FUNCTIONAL REQUIREMENTS</a:t>
            </a:r>
            <a:endParaRPr lang="en-US" sz="750" dirty="0"/>
          </a:p>
        </p:txBody>
      </p:sp>
      <p:sp>
        <p:nvSpPr>
          <p:cNvPr id="5" name="Text 3"/>
          <p:cNvSpPr/>
          <p:nvPr/>
        </p:nvSpPr>
        <p:spPr>
          <a:xfrm>
            <a:off x="420624" y="320040"/>
            <a:ext cx="6400800" cy="310896"/>
          </a:xfrm>
          <a:prstGeom prst="rect">
            <a:avLst/>
          </a:prstGeom>
          <a:noFill/>
          <a:ln/>
        </p:spPr>
        <p:txBody>
          <a:bodyPr wrap="square" lIns="0" tIns="0" rIns="0" bIns="0" rtlCol="0" anchor="t"/>
          <a:lstStyle/>
          <a:p>
            <a:pPr indent="0" marL="0">
              <a:buNone/>
            </a:pPr>
            <a:r>
              <a:rPr lang="en-US" sz="1200" b="1" dirty="0">
                <a:solidFill>
                  <a:srgbClr val="FFFFFF"/>
                </a:solidFill>
              </a:rPr>
              <a:t>NFR-03  ·  Operability &amp; Evolvability</a:t>
            </a:r>
            <a:endParaRPr lang="en-US" sz="1200" dirty="0"/>
          </a:p>
        </p:txBody>
      </p:sp>
      <p:sp>
        <p:nvSpPr>
          <p:cNvPr id="6" name="Text 4"/>
          <p:cNvSpPr/>
          <p:nvPr/>
        </p:nvSpPr>
        <p:spPr>
          <a:xfrm>
            <a:off x="7863840" y="0"/>
            <a:ext cx="1097280" cy="658368"/>
          </a:xfrm>
          <a:prstGeom prst="rect">
            <a:avLst/>
          </a:prstGeom>
          <a:noFill/>
          <a:ln/>
        </p:spPr>
        <p:txBody>
          <a:bodyPr wrap="square" lIns="0" tIns="0" rIns="0" bIns="0" rtlCol="0" anchor="ctr"/>
          <a:lstStyle/>
          <a:p>
            <a:pPr algn="r" indent="0" marL="0">
              <a:buNone/>
            </a:pPr>
            <a:r>
              <a:rPr lang="en-US" sz="900" dirty="0">
                <a:solidFill>
                  <a:srgbClr val="94A3B8"/>
                </a:solidFill>
              </a:rPr>
              <a:t>NFR-03</a:t>
            </a:r>
            <a:endParaRPr lang="en-US" sz="900" dirty="0"/>
          </a:p>
        </p:txBody>
      </p:sp>
      <p:sp>
        <p:nvSpPr>
          <p:cNvPr id="7" name="Shape 5"/>
          <p:cNvSpPr/>
          <p:nvPr/>
        </p:nvSpPr>
        <p:spPr>
          <a:xfrm>
            <a:off x="201168" y="804672"/>
            <a:ext cx="8741664" cy="237744"/>
          </a:xfrm>
          <a:prstGeom prst="rect">
            <a:avLst/>
          </a:prstGeom>
          <a:solidFill>
            <a:srgbClr val="334155"/>
          </a:solidFill>
          <a:ln w="12700">
            <a:solidFill>
              <a:srgbClr val="334155"/>
            </a:solidFill>
            <a:prstDash val="solid"/>
          </a:ln>
        </p:spPr>
      </p:sp>
      <p:sp>
        <p:nvSpPr>
          <p:cNvPr id="8" name="Text 6"/>
          <p:cNvSpPr/>
          <p:nvPr/>
        </p:nvSpPr>
        <p:spPr>
          <a:xfrm>
            <a:off x="320040" y="804672"/>
            <a:ext cx="8412480" cy="237744"/>
          </a:xfrm>
          <a:prstGeom prst="rect">
            <a:avLst/>
          </a:prstGeom>
          <a:noFill/>
          <a:ln/>
        </p:spPr>
        <p:txBody>
          <a:bodyPr wrap="square" lIns="0" tIns="0" rIns="0" bIns="0" rtlCol="0" anchor="ctr"/>
          <a:lstStyle/>
          <a:p>
            <a:pPr indent="0" marL="0">
              <a:buNone/>
            </a:pPr>
            <a:r>
              <a:rPr lang="en-US" sz="850" b="1" spc="200" kern="0" dirty="0">
                <a:solidFill>
                  <a:srgbClr val="FFFFFF"/>
                </a:solidFill>
              </a:rPr>
              <a:t>HOOK CONTRACT VERSIONING &amp; DEPRECATION LIFECYCLE</a:t>
            </a:r>
            <a:endParaRPr lang="en-US" sz="850" dirty="0"/>
          </a:p>
        </p:txBody>
      </p:sp>
      <p:sp>
        <p:nvSpPr>
          <p:cNvPr id="9" name="Shape 7"/>
          <p:cNvSpPr/>
          <p:nvPr/>
        </p:nvSpPr>
        <p:spPr>
          <a:xfrm>
            <a:off x="201168" y="1115568"/>
            <a:ext cx="1664208" cy="475488"/>
          </a:xfrm>
          <a:prstGeom prst="rect">
            <a:avLst/>
          </a:prstGeom>
          <a:solidFill>
            <a:srgbClr val="0D7377"/>
          </a:solidFill>
          <a:ln w="12700">
            <a:solidFill>
              <a:srgbClr val="0D7377"/>
            </a:solidFill>
            <a:prstDash val="solid"/>
          </a:ln>
          <a:effectLst>
            <a:outerShdw sx="100000" sy="100000" kx="0" ky="0" algn="bl" rotWithShape="0" blurRad="101600" dist="38100" dir="8100000">
              <a:srgbClr val="000000">
                <a:alpha val="10000"/>
              </a:srgbClr>
            </a:outerShdw>
          </a:effectLst>
        </p:spPr>
      </p:sp>
      <p:sp>
        <p:nvSpPr>
          <p:cNvPr id="10" name="Text 8"/>
          <p:cNvSpPr/>
          <p:nvPr/>
        </p:nvSpPr>
        <p:spPr>
          <a:xfrm>
            <a:off x="292608" y="1152144"/>
            <a:ext cx="292608" cy="402336"/>
          </a:xfrm>
          <a:prstGeom prst="rect">
            <a:avLst/>
          </a:prstGeom>
          <a:noFill/>
          <a:ln/>
        </p:spPr>
        <p:txBody>
          <a:bodyPr wrap="square" lIns="0" tIns="0" rIns="0" bIns="0" rtlCol="0" anchor="ctr"/>
          <a:lstStyle/>
          <a:p>
            <a:pPr indent="0" marL="0">
              <a:buNone/>
            </a:pPr>
            <a:r>
              <a:rPr lang="en-US" sz="1800" b="1" dirty="0">
                <a:solidFill>
                  <a:srgbClr val="FFFFFF"/>
                </a:solidFill>
              </a:rPr>
              <a:t>1</a:t>
            </a:r>
            <a:endParaRPr lang="en-US" sz="1800" dirty="0"/>
          </a:p>
        </p:txBody>
      </p:sp>
      <p:sp>
        <p:nvSpPr>
          <p:cNvPr id="11" name="Text 9"/>
          <p:cNvSpPr/>
          <p:nvPr/>
        </p:nvSpPr>
        <p:spPr>
          <a:xfrm>
            <a:off x="585216" y="1170432"/>
            <a:ext cx="1188720" cy="384048"/>
          </a:xfrm>
          <a:prstGeom prst="rect">
            <a:avLst/>
          </a:prstGeom>
          <a:noFill/>
          <a:ln/>
        </p:spPr>
        <p:txBody>
          <a:bodyPr wrap="square" lIns="0" tIns="0" rIns="0" bIns="0" rtlCol="0" anchor="ctr"/>
          <a:lstStyle/>
          <a:p>
            <a:pPr indent="0" marL="0">
              <a:buNone/>
            </a:pPr>
            <a:r>
              <a:rPr lang="en-US" sz="850" b="1" dirty="0">
                <a:solidFill>
                  <a:srgbClr val="FFFFFF"/>
                </a:solidFill>
              </a:rPr>
              <a:t>New hook version</a:t>
            </a:r>
            <a:endParaRPr lang="en-US" sz="850" dirty="0"/>
          </a:p>
          <a:p>
            <a:pPr indent="0" marL="0">
              <a:buNone/>
            </a:pPr>
            <a:r>
              <a:rPr lang="en-US" sz="850" b="1" dirty="0">
                <a:solidFill>
                  <a:srgbClr val="FFFFFF"/>
                </a:solidFill>
              </a:rPr>
              <a:t>proposed</a:t>
            </a:r>
            <a:endParaRPr lang="en-US" sz="850" dirty="0"/>
          </a:p>
        </p:txBody>
      </p:sp>
      <p:sp>
        <p:nvSpPr>
          <p:cNvPr id="12" name="Shape 10"/>
          <p:cNvSpPr/>
          <p:nvPr/>
        </p:nvSpPr>
        <p:spPr>
          <a:xfrm>
            <a:off x="1865376" y="1353312"/>
            <a:ext cx="91440" cy="0"/>
          </a:xfrm>
          <a:prstGeom prst="line">
            <a:avLst/>
          </a:prstGeom>
          <a:noFill/>
          <a:ln w="19050">
            <a:solidFill>
              <a:srgbClr val="94A3B8"/>
            </a:solidFill>
            <a:prstDash val="solid"/>
          </a:ln>
        </p:spPr>
      </p:sp>
      <p:sp>
        <p:nvSpPr>
          <p:cNvPr id="13" name="Shape 11"/>
          <p:cNvSpPr/>
          <p:nvPr/>
        </p:nvSpPr>
        <p:spPr>
          <a:xfrm>
            <a:off x="201168" y="1609344"/>
            <a:ext cx="1664208" cy="640080"/>
          </a:xfrm>
          <a:prstGeom prst="rect">
            <a:avLst/>
          </a:prstGeom>
          <a:solidFill>
            <a:srgbClr val="FFFFFF"/>
          </a:solidFill>
          <a:ln w="12700">
            <a:solidFill>
              <a:srgbClr val="E2E8F0"/>
            </a:solidFill>
            <a:prstDash val="solid"/>
          </a:ln>
        </p:spPr>
      </p:sp>
      <p:sp>
        <p:nvSpPr>
          <p:cNvPr id="14" name="Text 12"/>
          <p:cNvSpPr/>
          <p:nvPr/>
        </p:nvSpPr>
        <p:spPr>
          <a:xfrm>
            <a:off x="292608" y="1645920"/>
            <a:ext cx="1499616" cy="566928"/>
          </a:xfrm>
          <a:prstGeom prst="rect">
            <a:avLst/>
          </a:prstGeom>
          <a:noFill/>
          <a:ln/>
        </p:spPr>
        <p:txBody>
          <a:bodyPr wrap="square" lIns="0" tIns="0" rIns="0" bIns="0" rtlCol="0" anchor="ctr"/>
          <a:lstStyle/>
          <a:p>
            <a:pPr indent="0" marL="0">
              <a:buNone/>
            </a:pPr>
            <a:r>
              <a:rPr lang="en-US" sz="750" dirty="0">
                <a:solidFill>
                  <a:srgbClr val="64748B"/>
                </a:solidFill>
              </a:rPr>
              <a:t>Platform team proposes v{n+1}. Breaking changes itemised. Draft published to all tenant leads.</a:t>
            </a:r>
            <a:endParaRPr lang="en-US" sz="750" dirty="0"/>
          </a:p>
        </p:txBody>
      </p:sp>
      <p:sp>
        <p:nvSpPr>
          <p:cNvPr id="15" name="Shape 13"/>
          <p:cNvSpPr/>
          <p:nvPr/>
        </p:nvSpPr>
        <p:spPr>
          <a:xfrm>
            <a:off x="1956816" y="1115568"/>
            <a:ext cx="1664208" cy="475488"/>
          </a:xfrm>
          <a:prstGeom prst="rect">
            <a:avLst/>
          </a:prstGeom>
          <a:solidFill>
            <a:srgbClr val="0F2044"/>
          </a:solidFill>
          <a:ln w="12700">
            <a:solidFill>
              <a:srgbClr val="0F2044"/>
            </a:solidFill>
            <a:prstDash val="solid"/>
          </a:ln>
          <a:effectLst>
            <a:outerShdw sx="100000" sy="100000" kx="0" ky="0" algn="bl" rotWithShape="0" blurRad="101600" dist="38100" dir="8100000">
              <a:srgbClr val="000000">
                <a:alpha val="10000"/>
              </a:srgbClr>
            </a:outerShdw>
          </a:effectLst>
        </p:spPr>
      </p:sp>
      <p:sp>
        <p:nvSpPr>
          <p:cNvPr id="16" name="Text 14"/>
          <p:cNvSpPr/>
          <p:nvPr/>
        </p:nvSpPr>
        <p:spPr>
          <a:xfrm>
            <a:off x="2048256" y="1152144"/>
            <a:ext cx="292608" cy="402336"/>
          </a:xfrm>
          <a:prstGeom prst="rect">
            <a:avLst/>
          </a:prstGeom>
          <a:noFill/>
          <a:ln/>
        </p:spPr>
        <p:txBody>
          <a:bodyPr wrap="square" lIns="0" tIns="0" rIns="0" bIns="0" rtlCol="0" anchor="ctr"/>
          <a:lstStyle/>
          <a:p>
            <a:pPr indent="0" marL="0">
              <a:buNone/>
            </a:pPr>
            <a:r>
              <a:rPr lang="en-US" sz="1800" b="1" dirty="0">
                <a:solidFill>
                  <a:srgbClr val="FFFFFF"/>
                </a:solidFill>
              </a:rPr>
              <a:t>2</a:t>
            </a:r>
            <a:endParaRPr lang="en-US" sz="1800" dirty="0"/>
          </a:p>
        </p:txBody>
      </p:sp>
      <p:sp>
        <p:nvSpPr>
          <p:cNvPr id="17" name="Text 15"/>
          <p:cNvSpPr/>
          <p:nvPr/>
        </p:nvSpPr>
        <p:spPr>
          <a:xfrm>
            <a:off x="2340864" y="1170432"/>
            <a:ext cx="1188720" cy="384048"/>
          </a:xfrm>
          <a:prstGeom prst="rect">
            <a:avLst/>
          </a:prstGeom>
          <a:noFill/>
          <a:ln/>
        </p:spPr>
        <p:txBody>
          <a:bodyPr wrap="square" lIns="0" tIns="0" rIns="0" bIns="0" rtlCol="0" anchor="ctr"/>
          <a:lstStyle/>
          <a:p>
            <a:pPr indent="0" marL="0">
              <a:buNone/>
            </a:pPr>
            <a:r>
              <a:rPr lang="en-US" sz="850" b="1" dirty="0">
                <a:solidFill>
                  <a:srgbClr val="FFFFFF"/>
                </a:solidFill>
              </a:rPr>
              <a:t>90-day notice</a:t>
            </a:r>
            <a:endParaRPr lang="en-US" sz="850" dirty="0"/>
          </a:p>
          <a:p>
            <a:pPr indent="0" marL="0">
              <a:buNone/>
            </a:pPr>
            <a:r>
              <a:rPr lang="en-US" sz="850" b="1" dirty="0">
                <a:solidFill>
                  <a:srgbClr val="FFFFFF"/>
                </a:solidFill>
              </a:rPr>
              <a:t>period starts</a:t>
            </a:r>
            <a:endParaRPr lang="en-US" sz="850" dirty="0"/>
          </a:p>
        </p:txBody>
      </p:sp>
      <p:sp>
        <p:nvSpPr>
          <p:cNvPr id="18" name="Shape 16"/>
          <p:cNvSpPr/>
          <p:nvPr/>
        </p:nvSpPr>
        <p:spPr>
          <a:xfrm>
            <a:off x="3621024" y="1353312"/>
            <a:ext cx="91440" cy="0"/>
          </a:xfrm>
          <a:prstGeom prst="line">
            <a:avLst/>
          </a:prstGeom>
          <a:noFill/>
          <a:ln w="19050">
            <a:solidFill>
              <a:srgbClr val="94A3B8"/>
            </a:solidFill>
            <a:prstDash val="solid"/>
          </a:ln>
        </p:spPr>
      </p:sp>
      <p:sp>
        <p:nvSpPr>
          <p:cNvPr id="19" name="Shape 17"/>
          <p:cNvSpPr/>
          <p:nvPr/>
        </p:nvSpPr>
        <p:spPr>
          <a:xfrm>
            <a:off x="1956816" y="1609344"/>
            <a:ext cx="1664208" cy="640080"/>
          </a:xfrm>
          <a:prstGeom prst="rect">
            <a:avLst/>
          </a:prstGeom>
          <a:solidFill>
            <a:srgbClr val="FFFFFF"/>
          </a:solidFill>
          <a:ln w="12700">
            <a:solidFill>
              <a:srgbClr val="E2E8F0"/>
            </a:solidFill>
            <a:prstDash val="solid"/>
          </a:ln>
        </p:spPr>
      </p:sp>
      <p:sp>
        <p:nvSpPr>
          <p:cNvPr id="20" name="Text 18"/>
          <p:cNvSpPr/>
          <p:nvPr/>
        </p:nvSpPr>
        <p:spPr>
          <a:xfrm>
            <a:off x="2048256" y="1645920"/>
            <a:ext cx="1499616" cy="566928"/>
          </a:xfrm>
          <a:prstGeom prst="rect">
            <a:avLst/>
          </a:prstGeom>
          <a:noFill/>
          <a:ln/>
        </p:spPr>
        <p:txBody>
          <a:bodyPr wrap="square" lIns="0" tIns="0" rIns="0" bIns="0" rtlCol="0" anchor="ctr"/>
          <a:lstStyle/>
          <a:p>
            <a:pPr indent="0" marL="0">
              <a:buNone/>
            </a:pPr>
            <a:r>
              <a:rPr lang="en-US" sz="750" dirty="0">
                <a:solidFill>
                  <a:srgbClr val="64748B"/>
                </a:solidFill>
              </a:rPr>
              <a:t>Deprecation notice issued. v{n} continues to run. Tenants begin migration planning.</a:t>
            </a:r>
            <a:endParaRPr lang="en-US" sz="750" dirty="0"/>
          </a:p>
        </p:txBody>
      </p:sp>
      <p:sp>
        <p:nvSpPr>
          <p:cNvPr id="21" name="Shape 19"/>
          <p:cNvSpPr/>
          <p:nvPr/>
        </p:nvSpPr>
        <p:spPr>
          <a:xfrm>
            <a:off x="3712464" y="1115568"/>
            <a:ext cx="1664208" cy="475488"/>
          </a:xfrm>
          <a:prstGeom prst="rect">
            <a:avLst/>
          </a:prstGeom>
          <a:solidFill>
            <a:srgbClr val="7C3AED"/>
          </a:solidFill>
          <a:ln w="12700">
            <a:solidFill>
              <a:srgbClr val="7C3AED"/>
            </a:solidFill>
            <a:prstDash val="solid"/>
          </a:ln>
          <a:effectLst>
            <a:outerShdw sx="100000" sy="100000" kx="0" ky="0" algn="bl" rotWithShape="0" blurRad="101600" dist="38100" dir="8100000">
              <a:srgbClr val="000000">
                <a:alpha val="10000"/>
              </a:srgbClr>
            </a:outerShdw>
          </a:effectLst>
        </p:spPr>
      </p:sp>
      <p:sp>
        <p:nvSpPr>
          <p:cNvPr id="22" name="Text 20"/>
          <p:cNvSpPr/>
          <p:nvPr/>
        </p:nvSpPr>
        <p:spPr>
          <a:xfrm>
            <a:off x="3803904" y="1152144"/>
            <a:ext cx="292608" cy="402336"/>
          </a:xfrm>
          <a:prstGeom prst="rect">
            <a:avLst/>
          </a:prstGeom>
          <a:noFill/>
          <a:ln/>
        </p:spPr>
        <p:txBody>
          <a:bodyPr wrap="square" lIns="0" tIns="0" rIns="0" bIns="0" rtlCol="0" anchor="ctr"/>
          <a:lstStyle/>
          <a:p>
            <a:pPr indent="0" marL="0">
              <a:buNone/>
            </a:pPr>
            <a:r>
              <a:rPr lang="en-US" sz="1800" b="1" dirty="0">
                <a:solidFill>
                  <a:srgbClr val="FFFFFF"/>
                </a:solidFill>
              </a:rPr>
              <a:t>3</a:t>
            </a:r>
            <a:endParaRPr lang="en-US" sz="1800" dirty="0"/>
          </a:p>
        </p:txBody>
      </p:sp>
      <p:sp>
        <p:nvSpPr>
          <p:cNvPr id="23" name="Text 21"/>
          <p:cNvSpPr/>
          <p:nvPr/>
        </p:nvSpPr>
        <p:spPr>
          <a:xfrm>
            <a:off x="4096512" y="1170432"/>
            <a:ext cx="1188720" cy="384048"/>
          </a:xfrm>
          <a:prstGeom prst="rect">
            <a:avLst/>
          </a:prstGeom>
          <a:noFill/>
          <a:ln/>
        </p:spPr>
        <p:txBody>
          <a:bodyPr wrap="square" lIns="0" tIns="0" rIns="0" bIns="0" rtlCol="0" anchor="ctr"/>
          <a:lstStyle/>
          <a:p>
            <a:pPr indent="0" marL="0">
              <a:buNone/>
            </a:pPr>
            <a:r>
              <a:rPr lang="en-US" sz="850" b="1" dirty="0">
                <a:solidFill>
                  <a:srgbClr val="FFFFFF"/>
                </a:solidFill>
              </a:rPr>
              <a:t>Tenants migrate</a:t>
            </a:r>
            <a:endParaRPr lang="en-US" sz="850" dirty="0"/>
          </a:p>
          <a:p>
            <a:pPr indent="0" marL="0">
              <a:buNone/>
            </a:pPr>
            <a:r>
              <a:rPr lang="en-US" sz="850" b="1" dirty="0">
                <a:solidFill>
                  <a:srgbClr val="FFFFFF"/>
                </a:solidFill>
              </a:rPr>
              <a:t>extensions</a:t>
            </a:r>
            <a:endParaRPr lang="en-US" sz="850" dirty="0"/>
          </a:p>
        </p:txBody>
      </p:sp>
      <p:sp>
        <p:nvSpPr>
          <p:cNvPr id="24" name="Shape 22"/>
          <p:cNvSpPr/>
          <p:nvPr/>
        </p:nvSpPr>
        <p:spPr>
          <a:xfrm>
            <a:off x="5376672" y="1353312"/>
            <a:ext cx="91440" cy="0"/>
          </a:xfrm>
          <a:prstGeom prst="line">
            <a:avLst/>
          </a:prstGeom>
          <a:noFill/>
          <a:ln w="19050">
            <a:solidFill>
              <a:srgbClr val="94A3B8"/>
            </a:solidFill>
            <a:prstDash val="solid"/>
          </a:ln>
        </p:spPr>
      </p:sp>
      <p:sp>
        <p:nvSpPr>
          <p:cNvPr id="25" name="Shape 23"/>
          <p:cNvSpPr/>
          <p:nvPr/>
        </p:nvSpPr>
        <p:spPr>
          <a:xfrm>
            <a:off x="3712464" y="1609344"/>
            <a:ext cx="1664208" cy="640080"/>
          </a:xfrm>
          <a:prstGeom prst="rect">
            <a:avLst/>
          </a:prstGeom>
          <a:solidFill>
            <a:srgbClr val="FFFFFF"/>
          </a:solidFill>
          <a:ln w="12700">
            <a:solidFill>
              <a:srgbClr val="E2E8F0"/>
            </a:solidFill>
            <a:prstDash val="solid"/>
          </a:ln>
        </p:spPr>
      </p:sp>
      <p:sp>
        <p:nvSpPr>
          <p:cNvPr id="26" name="Text 24"/>
          <p:cNvSpPr/>
          <p:nvPr/>
        </p:nvSpPr>
        <p:spPr>
          <a:xfrm>
            <a:off x="3803904" y="1645920"/>
            <a:ext cx="1499616" cy="566928"/>
          </a:xfrm>
          <a:prstGeom prst="rect">
            <a:avLst/>
          </a:prstGeom>
          <a:noFill/>
          <a:ln/>
        </p:spPr>
        <p:txBody>
          <a:bodyPr wrap="square" lIns="0" tIns="0" rIns="0" bIns="0" rtlCol="0" anchor="ctr"/>
          <a:lstStyle/>
          <a:p>
            <a:pPr indent="0" marL="0">
              <a:buNone/>
            </a:pPr>
            <a:r>
              <a:rPr lang="en-US" sz="750" dirty="0">
                <a:solidFill>
                  <a:srgbClr val="64748B"/>
                </a:solidFill>
              </a:rPr>
              <a:t>Each tenant updates their extension against v{n+1} contract. Platform provides migration guide and mock.</a:t>
            </a:r>
            <a:endParaRPr lang="en-US" sz="750" dirty="0"/>
          </a:p>
        </p:txBody>
      </p:sp>
      <p:sp>
        <p:nvSpPr>
          <p:cNvPr id="27" name="Shape 25"/>
          <p:cNvSpPr/>
          <p:nvPr/>
        </p:nvSpPr>
        <p:spPr>
          <a:xfrm>
            <a:off x="5468112" y="1115568"/>
            <a:ext cx="1664208" cy="475488"/>
          </a:xfrm>
          <a:prstGeom prst="rect">
            <a:avLst/>
          </a:prstGeom>
          <a:solidFill>
            <a:srgbClr val="F59E0B"/>
          </a:solidFill>
          <a:ln w="12700">
            <a:solidFill>
              <a:srgbClr val="F59E0B"/>
            </a:solidFill>
            <a:prstDash val="solid"/>
          </a:ln>
          <a:effectLst>
            <a:outerShdw sx="100000" sy="100000" kx="0" ky="0" algn="bl" rotWithShape="0" blurRad="101600" dist="38100" dir="8100000">
              <a:srgbClr val="000000">
                <a:alpha val="10000"/>
              </a:srgbClr>
            </a:outerShdw>
          </a:effectLst>
        </p:spPr>
      </p:sp>
      <p:sp>
        <p:nvSpPr>
          <p:cNvPr id="28" name="Text 26"/>
          <p:cNvSpPr/>
          <p:nvPr/>
        </p:nvSpPr>
        <p:spPr>
          <a:xfrm>
            <a:off x="5559552" y="1152144"/>
            <a:ext cx="292608" cy="402336"/>
          </a:xfrm>
          <a:prstGeom prst="rect">
            <a:avLst/>
          </a:prstGeom>
          <a:noFill/>
          <a:ln/>
        </p:spPr>
        <p:txBody>
          <a:bodyPr wrap="square" lIns="0" tIns="0" rIns="0" bIns="0" rtlCol="0" anchor="ctr"/>
          <a:lstStyle/>
          <a:p>
            <a:pPr indent="0" marL="0">
              <a:buNone/>
            </a:pPr>
            <a:r>
              <a:rPr lang="en-US" sz="1800" b="1" dirty="0">
                <a:solidFill>
                  <a:srgbClr val="FFFFFF"/>
                </a:solidFill>
              </a:rPr>
              <a:t>4</a:t>
            </a:r>
            <a:endParaRPr lang="en-US" sz="1800" dirty="0"/>
          </a:p>
        </p:txBody>
      </p:sp>
      <p:sp>
        <p:nvSpPr>
          <p:cNvPr id="29" name="Text 27"/>
          <p:cNvSpPr/>
          <p:nvPr/>
        </p:nvSpPr>
        <p:spPr>
          <a:xfrm>
            <a:off x="5852160" y="1170432"/>
            <a:ext cx="1188720" cy="384048"/>
          </a:xfrm>
          <a:prstGeom prst="rect">
            <a:avLst/>
          </a:prstGeom>
          <a:noFill/>
          <a:ln/>
        </p:spPr>
        <p:txBody>
          <a:bodyPr wrap="square" lIns="0" tIns="0" rIns="0" bIns="0" rtlCol="0" anchor="ctr"/>
          <a:lstStyle/>
          <a:p>
            <a:pPr indent="0" marL="0">
              <a:buNone/>
            </a:pPr>
            <a:r>
              <a:rPr lang="en-US" sz="850" b="1" dirty="0">
                <a:solidFill>
                  <a:srgbClr val="FFFFFF"/>
                </a:solidFill>
              </a:rPr>
              <a:t>Parallel run</a:t>
            </a:r>
            <a:endParaRPr lang="en-US" sz="850" dirty="0"/>
          </a:p>
          <a:p>
            <a:pPr indent="0" marL="0">
              <a:buNone/>
            </a:pPr>
            <a:r>
              <a:rPr lang="en-US" sz="850" b="1" dirty="0">
                <a:solidFill>
                  <a:srgbClr val="FFFFFF"/>
                </a:solidFill>
              </a:rPr>
              <a:t>validation</a:t>
            </a:r>
            <a:endParaRPr lang="en-US" sz="850" dirty="0"/>
          </a:p>
        </p:txBody>
      </p:sp>
      <p:sp>
        <p:nvSpPr>
          <p:cNvPr id="30" name="Shape 28"/>
          <p:cNvSpPr/>
          <p:nvPr/>
        </p:nvSpPr>
        <p:spPr>
          <a:xfrm>
            <a:off x="7132320" y="1353312"/>
            <a:ext cx="91440" cy="0"/>
          </a:xfrm>
          <a:prstGeom prst="line">
            <a:avLst/>
          </a:prstGeom>
          <a:noFill/>
          <a:ln w="19050">
            <a:solidFill>
              <a:srgbClr val="94A3B8"/>
            </a:solidFill>
            <a:prstDash val="solid"/>
          </a:ln>
        </p:spPr>
      </p:sp>
      <p:sp>
        <p:nvSpPr>
          <p:cNvPr id="31" name="Shape 29"/>
          <p:cNvSpPr/>
          <p:nvPr/>
        </p:nvSpPr>
        <p:spPr>
          <a:xfrm>
            <a:off x="5468112" y="1609344"/>
            <a:ext cx="1664208" cy="640080"/>
          </a:xfrm>
          <a:prstGeom prst="rect">
            <a:avLst/>
          </a:prstGeom>
          <a:solidFill>
            <a:srgbClr val="FFFFFF"/>
          </a:solidFill>
          <a:ln w="12700">
            <a:solidFill>
              <a:srgbClr val="E2E8F0"/>
            </a:solidFill>
            <a:prstDash val="solid"/>
          </a:ln>
        </p:spPr>
      </p:sp>
      <p:sp>
        <p:nvSpPr>
          <p:cNvPr id="32" name="Text 30"/>
          <p:cNvSpPr/>
          <p:nvPr/>
        </p:nvSpPr>
        <p:spPr>
          <a:xfrm>
            <a:off x="5559552" y="1645920"/>
            <a:ext cx="1499616" cy="566928"/>
          </a:xfrm>
          <a:prstGeom prst="rect">
            <a:avLst/>
          </a:prstGeom>
          <a:noFill/>
          <a:ln/>
        </p:spPr>
        <p:txBody>
          <a:bodyPr wrap="square" lIns="0" tIns="0" rIns="0" bIns="0" rtlCol="0" anchor="ctr"/>
          <a:lstStyle/>
          <a:p>
            <a:pPr indent="0" marL="0">
              <a:buNone/>
            </a:pPr>
            <a:r>
              <a:rPr lang="en-US" sz="750" dirty="0">
                <a:solidFill>
                  <a:srgbClr val="64748B"/>
                </a:solidFill>
              </a:rPr>
              <a:t>Both versions active simultaneously. Platform CI runs all retailer extensions against v{n+1} before cutover.</a:t>
            </a:r>
            <a:endParaRPr lang="en-US" sz="750" dirty="0"/>
          </a:p>
        </p:txBody>
      </p:sp>
      <p:sp>
        <p:nvSpPr>
          <p:cNvPr id="33" name="Shape 31"/>
          <p:cNvSpPr/>
          <p:nvPr/>
        </p:nvSpPr>
        <p:spPr>
          <a:xfrm>
            <a:off x="7223760" y="1115568"/>
            <a:ext cx="1664208" cy="475488"/>
          </a:xfrm>
          <a:prstGeom prst="rect">
            <a:avLst/>
          </a:prstGeom>
          <a:solidFill>
            <a:srgbClr val="059669"/>
          </a:solidFill>
          <a:ln w="12700">
            <a:solidFill>
              <a:srgbClr val="059669"/>
            </a:solidFill>
            <a:prstDash val="solid"/>
          </a:ln>
          <a:effectLst>
            <a:outerShdw sx="100000" sy="100000" kx="0" ky="0" algn="bl" rotWithShape="0" blurRad="101600" dist="38100" dir="8100000">
              <a:srgbClr val="000000">
                <a:alpha val="10000"/>
              </a:srgbClr>
            </a:outerShdw>
          </a:effectLst>
        </p:spPr>
      </p:sp>
      <p:sp>
        <p:nvSpPr>
          <p:cNvPr id="34" name="Text 32"/>
          <p:cNvSpPr/>
          <p:nvPr/>
        </p:nvSpPr>
        <p:spPr>
          <a:xfrm>
            <a:off x="7315200" y="1152144"/>
            <a:ext cx="292608" cy="402336"/>
          </a:xfrm>
          <a:prstGeom prst="rect">
            <a:avLst/>
          </a:prstGeom>
          <a:noFill/>
          <a:ln/>
        </p:spPr>
        <p:txBody>
          <a:bodyPr wrap="square" lIns="0" tIns="0" rIns="0" bIns="0" rtlCol="0" anchor="ctr"/>
          <a:lstStyle/>
          <a:p>
            <a:pPr indent="0" marL="0">
              <a:buNone/>
            </a:pPr>
            <a:r>
              <a:rPr lang="en-US" sz="1800" b="1" dirty="0">
                <a:solidFill>
                  <a:srgbClr val="FFFFFF"/>
                </a:solidFill>
              </a:rPr>
              <a:t>5</a:t>
            </a:r>
            <a:endParaRPr lang="en-US" sz="1800" dirty="0"/>
          </a:p>
        </p:txBody>
      </p:sp>
      <p:sp>
        <p:nvSpPr>
          <p:cNvPr id="35" name="Text 33"/>
          <p:cNvSpPr/>
          <p:nvPr/>
        </p:nvSpPr>
        <p:spPr>
          <a:xfrm>
            <a:off x="7607808" y="1170432"/>
            <a:ext cx="1188720" cy="384048"/>
          </a:xfrm>
          <a:prstGeom prst="rect">
            <a:avLst/>
          </a:prstGeom>
          <a:noFill/>
          <a:ln/>
        </p:spPr>
        <p:txBody>
          <a:bodyPr wrap="square" lIns="0" tIns="0" rIns="0" bIns="0" rtlCol="0" anchor="ctr"/>
          <a:lstStyle/>
          <a:p>
            <a:pPr indent="0" marL="0">
              <a:buNone/>
            </a:pPr>
            <a:r>
              <a:rPr lang="en-US" sz="850" b="1" dirty="0">
                <a:solidFill>
                  <a:srgbClr val="FFFFFF"/>
                </a:solidFill>
              </a:rPr>
              <a:t>v{n} deprecated,</a:t>
            </a:r>
            <a:endParaRPr lang="en-US" sz="850" dirty="0"/>
          </a:p>
          <a:p>
            <a:pPr indent="0" marL="0">
              <a:buNone/>
            </a:pPr>
            <a:r>
              <a:rPr lang="en-US" sz="850" b="1" dirty="0">
                <a:solidFill>
                  <a:srgbClr val="FFFFFF"/>
                </a:solidFill>
              </a:rPr>
              <a:t>v{n+1} live</a:t>
            </a:r>
            <a:endParaRPr lang="en-US" sz="850" dirty="0"/>
          </a:p>
        </p:txBody>
      </p:sp>
      <p:sp>
        <p:nvSpPr>
          <p:cNvPr id="36" name="Shape 34"/>
          <p:cNvSpPr/>
          <p:nvPr/>
        </p:nvSpPr>
        <p:spPr>
          <a:xfrm>
            <a:off x="7223760" y="1609344"/>
            <a:ext cx="1664208" cy="640080"/>
          </a:xfrm>
          <a:prstGeom prst="rect">
            <a:avLst/>
          </a:prstGeom>
          <a:solidFill>
            <a:srgbClr val="FFFFFF"/>
          </a:solidFill>
          <a:ln w="12700">
            <a:solidFill>
              <a:srgbClr val="E2E8F0"/>
            </a:solidFill>
            <a:prstDash val="solid"/>
          </a:ln>
        </p:spPr>
      </p:sp>
      <p:sp>
        <p:nvSpPr>
          <p:cNvPr id="37" name="Text 35"/>
          <p:cNvSpPr/>
          <p:nvPr/>
        </p:nvSpPr>
        <p:spPr>
          <a:xfrm>
            <a:off x="7315200" y="1645920"/>
            <a:ext cx="1499616" cy="566928"/>
          </a:xfrm>
          <a:prstGeom prst="rect">
            <a:avLst/>
          </a:prstGeom>
          <a:noFill/>
          <a:ln/>
        </p:spPr>
        <p:txBody>
          <a:bodyPr wrap="square" lIns="0" tIns="0" rIns="0" bIns="0" rtlCol="0" anchor="ctr"/>
          <a:lstStyle/>
          <a:p>
            <a:pPr indent="0" marL="0">
              <a:buNone/>
            </a:pPr>
            <a:r>
              <a:rPr lang="en-US" sz="750" dirty="0">
                <a:solidFill>
                  <a:srgbClr val="64748B"/>
                </a:solidFill>
              </a:rPr>
              <a:t>After all tenants confirmed, v{n} removed from framework. Any remaining v{n} calls return 410 with migration pointer.</a:t>
            </a:r>
            <a:endParaRPr lang="en-US" sz="750" dirty="0"/>
          </a:p>
        </p:txBody>
      </p:sp>
      <p:sp>
        <p:nvSpPr>
          <p:cNvPr id="38" name="Shape 36"/>
          <p:cNvSpPr/>
          <p:nvPr/>
        </p:nvSpPr>
        <p:spPr>
          <a:xfrm>
            <a:off x="201168" y="2487168"/>
            <a:ext cx="8741664" cy="237744"/>
          </a:xfrm>
          <a:prstGeom prst="rect">
            <a:avLst/>
          </a:prstGeom>
          <a:solidFill>
            <a:srgbClr val="334155"/>
          </a:solidFill>
          <a:ln w="12700">
            <a:solidFill>
              <a:srgbClr val="334155"/>
            </a:solidFill>
            <a:prstDash val="solid"/>
          </a:ln>
        </p:spPr>
      </p:sp>
      <p:sp>
        <p:nvSpPr>
          <p:cNvPr id="39" name="Text 37"/>
          <p:cNvSpPr/>
          <p:nvPr/>
        </p:nvSpPr>
        <p:spPr>
          <a:xfrm>
            <a:off x="320040" y="2487168"/>
            <a:ext cx="8412480" cy="237744"/>
          </a:xfrm>
          <a:prstGeom prst="rect">
            <a:avLst/>
          </a:prstGeom>
          <a:noFill/>
          <a:ln/>
        </p:spPr>
        <p:txBody>
          <a:bodyPr wrap="square" lIns="0" tIns="0" rIns="0" bIns="0" rtlCol="0" anchor="ctr"/>
          <a:lstStyle/>
          <a:p>
            <a:pPr indent="0" marL="0">
              <a:buNone/>
            </a:pPr>
            <a:r>
              <a:rPr lang="en-US" sz="850" b="1" spc="100" kern="0" dirty="0">
                <a:solidFill>
                  <a:srgbClr val="FFFFFF"/>
                </a:solidFill>
              </a:rPr>
              <a:t>MONITORING SURFACES — WHAT IS OBSERVABLE, BY WHOM, AND WHERE IT LIVES IN THE ARCHITECTURE</a:t>
            </a:r>
            <a:endParaRPr lang="en-US" sz="850" dirty="0"/>
          </a:p>
        </p:txBody>
      </p:sp>
      <p:sp>
        <p:nvSpPr>
          <p:cNvPr id="40" name="Shape 38"/>
          <p:cNvSpPr/>
          <p:nvPr/>
        </p:nvSpPr>
        <p:spPr>
          <a:xfrm>
            <a:off x="201168" y="2724912"/>
            <a:ext cx="8741664" cy="219456"/>
          </a:xfrm>
          <a:prstGeom prst="rect">
            <a:avLst/>
          </a:prstGeom>
          <a:solidFill>
            <a:srgbClr val="0F2044"/>
          </a:solidFill>
          <a:ln w="12700">
            <a:solidFill>
              <a:srgbClr val="0F2044"/>
            </a:solidFill>
            <a:prstDash val="solid"/>
          </a:ln>
        </p:spPr>
      </p:sp>
      <p:sp>
        <p:nvSpPr>
          <p:cNvPr id="41" name="Text 39"/>
          <p:cNvSpPr/>
          <p:nvPr/>
        </p:nvSpPr>
        <p:spPr>
          <a:xfrm>
            <a:off x="246888" y="2724912"/>
            <a:ext cx="1664208" cy="219456"/>
          </a:xfrm>
          <a:prstGeom prst="rect">
            <a:avLst/>
          </a:prstGeom>
          <a:noFill/>
          <a:ln/>
        </p:spPr>
        <p:txBody>
          <a:bodyPr wrap="square" lIns="0" tIns="0" rIns="0" bIns="0" rtlCol="0" anchor="ctr"/>
          <a:lstStyle/>
          <a:p>
            <a:pPr indent="0" marL="0">
              <a:buNone/>
            </a:pPr>
            <a:r>
              <a:rPr lang="en-US" sz="750" b="1" dirty="0">
                <a:solidFill>
                  <a:srgbClr val="FFFFFF"/>
                </a:solidFill>
              </a:rPr>
              <a:t>MONITORING SURFACE</a:t>
            </a:r>
            <a:endParaRPr lang="en-US" sz="750" dirty="0"/>
          </a:p>
        </p:txBody>
      </p:sp>
      <p:sp>
        <p:nvSpPr>
          <p:cNvPr id="42" name="Text 40"/>
          <p:cNvSpPr/>
          <p:nvPr/>
        </p:nvSpPr>
        <p:spPr>
          <a:xfrm>
            <a:off x="1911096" y="2724912"/>
            <a:ext cx="896112" cy="219456"/>
          </a:xfrm>
          <a:prstGeom prst="rect">
            <a:avLst/>
          </a:prstGeom>
          <a:noFill/>
          <a:ln/>
        </p:spPr>
        <p:txBody>
          <a:bodyPr wrap="square" lIns="0" tIns="0" rIns="0" bIns="0" rtlCol="0" anchor="ctr"/>
          <a:lstStyle/>
          <a:p>
            <a:pPr indent="0" marL="0">
              <a:buNone/>
            </a:pPr>
            <a:r>
              <a:rPr lang="en-US" sz="750" b="1" dirty="0">
                <a:solidFill>
                  <a:srgbClr val="FFFFFF"/>
                </a:solidFill>
              </a:rPr>
              <a:t>OWNER</a:t>
            </a:r>
            <a:endParaRPr lang="en-US" sz="750" dirty="0"/>
          </a:p>
        </p:txBody>
      </p:sp>
      <p:sp>
        <p:nvSpPr>
          <p:cNvPr id="43" name="Text 41"/>
          <p:cNvSpPr/>
          <p:nvPr/>
        </p:nvSpPr>
        <p:spPr>
          <a:xfrm>
            <a:off x="2807208" y="2724912"/>
            <a:ext cx="713232" cy="219456"/>
          </a:xfrm>
          <a:prstGeom prst="rect">
            <a:avLst/>
          </a:prstGeom>
          <a:noFill/>
          <a:ln/>
        </p:spPr>
        <p:txBody>
          <a:bodyPr wrap="square" lIns="0" tIns="0" rIns="0" bIns="0" rtlCol="0" anchor="ctr"/>
          <a:lstStyle/>
          <a:p>
            <a:pPr indent="0" marL="0">
              <a:buNone/>
            </a:pPr>
            <a:r>
              <a:rPr lang="en-US" sz="750" b="1" dirty="0">
                <a:solidFill>
                  <a:srgbClr val="FFFFFF"/>
                </a:solidFill>
              </a:rPr>
              <a:t>ARCH LAYER</a:t>
            </a:r>
            <a:endParaRPr lang="en-US" sz="750" dirty="0"/>
          </a:p>
        </p:txBody>
      </p:sp>
      <p:sp>
        <p:nvSpPr>
          <p:cNvPr id="44" name="Text 42"/>
          <p:cNvSpPr/>
          <p:nvPr/>
        </p:nvSpPr>
        <p:spPr>
          <a:xfrm>
            <a:off x="3520440" y="2724912"/>
            <a:ext cx="3401568" cy="219456"/>
          </a:xfrm>
          <a:prstGeom prst="rect">
            <a:avLst/>
          </a:prstGeom>
          <a:noFill/>
          <a:ln/>
        </p:spPr>
        <p:txBody>
          <a:bodyPr wrap="square" lIns="0" tIns="0" rIns="0" bIns="0" rtlCol="0" anchor="ctr"/>
          <a:lstStyle/>
          <a:p>
            <a:pPr indent="0" marL="0">
              <a:buNone/>
            </a:pPr>
            <a:r>
              <a:rPr lang="en-US" sz="750" b="1" dirty="0">
                <a:solidFill>
                  <a:srgbClr val="FFFFFF"/>
                </a:solidFill>
              </a:rPr>
              <a:t>KEY SIGNALS</a:t>
            </a:r>
            <a:endParaRPr lang="en-US" sz="750" dirty="0"/>
          </a:p>
        </p:txBody>
      </p:sp>
      <p:sp>
        <p:nvSpPr>
          <p:cNvPr id="45" name="Text 43"/>
          <p:cNvSpPr/>
          <p:nvPr/>
        </p:nvSpPr>
        <p:spPr>
          <a:xfrm>
            <a:off x="6922008" y="2724912"/>
            <a:ext cx="1975104" cy="219456"/>
          </a:xfrm>
          <a:prstGeom prst="rect">
            <a:avLst/>
          </a:prstGeom>
          <a:noFill/>
          <a:ln/>
        </p:spPr>
        <p:txBody>
          <a:bodyPr wrap="square" lIns="0" tIns="0" rIns="0" bIns="0" rtlCol="0" anchor="ctr"/>
          <a:lstStyle/>
          <a:p>
            <a:pPr indent="0" marL="0">
              <a:buNone/>
            </a:pPr>
            <a:r>
              <a:rPr lang="en-US" sz="750" b="1" dirty="0">
                <a:solidFill>
                  <a:srgbClr val="FFFFFF"/>
                </a:solidFill>
              </a:rPr>
              <a:t>TOOLING</a:t>
            </a:r>
            <a:endParaRPr lang="en-US" sz="750" dirty="0"/>
          </a:p>
        </p:txBody>
      </p:sp>
      <p:sp>
        <p:nvSpPr>
          <p:cNvPr id="46" name="Shape 44"/>
          <p:cNvSpPr/>
          <p:nvPr/>
        </p:nvSpPr>
        <p:spPr>
          <a:xfrm>
            <a:off x="201168" y="2944368"/>
            <a:ext cx="8741664" cy="347472"/>
          </a:xfrm>
          <a:prstGeom prst="rect">
            <a:avLst/>
          </a:prstGeom>
          <a:solidFill>
            <a:srgbClr val="FFFFFF"/>
          </a:solidFill>
          <a:ln w="6350">
            <a:solidFill>
              <a:srgbClr val="E2E8F0"/>
            </a:solidFill>
            <a:prstDash val="solid"/>
          </a:ln>
        </p:spPr>
      </p:sp>
      <p:sp>
        <p:nvSpPr>
          <p:cNvPr id="47" name="Text 45"/>
          <p:cNvSpPr/>
          <p:nvPr/>
        </p:nvSpPr>
        <p:spPr>
          <a:xfrm>
            <a:off x="246888" y="2980944"/>
            <a:ext cx="1591056" cy="274320"/>
          </a:xfrm>
          <a:prstGeom prst="rect">
            <a:avLst/>
          </a:prstGeom>
          <a:noFill/>
          <a:ln/>
        </p:spPr>
        <p:txBody>
          <a:bodyPr wrap="square" lIns="0" tIns="0" rIns="0" bIns="0" rtlCol="0" anchor="ctr"/>
          <a:lstStyle/>
          <a:p>
            <a:pPr indent="0" marL="0">
              <a:buNone/>
            </a:pPr>
            <a:r>
              <a:rPr lang="en-US" sz="800" b="1" dirty="0">
                <a:solidFill>
                  <a:srgbClr val="0F2044"/>
                </a:solidFill>
              </a:rPr>
              <a:t>Core engine health</a:t>
            </a:r>
            <a:endParaRPr lang="en-US" sz="800" dirty="0"/>
          </a:p>
        </p:txBody>
      </p:sp>
      <p:sp>
        <p:nvSpPr>
          <p:cNvPr id="48" name="Text 46"/>
          <p:cNvSpPr/>
          <p:nvPr/>
        </p:nvSpPr>
        <p:spPr>
          <a:xfrm>
            <a:off x="1911096" y="2980944"/>
            <a:ext cx="822960" cy="274320"/>
          </a:xfrm>
          <a:prstGeom prst="rect">
            <a:avLst/>
          </a:prstGeom>
          <a:noFill/>
          <a:ln/>
        </p:spPr>
        <p:txBody>
          <a:bodyPr wrap="square" lIns="0" tIns="0" rIns="0" bIns="0" rtlCol="0" anchor="ctr"/>
          <a:lstStyle/>
          <a:p>
            <a:pPr indent="0" marL="0">
              <a:buNone/>
            </a:pPr>
            <a:r>
              <a:rPr lang="en-US" sz="750" dirty="0">
                <a:solidFill>
                  <a:srgbClr val="0D7377"/>
                </a:solidFill>
              </a:rPr>
              <a:t>Platform ops</a:t>
            </a:r>
            <a:endParaRPr lang="en-US" sz="750" dirty="0"/>
          </a:p>
        </p:txBody>
      </p:sp>
      <p:sp>
        <p:nvSpPr>
          <p:cNvPr id="49" name="Text 47"/>
          <p:cNvSpPr/>
          <p:nvPr/>
        </p:nvSpPr>
        <p:spPr>
          <a:xfrm>
            <a:off x="2807208" y="2980944"/>
            <a:ext cx="640080" cy="274320"/>
          </a:xfrm>
          <a:prstGeom prst="rect">
            <a:avLst/>
          </a:prstGeom>
          <a:noFill/>
          <a:ln/>
        </p:spPr>
        <p:txBody>
          <a:bodyPr wrap="square" lIns="0" tIns="0" rIns="0" bIns="0" rtlCol="0" anchor="ctr"/>
          <a:lstStyle/>
          <a:p>
            <a:pPr indent="0" marL="0">
              <a:buNone/>
            </a:pPr>
            <a:r>
              <a:rPr lang="en-US" sz="750" dirty="0">
                <a:solidFill>
                  <a:srgbClr val="64748B"/>
                </a:solidFill>
              </a:rPr>
              <a:t>Core</a:t>
            </a:r>
            <a:endParaRPr lang="en-US" sz="750" dirty="0"/>
          </a:p>
        </p:txBody>
      </p:sp>
      <p:sp>
        <p:nvSpPr>
          <p:cNvPr id="50" name="Text 48"/>
          <p:cNvSpPr/>
          <p:nvPr/>
        </p:nvSpPr>
        <p:spPr>
          <a:xfrm>
            <a:off x="3520440" y="2971800"/>
            <a:ext cx="3328416" cy="310896"/>
          </a:xfrm>
          <a:prstGeom prst="rect">
            <a:avLst/>
          </a:prstGeom>
          <a:noFill/>
          <a:ln/>
        </p:spPr>
        <p:txBody>
          <a:bodyPr wrap="square" lIns="0" tIns="0" rIns="0" bIns="0" rtlCol="0" anchor="ctr"/>
          <a:lstStyle/>
          <a:p>
            <a:pPr indent="0" marL="0">
              <a:buNone/>
            </a:pPr>
            <a:r>
              <a:rPr lang="en-US" sz="700" dirty="0">
                <a:solidFill>
                  <a:srgbClr val="64748B"/>
                </a:solidFill>
              </a:rPr>
              <a:t>Algorithm run time per tenant · hook invocation count · schema validation failures · job queue depth</a:t>
            </a:r>
            <a:endParaRPr lang="en-US" sz="700" dirty="0"/>
          </a:p>
        </p:txBody>
      </p:sp>
      <p:sp>
        <p:nvSpPr>
          <p:cNvPr id="51" name="Text 49"/>
          <p:cNvSpPr/>
          <p:nvPr/>
        </p:nvSpPr>
        <p:spPr>
          <a:xfrm>
            <a:off x="6922008" y="2980944"/>
            <a:ext cx="1901952" cy="274320"/>
          </a:xfrm>
          <a:prstGeom prst="rect">
            <a:avLst/>
          </a:prstGeom>
          <a:noFill/>
          <a:ln/>
        </p:spPr>
        <p:txBody>
          <a:bodyPr wrap="square" lIns="0" tIns="0" rIns="0" bIns="0" rtlCol="0" anchor="ctr"/>
          <a:lstStyle/>
          <a:p>
            <a:pPr indent="0" marL="0">
              <a:buNone/>
            </a:pPr>
            <a:r>
              <a:rPr lang="en-US" sz="700" dirty="0">
                <a:solidFill>
                  <a:srgbClr val="334155"/>
                </a:solidFill>
              </a:rPr>
              <a:t>Platform observability stack (Datadog / Grafana)</a:t>
            </a:r>
            <a:endParaRPr lang="en-US" sz="700" dirty="0"/>
          </a:p>
        </p:txBody>
      </p:sp>
      <p:sp>
        <p:nvSpPr>
          <p:cNvPr id="52" name="Shape 50"/>
          <p:cNvSpPr/>
          <p:nvPr/>
        </p:nvSpPr>
        <p:spPr>
          <a:xfrm>
            <a:off x="201168" y="3291840"/>
            <a:ext cx="8741664" cy="347472"/>
          </a:xfrm>
          <a:prstGeom prst="rect">
            <a:avLst/>
          </a:prstGeom>
          <a:solidFill>
            <a:srgbClr val="F7F9FC"/>
          </a:solidFill>
          <a:ln w="6350">
            <a:solidFill>
              <a:srgbClr val="E2E8F0"/>
            </a:solidFill>
            <a:prstDash val="solid"/>
          </a:ln>
        </p:spPr>
      </p:sp>
      <p:sp>
        <p:nvSpPr>
          <p:cNvPr id="53" name="Text 51"/>
          <p:cNvSpPr/>
          <p:nvPr/>
        </p:nvSpPr>
        <p:spPr>
          <a:xfrm>
            <a:off x="246888" y="3328416"/>
            <a:ext cx="1591056" cy="274320"/>
          </a:xfrm>
          <a:prstGeom prst="rect">
            <a:avLst/>
          </a:prstGeom>
          <a:noFill/>
          <a:ln/>
        </p:spPr>
        <p:txBody>
          <a:bodyPr wrap="square" lIns="0" tIns="0" rIns="0" bIns="0" rtlCol="0" anchor="ctr"/>
          <a:lstStyle/>
          <a:p>
            <a:pPr indent="0" marL="0">
              <a:buNone/>
            </a:pPr>
            <a:r>
              <a:rPr lang="en-US" sz="800" b="1" dirty="0">
                <a:solidFill>
                  <a:srgbClr val="0F2044"/>
                </a:solidFill>
              </a:rPr>
              <a:t>Extension container metrics</a:t>
            </a:r>
            <a:endParaRPr lang="en-US" sz="800" dirty="0"/>
          </a:p>
        </p:txBody>
      </p:sp>
      <p:sp>
        <p:nvSpPr>
          <p:cNvPr id="54" name="Text 52"/>
          <p:cNvSpPr/>
          <p:nvPr/>
        </p:nvSpPr>
        <p:spPr>
          <a:xfrm>
            <a:off x="1911096" y="3328416"/>
            <a:ext cx="822960" cy="274320"/>
          </a:xfrm>
          <a:prstGeom prst="rect">
            <a:avLst/>
          </a:prstGeom>
          <a:noFill/>
          <a:ln/>
        </p:spPr>
        <p:txBody>
          <a:bodyPr wrap="square" lIns="0" tIns="0" rIns="0" bIns="0" rtlCol="0" anchor="ctr"/>
          <a:lstStyle/>
          <a:p>
            <a:pPr indent="0" marL="0">
              <a:buNone/>
            </a:pPr>
            <a:r>
              <a:rPr lang="en-US" sz="750" dirty="0">
                <a:solidFill>
                  <a:srgbClr val="0D7377"/>
                </a:solidFill>
              </a:rPr>
              <a:t>Retailer dev</a:t>
            </a:r>
            <a:endParaRPr lang="en-US" sz="750" dirty="0"/>
          </a:p>
        </p:txBody>
      </p:sp>
      <p:sp>
        <p:nvSpPr>
          <p:cNvPr id="55" name="Text 53"/>
          <p:cNvSpPr/>
          <p:nvPr/>
        </p:nvSpPr>
        <p:spPr>
          <a:xfrm>
            <a:off x="2807208" y="3328416"/>
            <a:ext cx="640080" cy="274320"/>
          </a:xfrm>
          <a:prstGeom prst="rect">
            <a:avLst/>
          </a:prstGeom>
          <a:noFill/>
          <a:ln/>
        </p:spPr>
        <p:txBody>
          <a:bodyPr wrap="square" lIns="0" tIns="0" rIns="0" bIns="0" rtlCol="0" anchor="ctr"/>
          <a:lstStyle/>
          <a:p>
            <a:pPr indent="0" marL="0">
              <a:buNone/>
            </a:pPr>
            <a:r>
              <a:rPr lang="en-US" sz="750" dirty="0">
                <a:solidFill>
                  <a:srgbClr val="64748B"/>
                </a:solidFill>
              </a:rPr>
              <a:t>Extension</a:t>
            </a:r>
            <a:endParaRPr lang="en-US" sz="750" dirty="0"/>
          </a:p>
        </p:txBody>
      </p:sp>
      <p:sp>
        <p:nvSpPr>
          <p:cNvPr id="56" name="Text 54"/>
          <p:cNvSpPr/>
          <p:nvPr/>
        </p:nvSpPr>
        <p:spPr>
          <a:xfrm>
            <a:off x="3520440" y="3319272"/>
            <a:ext cx="3328416" cy="310896"/>
          </a:xfrm>
          <a:prstGeom prst="rect">
            <a:avLst/>
          </a:prstGeom>
          <a:noFill/>
          <a:ln/>
        </p:spPr>
        <p:txBody>
          <a:bodyPr wrap="square" lIns="0" tIns="0" rIns="0" bIns="0" rtlCol="0" anchor="ctr"/>
          <a:lstStyle/>
          <a:p>
            <a:pPr indent="0" marL="0">
              <a:buNone/>
            </a:pPr>
            <a:r>
              <a:rPr lang="en-US" sz="700" dirty="0">
                <a:solidFill>
                  <a:srgbClr val="64748B"/>
                </a:solidFill>
              </a:rPr>
              <a:t>Hook execution time · error rate per hook · timeout rate · retry queue depth per hook</a:t>
            </a:r>
            <a:endParaRPr lang="en-US" sz="700" dirty="0"/>
          </a:p>
        </p:txBody>
      </p:sp>
      <p:sp>
        <p:nvSpPr>
          <p:cNvPr id="57" name="Text 55"/>
          <p:cNvSpPr/>
          <p:nvPr/>
        </p:nvSpPr>
        <p:spPr>
          <a:xfrm>
            <a:off x="6922008" y="3328416"/>
            <a:ext cx="1901952" cy="274320"/>
          </a:xfrm>
          <a:prstGeom prst="rect">
            <a:avLst/>
          </a:prstGeom>
          <a:noFill/>
          <a:ln/>
        </p:spPr>
        <p:txBody>
          <a:bodyPr wrap="square" lIns="0" tIns="0" rIns="0" bIns="0" rtlCol="0" anchor="ctr"/>
          <a:lstStyle/>
          <a:p>
            <a:pPr indent="0" marL="0">
              <a:buNone/>
            </a:pPr>
            <a:r>
              <a:rPr lang="en-US" sz="700" dirty="0">
                <a:solidFill>
                  <a:srgbClr val="334155"/>
                </a:solidFill>
              </a:rPr>
              <a:t>Per-tenant container logs + platform-provided dashboard</a:t>
            </a:r>
            <a:endParaRPr lang="en-US" sz="700" dirty="0"/>
          </a:p>
        </p:txBody>
      </p:sp>
      <p:sp>
        <p:nvSpPr>
          <p:cNvPr id="58" name="Shape 56"/>
          <p:cNvSpPr/>
          <p:nvPr/>
        </p:nvSpPr>
        <p:spPr>
          <a:xfrm>
            <a:off x="201168" y="3639312"/>
            <a:ext cx="8741664" cy="347472"/>
          </a:xfrm>
          <a:prstGeom prst="rect">
            <a:avLst/>
          </a:prstGeom>
          <a:solidFill>
            <a:srgbClr val="FFFFFF"/>
          </a:solidFill>
          <a:ln w="6350">
            <a:solidFill>
              <a:srgbClr val="E2E8F0"/>
            </a:solidFill>
            <a:prstDash val="solid"/>
          </a:ln>
        </p:spPr>
      </p:sp>
      <p:sp>
        <p:nvSpPr>
          <p:cNvPr id="59" name="Text 57"/>
          <p:cNvSpPr/>
          <p:nvPr/>
        </p:nvSpPr>
        <p:spPr>
          <a:xfrm>
            <a:off x="246888" y="3675888"/>
            <a:ext cx="1591056" cy="274320"/>
          </a:xfrm>
          <a:prstGeom prst="rect">
            <a:avLst/>
          </a:prstGeom>
          <a:noFill/>
          <a:ln/>
        </p:spPr>
        <p:txBody>
          <a:bodyPr wrap="square" lIns="0" tIns="0" rIns="0" bIns="0" rtlCol="0" anchor="ctr"/>
          <a:lstStyle/>
          <a:p>
            <a:pPr indent="0" marL="0">
              <a:buNone/>
            </a:pPr>
            <a:r>
              <a:rPr lang="en-US" sz="800" b="1" dirty="0">
                <a:solidFill>
                  <a:srgbClr val="0F2044"/>
                </a:solidFill>
              </a:rPr>
              <a:t>OLAP cube freshness</a:t>
            </a:r>
            <a:endParaRPr lang="en-US" sz="800" dirty="0"/>
          </a:p>
        </p:txBody>
      </p:sp>
      <p:sp>
        <p:nvSpPr>
          <p:cNvPr id="60" name="Text 58"/>
          <p:cNvSpPr/>
          <p:nvPr/>
        </p:nvSpPr>
        <p:spPr>
          <a:xfrm>
            <a:off x="1911096" y="3675888"/>
            <a:ext cx="822960" cy="274320"/>
          </a:xfrm>
          <a:prstGeom prst="rect">
            <a:avLst/>
          </a:prstGeom>
          <a:noFill/>
          <a:ln/>
        </p:spPr>
        <p:txBody>
          <a:bodyPr wrap="square" lIns="0" tIns="0" rIns="0" bIns="0" rtlCol="0" anchor="ctr"/>
          <a:lstStyle/>
          <a:p>
            <a:pPr indent="0" marL="0">
              <a:buNone/>
            </a:pPr>
            <a:r>
              <a:rPr lang="en-US" sz="750" dirty="0">
                <a:solidFill>
                  <a:srgbClr val="0D7377"/>
                </a:solidFill>
              </a:rPr>
              <a:t>Platform ops</a:t>
            </a:r>
            <a:endParaRPr lang="en-US" sz="750" dirty="0"/>
          </a:p>
        </p:txBody>
      </p:sp>
      <p:sp>
        <p:nvSpPr>
          <p:cNvPr id="61" name="Text 59"/>
          <p:cNvSpPr/>
          <p:nvPr/>
        </p:nvSpPr>
        <p:spPr>
          <a:xfrm>
            <a:off x="2807208" y="3675888"/>
            <a:ext cx="640080" cy="274320"/>
          </a:xfrm>
          <a:prstGeom prst="rect">
            <a:avLst/>
          </a:prstGeom>
          <a:noFill/>
          <a:ln/>
        </p:spPr>
        <p:txBody>
          <a:bodyPr wrap="square" lIns="0" tIns="0" rIns="0" bIns="0" rtlCol="0" anchor="ctr"/>
          <a:lstStyle/>
          <a:p>
            <a:pPr indent="0" marL="0">
              <a:buNone/>
            </a:pPr>
            <a:r>
              <a:rPr lang="en-US" sz="750" dirty="0">
                <a:solidFill>
                  <a:srgbClr val="64748B"/>
                </a:solidFill>
              </a:rPr>
              <a:t>Cube</a:t>
            </a:r>
            <a:endParaRPr lang="en-US" sz="750" dirty="0"/>
          </a:p>
        </p:txBody>
      </p:sp>
      <p:sp>
        <p:nvSpPr>
          <p:cNvPr id="62" name="Text 60"/>
          <p:cNvSpPr/>
          <p:nvPr/>
        </p:nvSpPr>
        <p:spPr>
          <a:xfrm>
            <a:off x="3520440" y="3666744"/>
            <a:ext cx="3328416" cy="310896"/>
          </a:xfrm>
          <a:prstGeom prst="rect">
            <a:avLst/>
          </a:prstGeom>
          <a:noFill/>
          <a:ln/>
        </p:spPr>
        <p:txBody>
          <a:bodyPr wrap="square" lIns="0" tIns="0" rIns="0" bIns="0" rtlCol="0" anchor="ctr"/>
          <a:lstStyle/>
          <a:p>
            <a:pPr indent="0" marL="0">
              <a:buNone/>
            </a:pPr>
            <a:r>
              <a:rPr lang="en-US" sz="700" dirty="0">
                <a:solidFill>
                  <a:srgbClr val="64748B"/>
                </a:solidFill>
              </a:rPr>
              <a:t>Cube invalidation lag · query p50/p95/p99 · cache hit rate · stale-data warning trigger frequency</a:t>
            </a:r>
            <a:endParaRPr lang="en-US" sz="700" dirty="0"/>
          </a:p>
        </p:txBody>
      </p:sp>
      <p:sp>
        <p:nvSpPr>
          <p:cNvPr id="63" name="Text 61"/>
          <p:cNvSpPr/>
          <p:nvPr/>
        </p:nvSpPr>
        <p:spPr>
          <a:xfrm>
            <a:off x="6922008" y="3675888"/>
            <a:ext cx="1901952" cy="274320"/>
          </a:xfrm>
          <a:prstGeom prst="rect">
            <a:avLst/>
          </a:prstGeom>
          <a:noFill/>
          <a:ln/>
        </p:spPr>
        <p:txBody>
          <a:bodyPr wrap="square" lIns="0" tIns="0" rIns="0" bIns="0" rtlCol="0" anchor="ctr"/>
          <a:lstStyle/>
          <a:p>
            <a:pPr indent="0" marL="0">
              <a:buNone/>
            </a:pPr>
            <a:r>
              <a:rPr lang="en-US" sz="700" dirty="0">
                <a:solidFill>
                  <a:srgbClr val="334155"/>
                </a:solidFill>
              </a:rPr>
              <a:t>Cube engine metrics endpoint</a:t>
            </a:r>
            <a:endParaRPr lang="en-US" sz="700" dirty="0"/>
          </a:p>
        </p:txBody>
      </p:sp>
      <p:sp>
        <p:nvSpPr>
          <p:cNvPr id="64" name="Shape 62"/>
          <p:cNvSpPr/>
          <p:nvPr/>
        </p:nvSpPr>
        <p:spPr>
          <a:xfrm>
            <a:off x="201168" y="3986784"/>
            <a:ext cx="8741664" cy="347472"/>
          </a:xfrm>
          <a:prstGeom prst="rect">
            <a:avLst/>
          </a:prstGeom>
          <a:solidFill>
            <a:srgbClr val="F7F9FC"/>
          </a:solidFill>
          <a:ln w="6350">
            <a:solidFill>
              <a:srgbClr val="E2E8F0"/>
            </a:solidFill>
            <a:prstDash val="solid"/>
          </a:ln>
        </p:spPr>
      </p:sp>
      <p:sp>
        <p:nvSpPr>
          <p:cNvPr id="65" name="Text 63"/>
          <p:cNvSpPr/>
          <p:nvPr/>
        </p:nvSpPr>
        <p:spPr>
          <a:xfrm>
            <a:off x="246888" y="4023360"/>
            <a:ext cx="1591056" cy="274320"/>
          </a:xfrm>
          <a:prstGeom prst="rect">
            <a:avLst/>
          </a:prstGeom>
          <a:noFill/>
          <a:ln/>
        </p:spPr>
        <p:txBody>
          <a:bodyPr wrap="square" lIns="0" tIns="0" rIns="0" bIns="0" rtlCol="0" anchor="ctr"/>
          <a:lstStyle/>
          <a:p>
            <a:pPr indent="0" marL="0">
              <a:buNone/>
            </a:pPr>
            <a:r>
              <a:rPr lang="en-US" sz="800" b="1" dirty="0">
                <a:solidFill>
                  <a:srgbClr val="0F2044"/>
                </a:solidFill>
              </a:rPr>
              <a:t>Planner override telemetry</a:t>
            </a:r>
            <a:endParaRPr lang="en-US" sz="800" dirty="0"/>
          </a:p>
        </p:txBody>
      </p:sp>
      <p:sp>
        <p:nvSpPr>
          <p:cNvPr id="66" name="Text 64"/>
          <p:cNvSpPr/>
          <p:nvPr/>
        </p:nvSpPr>
        <p:spPr>
          <a:xfrm>
            <a:off x="1911096" y="4023360"/>
            <a:ext cx="822960" cy="274320"/>
          </a:xfrm>
          <a:prstGeom prst="rect">
            <a:avLst/>
          </a:prstGeom>
          <a:noFill/>
          <a:ln/>
        </p:spPr>
        <p:txBody>
          <a:bodyPr wrap="square" lIns="0" tIns="0" rIns="0" bIns="0" rtlCol="0" anchor="ctr"/>
          <a:lstStyle/>
          <a:p>
            <a:pPr indent="0" marL="0">
              <a:buNone/>
            </a:pPr>
            <a:r>
              <a:rPr lang="en-US" sz="750" dirty="0">
                <a:solidFill>
                  <a:srgbClr val="0D7377"/>
                </a:solidFill>
              </a:rPr>
              <a:t>Product / AI</a:t>
            </a:r>
            <a:endParaRPr lang="en-US" sz="750" dirty="0"/>
          </a:p>
        </p:txBody>
      </p:sp>
      <p:sp>
        <p:nvSpPr>
          <p:cNvPr id="67" name="Text 65"/>
          <p:cNvSpPr/>
          <p:nvPr/>
        </p:nvSpPr>
        <p:spPr>
          <a:xfrm>
            <a:off x="2807208" y="4023360"/>
            <a:ext cx="640080" cy="274320"/>
          </a:xfrm>
          <a:prstGeom prst="rect">
            <a:avLst/>
          </a:prstGeom>
          <a:noFill/>
          <a:ln/>
        </p:spPr>
        <p:txBody>
          <a:bodyPr wrap="square" lIns="0" tIns="0" rIns="0" bIns="0" rtlCol="0" anchor="ctr"/>
          <a:lstStyle/>
          <a:p>
            <a:pPr indent="0" marL="0">
              <a:buNone/>
            </a:pPr>
            <a:r>
              <a:rPr lang="en-US" sz="750" dirty="0">
                <a:solidFill>
                  <a:srgbClr val="64748B"/>
                </a:solidFill>
              </a:rPr>
              <a:t>Learning</a:t>
            </a:r>
            <a:endParaRPr lang="en-US" sz="750" dirty="0"/>
          </a:p>
        </p:txBody>
      </p:sp>
      <p:sp>
        <p:nvSpPr>
          <p:cNvPr id="68" name="Text 66"/>
          <p:cNvSpPr/>
          <p:nvPr/>
        </p:nvSpPr>
        <p:spPr>
          <a:xfrm>
            <a:off x="3520440" y="4014216"/>
            <a:ext cx="3328416" cy="310896"/>
          </a:xfrm>
          <a:prstGeom prst="rect">
            <a:avLst/>
          </a:prstGeom>
          <a:noFill/>
          <a:ln/>
        </p:spPr>
        <p:txBody>
          <a:bodyPr wrap="square" lIns="0" tIns="0" rIns="0" bIns="0" rtlCol="0" anchor="ctr"/>
          <a:lstStyle/>
          <a:p>
            <a:pPr indent="0" marL="0">
              <a:buNone/>
            </a:pPr>
            <a:r>
              <a:rPr lang="en-US" sz="700" dirty="0">
                <a:solidFill>
                  <a:srgbClr val="64748B"/>
                </a:solidFill>
              </a:rPr>
              <a:t>Override count per planner / category / cluster · override direction · model update lag · auto-proposal rate</a:t>
            </a:r>
            <a:endParaRPr lang="en-US" sz="700" dirty="0"/>
          </a:p>
        </p:txBody>
      </p:sp>
      <p:sp>
        <p:nvSpPr>
          <p:cNvPr id="69" name="Text 67"/>
          <p:cNvSpPr/>
          <p:nvPr/>
        </p:nvSpPr>
        <p:spPr>
          <a:xfrm>
            <a:off x="6922008" y="4023360"/>
            <a:ext cx="1901952" cy="274320"/>
          </a:xfrm>
          <a:prstGeom prst="rect">
            <a:avLst/>
          </a:prstGeom>
          <a:noFill/>
          <a:ln/>
        </p:spPr>
        <p:txBody>
          <a:bodyPr wrap="square" lIns="0" tIns="0" rIns="0" bIns="0" rtlCol="0" anchor="ctr"/>
          <a:lstStyle/>
          <a:p>
            <a:pPr indent="0" marL="0">
              <a:buNone/>
            </a:pPr>
            <a:r>
              <a:rPr lang="en-US" sz="700" dirty="0">
                <a:solidFill>
                  <a:srgbClr val="334155"/>
                </a:solidFill>
              </a:rPr>
              <a:t>Analytics warehouse (read-only, anonymised for cross-tenant)</a:t>
            </a:r>
            <a:endParaRPr lang="en-US" sz="700" dirty="0"/>
          </a:p>
        </p:txBody>
      </p:sp>
      <p:sp>
        <p:nvSpPr>
          <p:cNvPr id="70" name="Shape 68"/>
          <p:cNvSpPr/>
          <p:nvPr/>
        </p:nvSpPr>
        <p:spPr>
          <a:xfrm>
            <a:off x="201168" y="4334256"/>
            <a:ext cx="8741664" cy="347472"/>
          </a:xfrm>
          <a:prstGeom prst="rect">
            <a:avLst/>
          </a:prstGeom>
          <a:solidFill>
            <a:srgbClr val="FFFFFF"/>
          </a:solidFill>
          <a:ln w="6350">
            <a:solidFill>
              <a:srgbClr val="E2E8F0"/>
            </a:solidFill>
            <a:prstDash val="solid"/>
          </a:ln>
        </p:spPr>
      </p:sp>
      <p:sp>
        <p:nvSpPr>
          <p:cNvPr id="71" name="Text 69"/>
          <p:cNvSpPr/>
          <p:nvPr/>
        </p:nvSpPr>
        <p:spPr>
          <a:xfrm>
            <a:off x="246888" y="4370832"/>
            <a:ext cx="1591056" cy="274320"/>
          </a:xfrm>
          <a:prstGeom prst="rect">
            <a:avLst/>
          </a:prstGeom>
          <a:noFill/>
          <a:ln/>
        </p:spPr>
        <p:txBody>
          <a:bodyPr wrap="square" lIns="0" tIns="0" rIns="0" bIns="0" rtlCol="0" anchor="ctr"/>
          <a:lstStyle/>
          <a:p>
            <a:pPr indent="0" marL="0">
              <a:buNone/>
            </a:pPr>
            <a:r>
              <a:rPr lang="en-US" sz="800" b="1" dirty="0">
                <a:solidFill>
                  <a:srgbClr val="0F2044"/>
                </a:solidFill>
              </a:rPr>
              <a:t>Security &amp; audit events</a:t>
            </a:r>
            <a:endParaRPr lang="en-US" sz="800" dirty="0"/>
          </a:p>
        </p:txBody>
      </p:sp>
      <p:sp>
        <p:nvSpPr>
          <p:cNvPr id="72" name="Text 70"/>
          <p:cNvSpPr/>
          <p:nvPr/>
        </p:nvSpPr>
        <p:spPr>
          <a:xfrm>
            <a:off x="1911096" y="4370832"/>
            <a:ext cx="822960" cy="274320"/>
          </a:xfrm>
          <a:prstGeom prst="rect">
            <a:avLst/>
          </a:prstGeom>
          <a:noFill/>
          <a:ln/>
        </p:spPr>
        <p:txBody>
          <a:bodyPr wrap="square" lIns="0" tIns="0" rIns="0" bIns="0" rtlCol="0" anchor="ctr"/>
          <a:lstStyle/>
          <a:p>
            <a:pPr indent="0" marL="0">
              <a:buNone/>
            </a:pPr>
            <a:r>
              <a:rPr lang="en-US" sz="750" dirty="0">
                <a:solidFill>
                  <a:srgbClr val="0D7377"/>
                </a:solidFill>
              </a:rPr>
              <a:t>Infosec / Legal</a:t>
            </a:r>
            <a:endParaRPr lang="en-US" sz="750" dirty="0"/>
          </a:p>
        </p:txBody>
      </p:sp>
      <p:sp>
        <p:nvSpPr>
          <p:cNvPr id="73" name="Text 71"/>
          <p:cNvSpPr/>
          <p:nvPr/>
        </p:nvSpPr>
        <p:spPr>
          <a:xfrm>
            <a:off x="2807208" y="4370832"/>
            <a:ext cx="640080" cy="274320"/>
          </a:xfrm>
          <a:prstGeom prst="rect">
            <a:avLst/>
          </a:prstGeom>
          <a:noFill/>
          <a:ln/>
        </p:spPr>
        <p:txBody>
          <a:bodyPr wrap="square" lIns="0" tIns="0" rIns="0" bIns="0" rtlCol="0" anchor="ctr"/>
          <a:lstStyle/>
          <a:p>
            <a:pPr indent="0" marL="0">
              <a:buNone/>
            </a:pPr>
            <a:r>
              <a:rPr lang="en-US" sz="750" dirty="0">
                <a:solidFill>
                  <a:srgbClr val="64748B"/>
                </a:solidFill>
              </a:rPr>
              <a:t>Platform</a:t>
            </a:r>
            <a:endParaRPr lang="en-US" sz="750" dirty="0"/>
          </a:p>
        </p:txBody>
      </p:sp>
      <p:sp>
        <p:nvSpPr>
          <p:cNvPr id="74" name="Text 72"/>
          <p:cNvSpPr/>
          <p:nvPr/>
        </p:nvSpPr>
        <p:spPr>
          <a:xfrm>
            <a:off x="3520440" y="4361688"/>
            <a:ext cx="3328416" cy="310896"/>
          </a:xfrm>
          <a:prstGeom prst="rect">
            <a:avLst/>
          </a:prstGeom>
          <a:noFill/>
          <a:ln/>
        </p:spPr>
        <p:txBody>
          <a:bodyPr wrap="square" lIns="0" tIns="0" rIns="0" bIns="0" rtlCol="0" anchor="ctr"/>
          <a:lstStyle/>
          <a:p>
            <a:pPr indent="0" marL="0">
              <a:buNone/>
            </a:pPr>
            <a:r>
              <a:rPr lang="en-US" sz="700" dirty="0">
                <a:solidFill>
                  <a:srgbClr val="64748B"/>
                </a:solidFill>
              </a:rPr>
              <a:t>403 count by layer · export events · permission elevation · session anomalies · audit log write failures</a:t>
            </a:r>
            <a:endParaRPr lang="en-US" sz="700" dirty="0"/>
          </a:p>
        </p:txBody>
      </p:sp>
      <p:sp>
        <p:nvSpPr>
          <p:cNvPr id="75" name="Text 73"/>
          <p:cNvSpPr/>
          <p:nvPr/>
        </p:nvSpPr>
        <p:spPr>
          <a:xfrm>
            <a:off x="6922008" y="4370832"/>
            <a:ext cx="1901952" cy="274320"/>
          </a:xfrm>
          <a:prstGeom prst="rect">
            <a:avLst/>
          </a:prstGeom>
          <a:noFill/>
          <a:ln/>
        </p:spPr>
        <p:txBody>
          <a:bodyPr wrap="square" lIns="0" tIns="0" rIns="0" bIns="0" rtlCol="0" anchor="ctr"/>
          <a:lstStyle/>
          <a:p>
            <a:pPr indent="0" marL="0">
              <a:buNone/>
            </a:pPr>
            <a:r>
              <a:rPr lang="en-US" sz="700" dirty="0">
                <a:solidFill>
                  <a:srgbClr val="334155"/>
                </a:solidFill>
              </a:rPr>
              <a:t>SIEM integration · immutable audit log API</a:t>
            </a:r>
            <a:endParaRPr lang="en-US" sz="700" dirty="0"/>
          </a:p>
        </p:txBody>
      </p:sp>
      <p:sp>
        <p:nvSpPr>
          <p:cNvPr id="76" name="Shape 74"/>
          <p:cNvSpPr/>
          <p:nvPr/>
        </p:nvSpPr>
        <p:spPr>
          <a:xfrm>
            <a:off x="201168" y="4681728"/>
            <a:ext cx="8741664" cy="347472"/>
          </a:xfrm>
          <a:prstGeom prst="rect">
            <a:avLst/>
          </a:prstGeom>
          <a:solidFill>
            <a:srgbClr val="F7F9FC"/>
          </a:solidFill>
          <a:ln w="6350">
            <a:solidFill>
              <a:srgbClr val="E2E8F0"/>
            </a:solidFill>
            <a:prstDash val="solid"/>
          </a:ln>
        </p:spPr>
      </p:sp>
      <p:sp>
        <p:nvSpPr>
          <p:cNvPr id="77" name="Text 75"/>
          <p:cNvSpPr/>
          <p:nvPr/>
        </p:nvSpPr>
        <p:spPr>
          <a:xfrm>
            <a:off x="246888" y="4718304"/>
            <a:ext cx="1591056" cy="274320"/>
          </a:xfrm>
          <a:prstGeom prst="rect">
            <a:avLst/>
          </a:prstGeom>
          <a:noFill/>
          <a:ln/>
        </p:spPr>
        <p:txBody>
          <a:bodyPr wrap="square" lIns="0" tIns="0" rIns="0" bIns="0" rtlCol="0" anchor="ctr"/>
          <a:lstStyle/>
          <a:p>
            <a:pPr indent="0" marL="0">
              <a:buNone/>
            </a:pPr>
            <a:r>
              <a:rPr lang="en-US" sz="800" b="1" dirty="0">
                <a:solidFill>
                  <a:srgbClr val="0F2044"/>
                </a:solidFill>
              </a:rPr>
              <a:t>Phase WS hook reliability</a:t>
            </a:r>
            <a:endParaRPr lang="en-US" sz="800" dirty="0"/>
          </a:p>
        </p:txBody>
      </p:sp>
      <p:sp>
        <p:nvSpPr>
          <p:cNvPr id="78" name="Text 76"/>
          <p:cNvSpPr/>
          <p:nvPr/>
        </p:nvSpPr>
        <p:spPr>
          <a:xfrm>
            <a:off x="1911096" y="4718304"/>
            <a:ext cx="822960" cy="274320"/>
          </a:xfrm>
          <a:prstGeom prst="rect">
            <a:avLst/>
          </a:prstGeom>
          <a:noFill/>
          <a:ln/>
        </p:spPr>
        <p:txBody>
          <a:bodyPr wrap="square" lIns="0" tIns="0" rIns="0" bIns="0" rtlCol="0" anchor="ctr"/>
          <a:lstStyle/>
          <a:p>
            <a:pPr indent="0" marL="0">
              <a:buNone/>
            </a:pPr>
            <a:r>
              <a:rPr lang="en-US" sz="750" dirty="0">
                <a:solidFill>
                  <a:srgbClr val="0D7377"/>
                </a:solidFill>
              </a:rPr>
              <a:t>Retailer ops</a:t>
            </a:r>
            <a:endParaRPr lang="en-US" sz="750" dirty="0"/>
          </a:p>
        </p:txBody>
      </p:sp>
      <p:sp>
        <p:nvSpPr>
          <p:cNvPr id="79" name="Text 77"/>
          <p:cNvSpPr/>
          <p:nvPr/>
        </p:nvSpPr>
        <p:spPr>
          <a:xfrm>
            <a:off x="2807208" y="4718304"/>
            <a:ext cx="640080" cy="274320"/>
          </a:xfrm>
          <a:prstGeom prst="rect">
            <a:avLst/>
          </a:prstGeom>
          <a:noFill/>
          <a:ln/>
        </p:spPr>
        <p:txBody>
          <a:bodyPr wrap="square" lIns="0" tIns="0" rIns="0" bIns="0" rtlCol="0" anchor="ctr"/>
          <a:lstStyle/>
          <a:p>
            <a:pPr indent="0" marL="0">
              <a:buNone/>
            </a:pPr>
            <a:r>
              <a:rPr lang="en-US" sz="750" dirty="0">
                <a:solidFill>
                  <a:srgbClr val="64748B"/>
                </a:solidFill>
              </a:rPr>
              <a:t>Extension</a:t>
            </a:r>
            <a:endParaRPr lang="en-US" sz="750" dirty="0"/>
          </a:p>
        </p:txBody>
      </p:sp>
      <p:sp>
        <p:nvSpPr>
          <p:cNvPr id="80" name="Text 78"/>
          <p:cNvSpPr/>
          <p:nvPr/>
        </p:nvSpPr>
        <p:spPr>
          <a:xfrm>
            <a:off x="3520440" y="4709160"/>
            <a:ext cx="3328416" cy="310896"/>
          </a:xfrm>
          <a:prstGeom prst="rect">
            <a:avLst/>
          </a:prstGeom>
          <a:noFill/>
          <a:ln/>
        </p:spPr>
        <p:txBody>
          <a:bodyPr wrap="square" lIns="0" tIns="0" rIns="0" bIns="0" rtlCol="0" anchor="ctr"/>
          <a:lstStyle/>
          <a:p>
            <a:pPr indent="0" marL="0">
              <a:buNone/>
            </a:pPr>
            <a:r>
              <a:rPr lang="en-US" sz="700" dirty="0">
                <a:solidFill>
                  <a:srgbClr val="64748B"/>
                </a:solidFill>
              </a:rPr>
              <a:t>External call success rate · retry count · fallback-to-cache rate · blocking hook breach count</a:t>
            </a:r>
            <a:endParaRPr lang="en-US" sz="700" dirty="0"/>
          </a:p>
        </p:txBody>
      </p:sp>
      <p:sp>
        <p:nvSpPr>
          <p:cNvPr id="81" name="Text 79"/>
          <p:cNvSpPr/>
          <p:nvPr/>
        </p:nvSpPr>
        <p:spPr>
          <a:xfrm>
            <a:off x="6922008" y="4718304"/>
            <a:ext cx="1901952" cy="274320"/>
          </a:xfrm>
          <a:prstGeom prst="rect">
            <a:avLst/>
          </a:prstGeom>
          <a:noFill/>
          <a:ln/>
        </p:spPr>
        <p:txBody>
          <a:bodyPr wrap="square" lIns="0" tIns="0" rIns="0" bIns="0" rtlCol="0" anchor="ctr"/>
          <a:lstStyle/>
          <a:p>
            <a:pPr indent="0" marL="0">
              <a:buNone/>
            </a:pPr>
            <a:r>
              <a:rPr lang="en-US" sz="700" dirty="0">
                <a:solidFill>
                  <a:srgbClr val="334155"/>
                </a:solidFill>
              </a:rPr>
              <a:t>Per-tenant webhook dashboard + alerting</a:t>
            </a:r>
            <a:endParaRPr lang="en-US" sz="700" dirty="0"/>
          </a:p>
        </p:txBody>
      </p:sp>
      <p:sp>
        <p:nvSpPr>
          <p:cNvPr id="82" name="Shape 80"/>
          <p:cNvSpPr/>
          <p:nvPr/>
        </p:nvSpPr>
        <p:spPr>
          <a:xfrm>
            <a:off x="201168" y="5029200"/>
            <a:ext cx="8741664" cy="237744"/>
          </a:xfrm>
          <a:prstGeom prst="rect">
            <a:avLst/>
          </a:prstGeom>
          <a:solidFill>
            <a:srgbClr val="0F2044"/>
          </a:solidFill>
          <a:ln w="12700">
            <a:solidFill>
              <a:srgbClr val="0F2044"/>
            </a:solidFill>
            <a:prstDash val="solid"/>
          </a:ln>
        </p:spPr>
      </p:sp>
      <p:sp>
        <p:nvSpPr>
          <p:cNvPr id="83" name="Text 81"/>
          <p:cNvSpPr/>
          <p:nvPr/>
        </p:nvSpPr>
        <p:spPr>
          <a:xfrm>
            <a:off x="320040" y="5029200"/>
            <a:ext cx="8503920" cy="237744"/>
          </a:xfrm>
          <a:prstGeom prst="rect">
            <a:avLst/>
          </a:prstGeom>
          <a:noFill/>
          <a:ln/>
        </p:spPr>
        <p:txBody>
          <a:bodyPr wrap="square" lIns="0" tIns="0" rIns="0" bIns="0" rtlCol="0" anchor="ctr"/>
          <a:lstStyle/>
          <a:p>
            <a:pPr indent="0" marL="0">
              <a:buNone/>
            </a:pPr>
            <a:r>
              <a:rPr lang="en-US" sz="800" b="1" dirty="0">
                <a:solidFill>
                  <a:srgbClr val="0D7377"/>
                </a:solidFill>
              </a:rPr>
              <a:t xml:space="preserve">MODEL ROLLBACK:  </a:t>
            </a:r>
            <a:pPr indent="0" marL="0">
              <a:buNone/>
            </a:pPr>
            <a:r>
              <a:rPr lang="en-US" sz="800" dirty="0">
                <a:solidFill>
                  <a:srgbClr val="FFFFFF"/>
                </a:solidFill>
              </a:rPr>
              <a:t xml:space="preserve">Any tenant can reset their learning model to the current base model weights at any time via admin console, without platform team involvement.  </a:t>
            </a:r>
            <a:pPr indent="0" marL="0">
              <a:buNone/>
            </a:pPr>
            <a:r>
              <a:rPr lang="en-US" sz="800" b="1" dirty="0">
                <a:solidFill>
                  <a:srgbClr val="0D7377"/>
                </a:solidFill>
              </a:rPr>
              <a:t xml:space="preserve">AVAILABILITY TARGET:  </a:t>
            </a:r>
            <a:pPr indent="0" marL="0">
              <a:buNone/>
            </a:pPr>
            <a:r>
              <a:rPr lang="en-US" sz="800" dirty="0">
                <a:solidFill>
                  <a:srgbClr val="FFFFFF"/>
                </a:solidFill>
              </a:rPr>
              <a:t>99.9% uptime for core planning pipeline  ·  Planned maintenance windows communicated 7 days in advance  ·  Extension container failures never count toward core SLA.</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2044"/>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1A38"/>
          </a:solidFill>
          <a:ln w="12700">
            <a:solidFill>
              <a:srgbClr val="0A1A38"/>
            </a:solidFill>
            <a:prstDash val="solid"/>
          </a:ln>
        </p:spPr>
      </p:sp>
      <p:sp>
        <p:nvSpPr>
          <p:cNvPr id="3" name="Shape 1"/>
          <p:cNvSpPr/>
          <p:nvPr/>
        </p:nvSpPr>
        <p:spPr>
          <a:xfrm>
            <a:off x="0" y="0"/>
            <a:ext cx="292608" cy="658368"/>
          </a:xfrm>
          <a:prstGeom prst="rect">
            <a:avLst/>
          </a:prstGeom>
          <a:solidFill>
            <a:srgbClr val="0D7377"/>
          </a:solidFill>
          <a:ln w="12700">
            <a:solidFill>
              <a:srgbClr val="0D7377"/>
            </a:solidFill>
            <a:prstDash val="solid"/>
          </a:ln>
        </p:spPr>
      </p:sp>
      <p:sp>
        <p:nvSpPr>
          <p:cNvPr id="4" name="Text 2"/>
          <p:cNvSpPr/>
          <p:nvPr/>
        </p:nvSpPr>
        <p:spPr>
          <a:xfrm>
            <a:off x="420624" y="0"/>
            <a:ext cx="5486400" cy="329184"/>
          </a:xfrm>
          <a:prstGeom prst="rect">
            <a:avLst/>
          </a:prstGeom>
          <a:noFill/>
          <a:ln/>
        </p:spPr>
        <p:txBody>
          <a:bodyPr wrap="square" lIns="0" tIns="0" rIns="0" bIns="0" rtlCol="0" anchor="b"/>
          <a:lstStyle/>
          <a:p>
            <a:pPr indent="0" marL="0">
              <a:buNone/>
            </a:pPr>
            <a:r>
              <a:rPr lang="en-US" sz="750" b="1" spc="200" kern="0" dirty="0">
                <a:solidFill>
                  <a:srgbClr val="94A3B8"/>
                </a:solidFill>
              </a:rPr>
              <a:t>APPENDIX  ·  DEPLOYMENT AGENT</a:t>
            </a:r>
            <a:endParaRPr lang="en-US" sz="750" dirty="0"/>
          </a:p>
        </p:txBody>
      </p:sp>
      <p:sp>
        <p:nvSpPr>
          <p:cNvPr id="5" name="Text 3"/>
          <p:cNvSpPr/>
          <p:nvPr/>
        </p:nvSpPr>
        <p:spPr>
          <a:xfrm>
            <a:off x="420624" y="320040"/>
            <a:ext cx="7315200" cy="310896"/>
          </a:xfrm>
          <a:prstGeom prst="rect">
            <a:avLst/>
          </a:prstGeom>
          <a:noFill/>
          <a:ln/>
        </p:spPr>
        <p:txBody>
          <a:bodyPr wrap="square" lIns="0" tIns="0" rIns="0" bIns="0" rtlCol="0" anchor="t"/>
          <a:lstStyle/>
          <a:p>
            <a:pPr indent="0" marL="0">
              <a:buNone/>
            </a:pPr>
            <a:r>
              <a:rPr lang="en-US" sz="1200" b="1" dirty="0">
                <a:solidFill>
                  <a:srgbClr val="FFFFFF"/>
                </a:solidFill>
              </a:rPr>
              <a:t>DEPLOY-01  ·  Orchestrated Sub-Agent Pipeline</a:t>
            </a:r>
            <a:endParaRPr lang="en-US" sz="1200" dirty="0"/>
          </a:p>
        </p:txBody>
      </p:sp>
      <p:sp>
        <p:nvSpPr>
          <p:cNvPr id="6" name="Text 4"/>
          <p:cNvSpPr/>
          <p:nvPr/>
        </p:nvSpPr>
        <p:spPr>
          <a:xfrm>
            <a:off x="7772400" y="0"/>
            <a:ext cx="1188720" cy="658368"/>
          </a:xfrm>
          <a:prstGeom prst="rect">
            <a:avLst/>
          </a:prstGeom>
          <a:noFill/>
          <a:ln/>
        </p:spPr>
        <p:txBody>
          <a:bodyPr wrap="square" lIns="0" tIns="0" rIns="0" bIns="0" rtlCol="0" anchor="ctr"/>
          <a:lstStyle/>
          <a:p>
            <a:pPr algn="r" indent="0" marL="0">
              <a:buNone/>
            </a:pPr>
            <a:r>
              <a:rPr lang="en-US" sz="900" dirty="0">
                <a:solidFill>
                  <a:srgbClr val="94A3B8"/>
                </a:solidFill>
              </a:rPr>
              <a:t>DEPLOY-01</a:t>
            </a:r>
            <a:endParaRPr lang="en-US" sz="900" dirty="0"/>
          </a:p>
        </p:txBody>
      </p:sp>
      <p:sp>
        <p:nvSpPr>
          <p:cNvPr id="7" name="Text 5"/>
          <p:cNvSpPr/>
          <p:nvPr/>
        </p:nvSpPr>
        <p:spPr>
          <a:xfrm>
            <a:off x="420624" y="713232"/>
            <a:ext cx="8503920" cy="292608"/>
          </a:xfrm>
          <a:prstGeom prst="rect">
            <a:avLst/>
          </a:prstGeom>
          <a:noFill/>
          <a:ln/>
        </p:spPr>
        <p:txBody>
          <a:bodyPr wrap="square" lIns="0" tIns="0" rIns="0" bIns="0" rtlCol="0" anchor="ctr"/>
          <a:lstStyle/>
          <a:p>
            <a:pPr indent="0" marL="0">
              <a:buNone/>
            </a:pPr>
            <a:r>
              <a:rPr lang="en-US" sz="950" dirty="0">
                <a:solidFill>
                  <a:srgbClr val="94A3B8"/>
                </a:solidFill>
              </a:rPr>
              <a:t>Each sub-agent produces a typed state artifact consumed by the next. Human gates are formal state transitions — not UX moments. Pipeline halts, never silently degrades, on failure.</a:t>
            </a:r>
            <a:endParaRPr lang="en-US" sz="950" dirty="0"/>
          </a:p>
        </p:txBody>
      </p:sp>
      <p:sp>
        <p:nvSpPr>
          <p:cNvPr id="8" name="Shape 6"/>
          <p:cNvSpPr/>
          <p:nvPr/>
        </p:nvSpPr>
        <p:spPr>
          <a:xfrm>
            <a:off x="201168" y="1591056"/>
            <a:ext cx="8741664" cy="0"/>
          </a:xfrm>
          <a:prstGeom prst="line">
            <a:avLst/>
          </a:prstGeom>
          <a:noFill/>
          <a:ln w="38100">
            <a:solidFill>
              <a:srgbClr val="1A3A5C"/>
            </a:solidFill>
            <a:prstDash val="solid"/>
          </a:ln>
        </p:spPr>
      </p:sp>
      <p:sp>
        <p:nvSpPr>
          <p:cNvPr id="9" name="Shape 7"/>
          <p:cNvSpPr/>
          <p:nvPr/>
        </p:nvSpPr>
        <p:spPr>
          <a:xfrm>
            <a:off x="201168" y="1115568"/>
            <a:ext cx="1261872" cy="960120"/>
          </a:xfrm>
          <a:prstGeom prst="rect">
            <a:avLst/>
          </a:prstGeom>
          <a:solidFill>
            <a:srgbClr val="0D2240"/>
          </a:solidFill>
          <a:ln w="19050">
            <a:solidFill>
              <a:srgbClr val="0D7377"/>
            </a:solidFill>
            <a:prstDash val="solid"/>
          </a:ln>
          <a:effectLst>
            <a:outerShdw sx="100000" sy="100000" kx="0" ky="0" algn="bl" rotWithShape="0" blurRad="101600" dist="38100" dir="8100000">
              <a:srgbClr val="000000">
                <a:alpha val="10000"/>
              </a:srgbClr>
            </a:outerShdw>
          </a:effectLst>
        </p:spPr>
      </p:sp>
      <p:sp>
        <p:nvSpPr>
          <p:cNvPr id="10" name="Shape 8"/>
          <p:cNvSpPr/>
          <p:nvPr/>
        </p:nvSpPr>
        <p:spPr>
          <a:xfrm>
            <a:off x="201168" y="1115568"/>
            <a:ext cx="1261872" cy="54864"/>
          </a:xfrm>
          <a:prstGeom prst="rect">
            <a:avLst/>
          </a:prstGeom>
          <a:solidFill>
            <a:srgbClr val="0D7377"/>
          </a:solidFill>
          <a:ln w="12700">
            <a:solidFill>
              <a:srgbClr val="0D7377"/>
            </a:solidFill>
            <a:prstDash val="solid"/>
          </a:ln>
        </p:spPr>
      </p:sp>
      <p:sp>
        <p:nvSpPr>
          <p:cNvPr id="11" name="Shape 9"/>
          <p:cNvSpPr/>
          <p:nvPr/>
        </p:nvSpPr>
        <p:spPr>
          <a:xfrm>
            <a:off x="292608" y="1225296"/>
            <a:ext cx="256032" cy="256032"/>
          </a:xfrm>
          <a:prstGeom prst="ellipse">
            <a:avLst/>
          </a:prstGeom>
          <a:solidFill>
            <a:srgbClr val="0D7377"/>
          </a:solidFill>
          <a:ln w="12700">
            <a:solidFill>
              <a:srgbClr val="0D7377"/>
            </a:solidFill>
            <a:prstDash val="solid"/>
          </a:ln>
        </p:spPr>
      </p:sp>
      <p:sp>
        <p:nvSpPr>
          <p:cNvPr id="12" name="Text 10"/>
          <p:cNvSpPr/>
          <p:nvPr/>
        </p:nvSpPr>
        <p:spPr>
          <a:xfrm>
            <a:off x="292608" y="122529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rPr>
              <a:t>1</a:t>
            </a:r>
            <a:endParaRPr lang="en-US" sz="900" dirty="0"/>
          </a:p>
        </p:txBody>
      </p:sp>
      <p:pic>
        <p:nvPicPr>
          <p:cNvPr id="13" name="Image 0" descr="preencoded.png"/>
          <p:cNvPicPr>
            <a:picLocks noChangeAspect="1"/>
          </p:cNvPicPr>
          <p:nvPr/>
        </p:nvPicPr>
        <p:blipFill>
          <a:blip r:embed="rId1"/>
          <a:stretch>
            <a:fillRect/>
          </a:stretch>
        </p:blipFill>
        <p:spPr>
          <a:xfrm>
            <a:off x="1115568" y="1207008"/>
            <a:ext cx="237744" cy="237744"/>
          </a:xfrm>
          <a:prstGeom prst="rect">
            <a:avLst/>
          </a:prstGeom>
        </p:spPr>
      </p:pic>
      <p:sp>
        <p:nvSpPr>
          <p:cNvPr id="14" name="Text 11"/>
          <p:cNvSpPr/>
          <p:nvPr/>
        </p:nvSpPr>
        <p:spPr>
          <a:xfrm>
            <a:off x="292608" y="1517904"/>
            <a:ext cx="1078992" cy="292608"/>
          </a:xfrm>
          <a:prstGeom prst="rect">
            <a:avLst/>
          </a:prstGeom>
          <a:noFill/>
          <a:ln/>
        </p:spPr>
        <p:txBody>
          <a:bodyPr wrap="square" lIns="0" tIns="0" rIns="0" bIns="0" rtlCol="0" anchor="ctr"/>
          <a:lstStyle/>
          <a:p>
            <a:pPr indent="0" marL="0">
              <a:buNone/>
            </a:pPr>
            <a:r>
              <a:rPr lang="en-US" sz="850" b="1" dirty="0">
                <a:solidFill>
                  <a:srgbClr val="FFFFFF"/>
                </a:solidFill>
              </a:rPr>
              <a:t>Infrastructure</a:t>
            </a:r>
            <a:endParaRPr lang="en-US" sz="850" dirty="0"/>
          </a:p>
          <a:p>
            <a:pPr indent="0" marL="0">
              <a:buNone/>
            </a:pPr>
            <a:r>
              <a:rPr lang="en-US" sz="850" b="1" dirty="0">
                <a:solidFill>
                  <a:srgbClr val="FFFFFF"/>
                </a:solidFill>
              </a:rPr>
              <a:t>Agent</a:t>
            </a:r>
            <a:endParaRPr lang="en-US" sz="850" dirty="0"/>
          </a:p>
        </p:txBody>
      </p:sp>
      <p:sp>
        <p:nvSpPr>
          <p:cNvPr id="15" name="Text 12"/>
          <p:cNvSpPr/>
          <p:nvPr/>
        </p:nvSpPr>
        <p:spPr>
          <a:xfrm>
            <a:off x="292608" y="1847088"/>
            <a:ext cx="1078992" cy="182880"/>
          </a:xfrm>
          <a:prstGeom prst="rect">
            <a:avLst/>
          </a:prstGeom>
          <a:noFill/>
          <a:ln/>
        </p:spPr>
        <p:txBody>
          <a:bodyPr wrap="square" lIns="0" tIns="0" rIns="0" bIns="0" rtlCol="0" anchor="ctr"/>
          <a:lstStyle/>
          <a:p>
            <a:pPr indent="0" marL="0">
              <a:buNone/>
            </a:pPr>
            <a:r>
              <a:rPr lang="en-US" sz="800" b="1" dirty="0">
                <a:solidFill>
                  <a:srgbClr val="0D7377"/>
                </a:solidFill>
              </a:rPr>
              <a:t>T+0</a:t>
            </a:r>
            <a:endParaRPr lang="en-US" sz="800" dirty="0"/>
          </a:p>
        </p:txBody>
      </p:sp>
      <p:sp>
        <p:nvSpPr>
          <p:cNvPr id="16" name="Shape 13"/>
          <p:cNvSpPr/>
          <p:nvPr/>
        </p:nvSpPr>
        <p:spPr>
          <a:xfrm>
            <a:off x="201168" y="2121408"/>
            <a:ext cx="1261872" cy="256032"/>
          </a:xfrm>
          <a:prstGeom prst="rect">
            <a:avLst/>
          </a:prstGeom>
          <a:solidFill>
            <a:srgbClr val="091830"/>
          </a:solidFill>
          <a:ln w="12700">
            <a:solidFill>
              <a:srgbClr val="1A3A5C"/>
            </a:solidFill>
            <a:prstDash val="solid"/>
          </a:ln>
        </p:spPr>
      </p:sp>
      <p:sp>
        <p:nvSpPr>
          <p:cNvPr id="17" name="Text 14"/>
          <p:cNvSpPr/>
          <p:nvPr/>
        </p:nvSpPr>
        <p:spPr>
          <a:xfrm>
            <a:off x="256032" y="2121408"/>
            <a:ext cx="1170432" cy="256032"/>
          </a:xfrm>
          <a:prstGeom prst="rect">
            <a:avLst/>
          </a:prstGeom>
          <a:noFill/>
          <a:ln/>
        </p:spPr>
        <p:txBody>
          <a:bodyPr wrap="square" lIns="0" tIns="0" rIns="0" bIns="0" rtlCol="0" anchor="ctr"/>
          <a:lstStyle/>
          <a:p>
            <a:pPr indent="0" marL="0">
              <a:buNone/>
            </a:pPr>
            <a:r>
              <a:rPr lang="en-US" sz="700" dirty="0">
                <a:solidFill>
                  <a:srgbClr val="94A3B8"/>
                </a:solidFill>
              </a:rPr>
              <a:t>→ TenantProvisionReceipt</a:t>
            </a:r>
            <a:endParaRPr lang="en-US" sz="700" dirty="0"/>
          </a:p>
        </p:txBody>
      </p:sp>
      <p:sp>
        <p:nvSpPr>
          <p:cNvPr id="18" name="Text 15"/>
          <p:cNvSpPr/>
          <p:nvPr/>
        </p:nvSpPr>
        <p:spPr>
          <a:xfrm>
            <a:off x="201168" y="2414016"/>
            <a:ext cx="1261872" cy="201168"/>
          </a:xfrm>
          <a:prstGeom prst="rect">
            <a:avLst/>
          </a:prstGeom>
          <a:noFill/>
          <a:ln/>
        </p:spPr>
        <p:txBody>
          <a:bodyPr wrap="square" lIns="0" tIns="0" rIns="0" bIns="0" rtlCol="0" anchor="ctr"/>
          <a:lstStyle/>
          <a:p>
            <a:pPr algn="ctr" indent="0" marL="0">
              <a:buNone/>
            </a:pPr>
            <a:r>
              <a:rPr lang="en-US" sz="750" b="1" dirty="0">
                <a:solidFill>
                  <a:srgbClr val="0D7377"/>
                </a:solidFill>
              </a:rPr>
              <a:t>Infra ready</a:t>
            </a:r>
            <a:endParaRPr lang="en-US" sz="750" dirty="0"/>
          </a:p>
        </p:txBody>
      </p:sp>
      <p:sp>
        <p:nvSpPr>
          <p:cNvPr id="19" name="Shape 16"/>
          <p:cNvSpPr/>
          <p:nvPr/>
        </p:nvSpPr>
        <p:spPr>
          <a:xfrm>
            <a:off x="1499616" y="1097280"/>
            <a:ext cx="164592" cy="1005840"/>
          </a:xfrm>
          <a:prstGeom prst="rect">
            <a:avLst/>
          </a:prstGeom>
          <a:solidFill>
            <a:srgbClr val="F59E0B"/>
          </a:solidFill>
          <a:ln w="12700">
            <a:solidFill>
              <a:srgbClr val="F59E0B"/>
            </a:solidFill>
            <a:prstDash val="solid"/>
          </a:ln>
        </p:spPr>
      </p:sp>
      <p:sp>
        <p:nvSpPr>
          <p:cNvPr id="20" name="Text 17"/>
          <p:cNvSpPr/>
          <p:nvPr/>
        </p:nvSpPr>
        <p:spPr>
          <a:xfrm>
            <a:off x="1682496" y="1097280"/>
            <a:ext cx="1005840" cy="1005840"/>
          </a:xfrm>
          <a:prstGeom prst="rect">
            <a:avLst/>
          </a:prstGeom>
          <a:noFill/>
          <a:ln/>
        </p:spPr>
        <p:txBody>
          <a:bodyPr wrap="square" lIns="0" tIns="0" rIns="0" bIns="0" rtlCol="0" anchor="ctr"/>
          <a:lstStyle/>
          <a:p>
            <a:pPr indent="0" marL="0">
              <a:buNone/>
            </a:pPr>
            <a:r>
              <a:rPr lang="en-US" sz="750" b="1" dirty="0">
                <a:solidFill>
                  <a:srgbClr val="F59E0B"/>
                </a:solidFill>
              </a:rPr>
              <a:t>Gate 1</a:t>
            </a:r>
            <a:endParaRPr lang="en-US" sz="750" dirty="0"/>
          </a:p>
          <a:p>
            <a:pPr indent="0" marL="0">
              <a:buNone/>
            </a:pPr>
            <a:r>
              <a:rPr lang="en-US" sz="750" b="1" dirty="0">
                <a:solidFill>
                  <a:srgbClr val="F59E0B"/>
                </a:solidFill>
              </a:rPr>
              <a:t>IAM approval</a:t>
            </a:r>
            <a:endParaRPr lang="en-US" sz="750" dirty="0"/>
          </a:p>
          <a:p>
            <a:pPr indent="0" marL="0">
              <a:buNone/>
            </a:pPr>
            <a:r>
              <a:rPr lang="en-US" sz="750" b="1" dirty="0">
                <a:solidFill>
                  <a:srgbClr val="F59E0B"/>
                </a:solidFill>
              </a:rPr>
              <a:t>5 min</a:t>
            </a:r>
            <a:endParaRPr lang="en-US" sz="750" dirty="0"/>
          </a:p>
        </p:txBody>
      </p:sp>
      <p:sp>
        <p:nvSpPr>
          <p:cNvPr id="21" name="Shape 18"/>
          <p:cNvSpPr/>
          <p:nvPr/>
        </p:nvSpPr>
        <p:spPr>
          <a:xfrm>
            <a:off x="1645920" y="1115568"/>
            <a:ext cx="1261872" cy="960120"/>
          </a:xfrm>
          <a:prstGeom prst="rect">
            <a:avLst/>
          </a:prstGeom>
          <a:solidFill>
            <a:srgbClr val="0D2240"/>
          </a:solidFill>
          <a:ln w="19050">
            <a:solidFill>
              <a:srgbClr val="0D7377"/>
            </a:solidFill>
            <a:prstDash val="solid"/>
          </a:ln>
          <a:effectLst>
            <a:outerShdw sx="100000" sy="100000" kx="0" ky="0" algn="bl" rotWithShape="0" blurRad="101600" dist="38100" dir="8100000">
              <a:srgbClr val="000000">
                <a:alpha val="10000"/>
              </a:srgbClr>
            </a:outerShdw>
          </a:effectLst>
        </p:spPr>
      </p:sp>
      <p:sp>
        <p:nvSpPr>
          <p:cNvPr id="22" name="Shape 19"/>
          <p:cNvSpPr/>
          <p:nvPr/>
        </p:nvSpPr>
        <p:spPr>
          <a:xfrm>
            <a:off x="1645920" y="1115568"/>
            <a:ext cx="1261872" cy="54864"/>
          </a:xfrm>
          <a:prstGeom prst="rect">
            <a:avLst/>
          </a:prstGeom>
          <a:solidFill>
            <a:srgbClr val="0D7377"/>
          </a:solidFill>
          <a:ln w="12700">
            <a:solidFill>
              <a:srgbClr val="0D7377"/>
            </a:solidFill>
            <a:prstDash val="solid"/>
          </a:ln>
        </p:spPr>
      </p:sp>
      <p:sp>
        <p:nvSpPr>
          <p:cNvPr id="23" name="Shape 20"/>
          <p:cNvSpPr/>
          <p:nvPr/>
        </p:nvSpPr>
        <p:spPr>
          <a:xfrm>
            <a:off x="1737360" y="1225296"/>
            <a:ext cx="256032" cy="256032"/>
          </a:xfrm>
          <a:prstGeom prst="ellipse">
            <a:avLst/>
          </a:prstGeom>
          <a:solidFill>
            <a:srgbClr val="0D7377"/>
          </a:solidFill>
          <a:ln w="12700">
            <a:solidFill>
              <a:srgbClr val="0D7377"/>
            </a:solidFill>
            <a:prstDash val="solid"/>
          </a:ln>
        </p:spPr>
      </p:sp>
      <p:sp>
        <p:nvSpPr>
          <p:cNvPr id="24" name="Text 21"/>
          <p:cNvSpPr/>
          <p:nvPr/>
        </p:nvSpPr>
        <p:spPr>
          <a:xfrm>
            <a:off x="1737360" y="122529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rPr>
              <a:t>2</a:t>
            </a:r>
            <a:endParaRPr lang="en-US" sz="900" dirty="0"/>
          </a:p>
        </p:txBody>
      </p:sp>
      <p:pic>
        <p:nvPicPr>
          <p:cNvPr id="25" name="Image 1" descr="preencoded.png"/>
          <p:cNvPicPr>
            <a:picLocks noChangeAspect="1"/>
          </p:cNvPicPr>
          <p:nvPr/>
        </p:nvPicPr>
        <p:blipFill>
          <a:blip r:embed="rId2"/>
          <a:stretch>
            <a:fillRect/>
          </a:stretch>
        </p:blipFill>
        <p:spPr>
          <a:xfrm>
            <a:off x="2560320" y="1207008"/>
            <a:ext cx="237744" cy="237744"/>
          </a:xfrm>
          <a:prstGeom prst="rect">
            <a:avLst/>
          </a:prstGeom>
        </p:spPr>
      </p:pic>
      <p:sp>
        <p:nvSpPr>
          <p:cNvPr id="26" name="Text 22"/>
          <p:cNvSpPr/>
          <p:nvPr/>
        </p:nvSpPr>
        <p:spPr>
          <a:xfrm>
            <a:off x="1737360" y="1517904"/>
            <a:ext cx="1078992" cy="292608"/>
          </a:xfrm>
          <a:prstGeom prst="rect">
            <a:avLst/>
          </a:prstGeom>
          <a:noFill/>
          <a:ln/>
        </p:spPr>
        <p:txBody>
          <a:bodyPr wrap="square" lIns="0" tIns="0" rIns="0" bIns="0" rtlCol="0" anchor="ctr"/>
          <a:lstStyle/>
          <a:p>
            <a:pPr indent="0" marL="0">
              <a:buNone/>
            </a:pPr>
            <a:r>
              <a:rPr lang="en-US" sz="850" b="1" dirty="0">
                <a:solidFill>
                  <a:srgbClr val="FFFFFF"/>
                </a:solidFill>
              </a:rPr>
              <a:t>Data Ingestion</a:t>
            </a:r>
            <a:endParaRPr lang="en-US" sz="850" dirty="0"/>
          </a:p>
          <a:p>
            <a:pPr indent="0" marL="0">
              <a:buNone/>
            </a:pPr>
            <a:r>
              <a:rPr lang="en-US" sz="850" b="1" dirty="0">
                <a:solidFill>
                  <a:srgbClr val="FFFFFF"/>
                </a:solidFill>
              </a:rPr>
              <a:t>Agent</a:t>
            </a:r>
            <a:endParaRPr lang="en-US" sz="850" dirty="0"/>
          </a:p>
        </p:txBody>
      </p:sp>
      <p:sp>
        <p:nvSpPr>
          <p:cNvPr id="27" name="Text 23"/>
          <p:cNvSpPr/>
          <p:nvPr/>
        </p:nvSpPr>
        <p:spPr>
          <a:xfrm>
            <a:off x="1737360" y="1847088"/>
            <a:ext cx="1078992" cy="182880"/>
          </a:xfrm>
          <a:prstGeom prst="rect">
            <a:avLst/>
          </a:prstGeom>
          <a:noFill/>
          <a:ln/>
        </p:spPr>
        <p:txBody>
          <a:bodyPr wrap="square" lIns="0" tIns="0" rIns="0" bIns="0" rtlCol="0" anchor="ctr"/>
          <a:lstStyle/>
          <a:p>
            <a:pPr indent="0" marL="0">
              <a:buNone/>
            </a:pPr>
            <a:r>
              <a:rPr lang="en-US" sz="800" b="1" dirty="0">
                <a:solidFill>
                  <a:srgbClr val="0D7377"/>
                </a:solidFill>
              </a:rPr>
              <a:t>T+15m</a:t>
            </a:r>
            <a:endParaRPr lang="en-US" sz="800" dirty="0"/>
          </a:p>
        </p:txBody>
      </p:sp>
      <p:sp>
        <p:nvSpPr>
          <p:cNvPr id="28" name="Shape 24"/>
          <p:cNvSpPr/>
          <p:nvPr/>
        </p:nvSpPr>
        <p:spPr>
          <a:xfrm>
            <a:off x="1645920" y="2121408"/>
            <a:ext cx="1261872" cy="256032"/>
          </a:xfrm>
          <a:prstGeom prst="rect">
            <a:avLst/>
          </a:prstGeom>
          <a:solidFill>
            <a:srgbClr val="091830"/>
          </a:solidFill>
          <a:ln w="12700">
            <a:solidFill>
              <a:srgbClr val="1A3A5C"/>
            </a:solidFill>
            <a:prstDash val="solid"/>
          </a:ln>
        </p:spPr>
      </p:sp>
      <p:sp>
        <p:nvSpPr>
          <p:cNvPr id="29" name="Text 25"/>
          <p:cNvSpPr/>
          <p:nvPr/>
        </p:nvSpPr>
        <p:spPr>
          <a:xfrm>
            <a:off x="1700784" y="2121408"/>
            <a:ext cx="1170432" cy="256032"/>
          </a:xfrm>
          <a:prstGeom prst="rect">
            <a:avLst/>
          </a:prstGeom>
          <a:noFill/>
          <a:ln/>
        </p:spPr>
        <p:txBody>
          <a:bodyPr wrap="square" lIns="0" tIns="0" rIns="0" bIns="0" rtlCol="0" anchor="ctr"/>
          <a:lstStyle/>
          <a:p>
            <a:pPr indent="0" marL="0">
              <a:buNone/>
            </a:pPr>
            <a:r>
              <a:rPr lang="en-US" sz="700" dirty="0">
                <a:solidFill>
                  <a:srgbClr val="94A3B8"/>
                </a:solidFill>
              </a:rPr>
              <a:t>→ DataQualityReport</a:t>
            </a:r>
            <a:endParaRPr lang="en-US" sz="700" dirty="0"/>
          </a:p>
        </p:txBody>
      </p:sp>
      <p:sp>
        <p:nvSpPr>
          <p:cNvPr id="30" name="Text 26"/>
          <p:cNvSpPr/>
          <p:nvPr/>
        </p:nvSpPr>
        <p:spPr>
          <a:xfrm>
            <a:off x="1645920" y="2414016"/>
            <a:ext cx="1261872" cy="201168"/>
          </a:xfrm>
          <a:prstGeom prst="rect">
            <a:avLst/>
          </a:prstGeom>
          <a:noFill/>
          <a:ln/>
        </p:spPr>
        <p:txBody>
          <a:bodyPr wrap="square" lIns="0" tIns="0" rIns="0" bIns="0" rtlCol="0" anchor="ctr"/>
          <a:lstStyle/>
          <a:p>
            <a:pPr algn="ctr" indent="0" marL="0">
              <a:buNone/>
            </a:pPr>
            <a:r>
              <a:rPr lang="en-US" sz="750" b="1" dirty="0">
                <a:solidFill>
                  <a:srgbClr val="0D7377"/>
                </a:solidFill>
              </a:rPr>
              <a:t>Schema mapped</a:t>
            </a:r>
            <a:endParaRPr lang="en-US" sz="750" dirty="0"/>
          </a:p>
        </p:txBody>
      </p:sp>
      <p:sp>
        <p:nvSpPr>
          <p:cNvPr id="31" name="Shape 27"/>
          <p:cNvSpPr/>
          <p:nvPr/>
        </p:nvSpPr>
        <p:spPr>
          <a:xfrm>
            <a:off x="2944368" y="1097280"/>
            <a:ext cx="164592" cy="1005840"/>
          </a:xfrm>
          <a:prstGeom prst="rect">
            <a:avLst/>
          </a:prstGeom>
          <a:solidFill>
            <a:srgbClr val="F59E0B"/>
          </a:solidFill>
          <a:ln w="12700">
            <a:solidFill>
              <a:srgbClr val="F59E0B"/>
            </a:solidFill>
            <a:prstDash val="solid"/>
          </a:ln>
        </p:spPr>
      </p:sp>
      <p:sp>
        <p:nvSpPr>
          <p:cNvPr id="32" name="Text 28"/>
          <p:cNvSpPr/>
          <p:nvPr/>
        </p:nvSpPr>
        <p:spPr>
          <a:xfrm>
            <a:off x="3127248" y="1097280"/>
            <a:ext cx="1005840" cy="1005840"/>
          </a:xfrm>
          <a:prstGeom prst="rect">
            <a:avLst/>
          </a:prstGeom>
          <a:noFill/>
          <a:ln/>
        </p:spPr>
        <p:txBody>
          <a:bodyPr wrap="square" lIns="0" tIns="0" rIns="0" bIns="0" rtlCol="0" anchor="ctr"/>
          <a:lstStyle/>
          <a:p>
            <a:pPr indent="0" marL="0">
              <a:buNone/>
            </a:pPr>
            <a:r>
              <a:rPr lang="en-US" sz="750" b="1" dirty="0">
                <a:solidFill>
                  <a:srgbClr val="F59E0B"/>
                </a:solidFill>
              </a:rPr>
              <a:t>Gate 2</a:t>
            </a:r>
            <a:endParaRPr lang="en-US" sz="750" dirty="0"/>
          </a:p>
          <a:p>
            <a:pPr indent="0" marL="0">
              <a:buNone/>
            </a:pPr>
            <a:r>
              <a:rPr lang="en-US" sz="750" b="1" dirty="0">
                <a:solidFill>
                  <a:srgbClr val="F59E0B"/>
                </a:solidFill>
              </a:rPr>
              <a:t>Data auth</a:t>
            </a:r>
            <a:endParaRPr lang="en-US" sz="750" dirty="0"/>
          </a:p>
          <a:p>
            <a:pPr indent="0" marL="0">
              <a:buNone/>
            </a:pPr>
            <a:r>
              <a:rPr lang="en-US" sz="750" b="1" dirty="0">
                <a:solidFill>
                  <a:srgbClr val="F59E0B"/>
                </a:solidFill>
              </a:rPr>
              <a:t>2 min</a:t>
            </a:r>
            <a:endParaRPr lang="en-US" sz="750" dirty="0"/>
          </a:p>
        </p:txBody>
      </p:sp>
      <p:sp>
        <p:nvSpPr>
          <p:cNvPr id="33" name="Shape 29"/>
          <p:cNvSpPr/>
          <p:nvPr/>
        </p:nvSpPr>
        <p:spPr>
          <a:xfrm>
            <a:off x="3090672" y="1115568"/>
            <a:ext cx="1261872" cy="960120"/>
          </a:xfrm>
          <a:prstGeom prst="rect">
            <a:avLst/>
          </a:prstGeom>
          <a:solidFill>
            <a:srgbClr val="0D2240"/>
          </a:solidFill>
          <a:ln w="19050">
            <a:solidFill>
              <a:srgbClr val="0D7377"/>
            </a:solidFill>
            <a:prstDash val="solid"/>
          </a:ln>
          <a:effectLst>
            <a:outerShdw sx="100000" sy="100000" kx="0" ky="0" algn="bl" rotWithShape="0" blurRad="101600" dist="38100" dir="8100000">
              <a:srgbClr val="000000">
                <a:alpha val="10000"/>
              </a:srgbClr>
            </a:outerShdw>
          </a:effectLst>
        </p:spPr>
      </p:sp>
      <p:sp>
        <p:nvSpPr>
          <p:cNvPr id="34" name="Shape 30"/>
          <p:cNvSpPr/>
          <p:nvPr/>
        </p:nvSpPr>
        <p:spPr>
          <a:xfrm>
            <a:off x="3090672" y="1115568"/>
            <a:ext cx="1261872" cy="54864"/>
          </a:xfrm>
          <a:prstGeom prst="rect">
            <a:avLst/>
          </a:prstGeom>
          <a:solidFill>
            <a:srgbClr val="0D7377"/>
          </a:solidFill>
          <a:ln w="12700">
            <a:solidFill>
              <a:srgbClr val="0D7377"/>
            </a:solidFill>
            <a:prstDash val="solid"/>
          </a:ln>
        </p:spPr>
      </p:sp>
      <p:sp>
        <p:nvSpPr>
          <p:cNvPr id="35" name="Shape 31"/>
          <p:cNvSpPr/>
          <p:nvPr/>
        </p:nvSpPr>
        <p:spPr>
          <a:xfrm>
            <a:off x="3182112" y="1225296"/>
            <a:ext cx="256032" cy="256032"/>
          </a:xfrm>
          <a:prstGeom prst="ellipse">
            <a:avLst/>
          </a:prstGeom>
          <a:solidFill>
            <a:srgbClr val="0D7377"/>
          </a:solidFill>
          <a:ln w="12700">
            <a:solidFill>
              <a:srgbClr val="0D7377"/>
            </a:solidFill>
            <a:prstDash val="solid"/>
          </a:ln>
        </p:spPr>
      </p:sp>
      <p:sp>
        <p:nvSpPr>
          <p:cNvPr id="36" name="Text 32"/>
          <p:cNvSpPr/>
          <p:nvPr/>
        </p:nvSpPr>
        <p:spPr>
          <a:xfrm>
            <a:off x="3182112" y="122529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rPr>
              <a:t>3</a:t>
            </a:r>
            <a:endParaRPr lang="en-US" sz="900" dirty="0"/>
          </a:p>
        </p:txBody>
      </p:sp>
      <p:pic>
        <p:nvPicPr>
          <p:cNvPr id="37" name="Image 2" descr="preencoded.png"/>
          <p:cNvPicPr>
            <a:picLocks noChangeAspect="1"/>
          </p:cNvPicPr>
          <p:nvPr/>
        </p:nvPicPr>
        <p:blipFill>
          <a:blip r:embed="rId3"/>
          <a:stretch>
            <a:fillRect/>
          </a:stretch>
        </p:blipFill>
        <p:spPr>
          <a:xfrm>
            <a:off x="4005072" y="1207008"/>
            <a:ext cx="237744" cy="237744"/>
          </a:xfrm>
          <a:prstGeom prst="rect">
            <a:avLst/>
          </a:prstGeom>
        </p:spPr>
      </p:pic>
      <p:sp>
        <p:nvSpPr>
          <p:cNvPr id="38" name="Text 33"/>
          <p:cNvSpPr/>
          <p:nvPr/>
        </p:nvSpPr>
        <p:spPr>
          <a:xfrm>
            <a:off x="3182112" y="1517904"/>
            <a:ext cx="1078992" cy="292608"/>
          </a:xfrm>
          <a:prstGeom prst="rect">
            <a:avLst/>
          </a:prstGeom>
          <a:noFill/>
          <a:ln/>
        </p:spPr>
        <p:txBody>
          <a:bodyPr wrap="square" lIns="0" tIns="0" rIns="0" bIns="0" rtlCol="0" anchor="ctr"/>
          <a:lstStyle/>
          <a:p>
            <a:pPr indent="0" marL="0">
              <a:buNone/>
            </a:pPr>
            <a:r>
              <a:rPr lang="en-US" sz="850" b="1" dirty="0">
                <a:solidFill>
                  <a:srgbClr val="FFFFFF"/>
                </a:solidFill>
              </a:rPr>
              <a:t>Configuration</a:t>
            </a:r>
            <a:endParaRPr lang="en-US" sz="850" dirty="0"/>
          </a:p>
          <a:p>
            <a:pPr indent="0" marL="0">
              <a:buNone/>
            </a:pPr>
            <a:r>
              <a:rPr lang="en-US" sz="850" b="1" dirty="0">
                <a:solidFill>
                  <a:srgbClr val="FFFFFF"/>
                </a:solidFill>
              </a:rPr>
              <a:t>Agent</a:t>
            </a:r>
            <a:endParaRPr lang="en-US" sz="850" dirty="0"/>
          </a:p>
        </p:txBody>
      </p:sp>
      <p:sp>
        <p:nvSpPr>
          <p:cNvPr id="39" name="Text 34"/>
          <p:cNvSpPr/>
          <p:nvPr/>
        </p:nvSpPr>
        <p:spPr>
          <a:xfrm>
            <a:off x="3182112" y="1847088"/>
            <a:ext cx="1078992" cy="182880"/>
          </a:xfrm>
          <a:prstGeom prst="rect">
            <a:avLst/>
          </a:prstGeom>
          <a:noFill/>
          <a:ln/>
        </p:spPr>
        <p:txBody>
          <a:bodyPr wrap="square" lIns="0" tIns="0" rIns="0" bIns="0" rtlCol="0" anchor="ctr"/>
          <a:lstStyle/>
          <a:p>
            <a:pPr indent="0" marL="0">
              <a:buNone/>
            </a:pPr>
            <a:r>
              <a:rPr lang="en-US" sz="800" b="1" dirty="0">
                <a:solidFill>
                  <a:srgbClr val="0D7377"/>
                </a:solidFill>
              </a:rPr>
              <a:t>T+25m</a:t>
            </a:r>
            <a:endParaRPr lang="en-US" sz="800" dirty="0"/>
          </a:p>
        </p:txBody>
      </p:sp>
      <p:sp>
        <p:nvSpPr>
          <p:cNvPr id="40" name="Shape 35"/>
          <p:cNvSpPr/>
          <p:nvPr/>
        </p:nvSpPr>
        <p:spPr>
          <a:xfrm>
            <a:off x="3090672" y="2121408"/>
            <a:ext cx="1261872" cy="256032"/>
          </a:xfrm>
          <a:prstGeom prst="rect">
            <a:avLst/>
          </a:prstGeom>
          <a:solidFill>
            <a:srgbClr val="091830"/>
          </a:solidFill>
          <a:ln w="12700">
            <a:solidFill>
              <a:srgbClr val="1A3A5C"/>
            </a:solidFill>
            <a:prstDash val="solid"/>
          </a:ln>
        </p:spPr>
      </p:sp>
      <p:sp>
        <p:nvSpPr>
          <p:cNvPr id="41" name="Text 36"/>
          <p:cNvSpPr/>
          <p:nvPr/>
        </p:nvSpPr>
        <p:spPr>
          <a:xfrm>
            <a:off x="3145536" y="2121408"/>
            <a:ext cx="1170432" cy="256032"/>
          </a:xfrm>
          <a:prstGeom prst="rect">
            <a:avLst/>
          </a:prstGeom>
          <a:noFill/>
          <a:ln/>
        </p:spPr>
        <p:txBody>
          <a:bodyPr wrap="square" lIns="0" tIns="0" rIns="0" bIns="0" rtlCol="0" anchor="ctr"/>
          <a:lstStyle/>
          <a:p>
            <a:pPr indent="0" marL="0">
              <a:buNone/>
            </a:pPr>
            <a:r>
              <a:rPr lang="en-US" sz="700" dirty="0">
                <a:solidFill>
                  <a:srgbClr val="94A3B8"/>
                </a:solidFill>
              </a:rPr>
              <a:t>→ TenantConfigBundle</a:t>
            </a:r>
            <a:endParaRPr lang="en-US" sz="700" dirty="0"/>
          </a:p>
        </p:txBody>
      </p:sp>
      <p:sp>
        <p:nvSpPr>
          <p:cNvPr id="42" name="Text 37"/>
          <p:cNvSpPr/>
          <p:nvPr/>
        </p:nvSpPr>
        <p:spPr>
          <a:xfrm>
            <a:off x="3090672" y="2414016"/>
            <a:ext cx="1261872" cy="201168"/>
          </a:xfrm>
          <a:prstGeom prst="rect">
            <a:avLst/>
          </a:prstGeom>
          <a:noFill/>
          <a:ln/>
        </p:spPr>
        <p:txBody>
          <a:bodyPr wrap="square" lIns="0" tIns="0" rIns="0" bIns="0" rtlCol="0" anchor="ctr"/>
          <a:lstStyle/>
          <a:p>
            <a:pPr algn="ctr" indent="0" marL="0">
              <a:buNone/>
            </a:pPr>
            <a:r>
              <a:rPr lang="en-US" sz="750" b="1" dirty="0">
                <a:solidFill>
                  <a:srgbClr val="0D7377"/>
                </a:solidFill>
              </a:rPr>
              <a:t>Config written</a:t>
            </a:r>
            <a:endParaRPr lang="en-US" sz="750" dirty="0"/>
          </a:p>
        </p:txBody>
      </p:sp>
      <p:sp>
        <p:nvSpPr>
          <p:cNvPr id="43" name="Shape 38"/>
          <p:cNvSpPr/>
          <p:nvPr/>
        </p:nvSpPr>
        <p:spPr>
          <a:xfrm>
            <a:off x="4535424" y="1115568"/>
            <a:ext cx="1261872" cy="960120"/>
          </a:xfrm>
          <a:prstGeom prst="rect">
            <a:avLst/>
          </a:prstGeom>
          <a:solidFill>
            <a:srgbClr val="0D2240"/>
          </a:solidFill>
          <a:ln w="19050">
            <a:solidFill>
              <a:srgbClr val="7C3AED"/>
            </a:solidFill>
            <a:prstDash val="solid"/>
          </a:ln>
          <a:effectLst>
            <a:outerShdw sx="100000" sy="100000" kx="0" ky="0" algn="bl" rotWithShape="0" blurRad="101600" dist="38100" dir="8100000">
              <a:srgbClr val="000000">
                <a:alpha val="10000"/>
              </a:srgbClr>
            </a:outerShdw>
          </a:effectLst>
        </p:spPr>
      </p:sp>
      <p:sp>
        <p:nvSpPr>
          <p:cNvPr id="44" name="Shape 39"/>
          <p:cNvSpPr/>
          <p:nvPr/>
        </p:nvSpPr>
        <p:spPr>
          <a:xfrm>
            <a:off x="4535424" y="1115568"/>
            <a:ext cx="1261872" cy="54864"/>
          </a:xfrm>
          <a:prstGeom prst="rect">
            <a:avLst/>
          </a:prstGeom>
          <a:solidFill>
            <a:srgbClr val="7C3AED"/>
          </a:solidFill>
          <a:ln w="12700">
            <a:solidFill>
              <a:srgbClr val="7C3AED"/>
            </a:solidFill>
            <a:prstDash val="solid"/>
          </a:ln>
        </p:spPr>
      </p:sp>
      <p:sp>
        <p:nvSpPr>
          <p:cNvPr id="45" name="Shape 40"/>
          <p:cNvSpPr/>
          <p:nvPr/>
        </p:nvSpPr>
        <p:spPr>
          <a:xfrm>
            <a:off x="4626864" y="1225296"/>
            <a:ext cx="256032" cy="256032"/>
          </a:xfrm>
          <a:prstGeom prst="ellipse">
            <a:avLst/>
          </a:prstGeom>
          <a:solidFill>
            <a:srgbClr val="7C3AED"/>
          </a:solidFill>
          <a:ln w="12700">
            <a:solidFill>
              <a:srgbClr val="7C3AED"/>
            </a:solidFill>
            <a:prstDash val="solid"/>
          </a:ln>
        </p:spPr>
      </p:sp>
      <p:sp>
        <p:nvSpPr>
          <p:cNvPr id="46" name="Text 41"/>
          <p:cNvSpPr/>
          <p:nvPr/>
        </p:nvSpPr>
        <p:spPr>
          <a:xfrm>
            <a:off x="4626864" y="122529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rPr>
              <a:t>4</a:t>
            </a:r>
            <a:endParaRPr lang="en-US" sz="900" dirty="0"/>
          </a:p>
        </p:txBody>
      </p:sp>
      <p:pic>
        <p:nvPicPr>
          <p:cNvPr id="47" name="Image 3" descr="preencoded.png"/>
          <p:cNvPicPr>
            <a:picLocks noChangeAspect="1"/>
          </p:cNvPicPr>
          <p:nvPr/>
        </p:nvPicPr>
        <p:blipFill>
          <a:blip r:embed="rId4"/>
          <a:stretch>
            <a:fillRect/>
          </a:stretch>
        </p:blipFill>
        <p:spPr>
          <a:xfrm>
            <a:off x="5449824" y="1207008"/>
            <a:ext cx="237744" cy="237744"/>
          </a:xfrm>
          <a:prstGeom prst="rect">
            <a:avLst/>
          </a:prstGeom>
        </p:spPr>
      </p:pic>
      <p:sp>
        <p:nvSpPr>
          <p:cNvPr id="48" name="Text 42"/>
          <p:cNvSpPr/>
          <p:nvPr/>
        </p:nvSpPr>
        <p:spPr>
          <a:xfrm>
            <a:off x="4626864" y="1517904"/>
            <a:ext cx="1078992" cy="292608"/>
          </a:xfrm>
          <a:prstGeom prst="rect">
            <a:avLst/>
          </a:prstGeom>
          <a:noFill/>
          <a:ln/>
        </p:spPr>
        <p:txBody>
          <a:bodyPr wrap="square" lIns="0" tIns="0" rIns="0" bIns="0" rtlCol="0" anchor="ctr"/>
          <a:lstStyle/>
          <a:p>
            <a:pPr indent="0" marL="0">
              <a:buNone/>
            </a:pPr>
            <a:r>
              <a:rPr lang="en-US" sz="850" b="1" dirty="0">
                <a:solidFill>
                  <a:srgbClr val="FFFFFF"/>
                </a:solidFill>
              </a:rPr>
              <a:t>Activation</a:t>
            </a:r>
            <a:endParaRPr lang="en-US" sz="850" dirty="0"/>
          </a:p>
          <a:p>
            <a:pPr indent="0" marL="0">
              <a:buNone/>
            </a:pPr>
            <a:r>
              <a:rPr lang="en-US" sz="850" b="1" dirty="0">
                <a:solidFill>
                  <a:srgbClr val="FFFFFF"/>
                </a:solidFill>
              </a:rPr>
              <a:t>Agent</a:t>
            </a:r>
            <a:endParaRPr lang="en-US" sz="850" dirty="0"/>
          </a:p>
        </p:txBody>
      </p:sp>
      <p:sp>
        <p:nvSpPr>
          <p:cNvPr id="49" name="Text 43"/>
          <p:cNvSpPr/>
          <p:nvPr/>
        </p:nvSpPr>
        <p:spPr>
          <a:xfrm>
            <a:off x="4626864" y="1847088"/>
            <a:ext cx="1078992" cy="182880"/>
          </a:xfrm>
          <a:prstGeom prst="rect">
            <a:avLst/>
          </a:prstGeom>
          <a:noFill/>
          <a:ln/>
        </p:spPr>
        <p:txBody>
          <a:bodyPr wrap="square" lIns="0" tIns="0" rIns="0" bIns="0" rtlCol="0" anchor="ctr"/>
          <a:lstStyle/>
          <a:p>
            <a:pPr indent="0" marL="0">
              <a:buNone/>
            </a:pPr>
            <a:r>
              <a:rPr lang="en-US" sz="800" b="1" dirty="0">
                <a:solidFill>
                  <a:srgbClr val="7C3AED"/>
                </a:solidFill>
              </a:rPr>
              <a:t>T+35m</a:t>
            </a:r>
            <a:endParaRPr lang="en-US" sz="800" dirty="0"/>
          </a:p>
        </p:txBody>
      </p:sp>
      <p:sp>
        <p:nvSpPr>
          <p:cNvPr id="50" name="Shape 44"/>
          <p:cNvSpPr/>
          <p:nvPr/>
        </p:nvSpPr>
        <p:spPr>
          <a:xfrm>
            <a:off x="4535424" y="2121408"/>
            <a:ext cx="1261872" cy="256032"/>
          </a:xfrm>
          <a:prstGeom prst="rect">
            <a:avLst/>
          </a:prstGeom>
          <a:solidFill>
            <a:srgbClr val="091830"/>
          </a:solidFill>
          <a:ln w="12700">
            <a:solidFill>
              <a:srgbClr val="1A3A5C"/>
            </a:solidFill>
            <a:prstDash val="solid"/>
          </a:ln>
        </p:spPr>
      </p:sp>
      <p:sp>
        <p:nvSpPr>
          <p:cNvPr id="51" name="Text 45"/>
          <p:cNvSpPr/>
          <p:nvPr/>
        </p:nvSpPr>
        <p:spPr>
          <a:xfrm>
            <a:off x="4590288" y="2121408"/>
            <a:ext cx="1170432" cy="256032"/>
          </a:xfrm>
          <a:prstGeom prst="rect">
            <a:avLst/>
          </a:prstGeom>
          <a:noFill/>
          <a:ln/>
        </p:spPr>
        <p:txBody>
          <a:bodyPr wrap="square" lIns="0" tIns="0" rIns="0" bIns="0" rtlCol="0" anchor="ctr"/>
          <a:lstStyle/>
          <a:p>
            <a:pPr indent="0" marL="0">
              <a:buNone/>
            </a:pPr>
            <a:r>
              <a:rPr lang="en-US" sz="700" dirty="0">
                <a:solidFill>
                  <a:srgbClr val="94A3B8"/>
                </a:solidFill>
              </a:rPr>
              <a:t>→ ActivationManifest</a:t>
            </a:r>
            <a:endParaRPr lang="en-US" sz="700" dirty="0"/>
          </a:p>
        </p:txBody>
      </p:sp>
      <p:sp>
        <p:nvSpPr>
          <p:cNvPr id="52" name="Text 46"/>
          <p:cNvSpPr/>
          <p:nvPr/>
        </p:nvSpPr>
        <p:spPr>
          <a:xfrm>
            <a:off x="4535424" y="2414016"/>
            <a:ext cx="1261872" cy="201168"/>
          </a:xfrm>
          <a:prstGeom prst="rect">
            <a:avLst/>
          </a:prstGeom>
          <a:noFill/>
          <a:ln/>
        </p:spPr>
        <p:txBody>
          <a:bodyPr wrap="square" lIns="0" tIns="0" rIns="0" bIns="0" rtlCol="0" anchor="ctr"/>
          <a:lstStyle/>
          <a:p>
            <a:pPr algn="ctr" indent="0" marL="0">
              <a:buNone/>
            </a:pPr>
            <a:r>
              <a:rPr lang="en-US" sz="750" b="1" dirty="0">
                <a:solidFill>
                  <a:srgbClr val="7C3AED"/>
                </a:solidFill>
              </a:rPr>
              <a:t>Tenant live</a:t>
            </a:r>
            <a:endParaRPr lang="en-US" sz="750" dirty="0"/>
          </a:p>
        </p:txBody>
      </p:sp>
      <p:sp>
        <p:nvSpPr>
          <p:cNvPr id="53" name="Shape 47"/>
          <p:cNvSpPr/>
          <p:nvPr/>
        </p:nvSpPr>
        <p:spPr>
          <a:xfrm>
            <a:off x="5980176" y="1115568"/>
            <a:ext cx="1261872" cy="960120"/>
          </a:xfrm>
          <a:prstGeom prst="rect">
            <a:avLst/>
          </a:prstGeom>
          <a:solidFill>
            <a:srgbClr val="0D2240"/>
          </a:solidFill>
          <a:ln w="19050">
            <a:solidFill>
              <a:srgbClr val="0D7377"/>
            </a:solidFill>
            <a:prstDash val="solid"/>
          </a:ln>
          <a:effectLst>
            <a:outerShdw sx="100000" sy="100000" kx="0" ky="0" algn="bl" rotWithShape="0" blurRad="101600" dist="38100" dir="8100000">
              <a:srgbClr val="000000">
                <a:alpha val="10000"/>
              </a:srgbClr>
            </a:outerShdw>
          </a:effectLst>
        </p:spPr>
      </p:sp>
      <p:sp>
        <p:nvSpPr>
          <p:cNvPr id="54" name="Shape 48"/>
          <p:cNvSpPr/>
          <p:nvPr/>
        </p:nvSpPr>
        <p:spPr>
          <a:xfrm>
            <a:off x="5980176" y="1115568"/>
            <a:ext cx="1261872" cy="54864"/>
          </a:xfrm>
          <a:prstGeom prst="rect">
            <a:avLst/>
          </a:prstGeom>
          <a:solidFill>
            <a:srgbClr val="0D7377"/>
          </a:solidFill>
          <a:ln w="12700">
            <a:solidFill>
              <a:srgbClr val="0D7377"/>
            </a:solidFill>
            <a:prstDash val="solid"/>
          </a:ln>
        </p:spPr>
      </p:sp>
      <p:sp>
        <p:nvSpPr>
          <p:cNvPr id="55" name="Shape 49"/>
          <p:cNvSpPr/>
          <p:nvPr/>
        </p:nvSpPr>
        <p:spPr>
          <a:xfrm>
            <a:off x="6071616" y="1225296"/>
            <a:ext cx="256032" cy="256032"/>
          </a:xfrm>
          <a:prstGeom prst="ellipse">
            <a:avLst/>
          </a:prstGeom>
          <a:solidFill>
            <a:srgbClr val="0D7377"/>
          </a:solidFill>
          <a:ln w="12700">
            <a:solidFill>
              <a:srgbClr val="0D7377"/>
            </a:solidFill>
            <a:prstDash val="solid"/>
          </a:ln>
        </p:spPr>
      </p:sp>
      <p:sp>
        <p:nvSpPr>
          <p:cNvPr id="56" name="Text 50"/>
          <p:cNvSpPr/>
          <p:nvPr/>
        </p:nvSpPr>
        <p:spPr>
          <a:xfrm>
            <a:off x="6071616" y="122529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rPr>
              <a:t>5</a:t>
            </a:r>
            <a:endParaRPr lang="en-US" sz="900" dirty="0"/>
          </a:p>
        </p:txBody>
      </p:sp>
      <p:pic>
        <p:nvPicPr>
          <p:cNvPr id="57" name="Image 4" descr="preencoded.png"/>
          <p:cNvPicPr>
            <a:picLocks noChangeAspect="1"/>
          </p:cNvPicPr>
          <p:nvPr/>
        </p:nvPicPr>
        <p:blipFill>
          <a:blip r:embed="rId5"/>
          <a:stretch>
            <a:fillRect/>
          </a:stretch>
        </p:blipFill>
        <p:spPr>
          <a:xfrm>
            <a:off x="6894576" y="1207008"/>
            <a:ext cx="237744" cy="237744"/>
          </a:xfrm>
          <a:prstGeom prst="rect">
            <a:avLst/>
          </a:prstGeom>
        </p:spPr>
      </p:pic>
      <p:sp>
        <p:nvSpPr>
          <p:cNvPr id="58" name="Text 51"/>
          <p:cNvSpPr/>
          <p:nvPr/>
        </p:nvSpPr>
        <p:spPr>
          <a:xfrm>
            <a:off x="6071616" y="1517904"/>
            <a:ext cx="1078992" cy="292608"/>
          </a:xfrm>
          <a:prstGeom prst="rect">
            <a:avLst/>
          </a:prstGeom>
          <a:noFill/>
          <a:ln/>
        </p:spPr>
        <p:txBody>
          <a:bodyPr wrap="square" lIns="0" tIns="0" rIns="0" bIns="0" rtlCol="0" anchor="ctr"/>
          <a:lstStyle/>
          <a:p>
            <a:pPr indent="0" marL="0">
              <a:buNone/>
            </a:pPr>
            <a:r>
              <a:rPr lang="en-US" sz="850" b="1" dirty="0">
                <a:solidFill>
                  <a:srgbClr val="FFFFFF"/>
                </a:solidFill>
              </a:rPr>
              <a:t>Verification</a:t>
            </a:r>
            <a:endParaRPr lang="en-US" sz="850" dirty="0"/>
          </a:p>
          <a:p>
            <a:pPr indent="0" marL="0">
              <a:buNone/>
            </a:pPr>
            <a:r>
              <a:rPr lang="en-US" sz="850" b="1" dirty="0">
                <a:solidFill>
                  <a:srgbClr val="FFFFFF"/>
                </a:solidFill>
              </a:rPr>
              <a:t>Agent</a:t>
            </a:r>
            <a:endParaRPr lang="en-US" sz="850" dirty="0"/>
          </a:p>
        </p:txBody>
      </p:sp>
      <p:sp>
        <p:nvSpPr>
          <p:cNvPr id="59" name="Text 52"/>
          <p:cNvSpPr/>
          <p:nvPr/>
        </p:nvSpPr>
        <p:spPr>
          <a:xfrm>
            <a:off x="6071616" y="1847088"/>
            <a:ext cx="1078992" cy="182880"/>
          </a:xfrm>
          <a:prstGeom prst="rect">
            <a:avLst/>
          </a:prstGeom>
          <a:noFill/>
          <a:ln/>
        </p:spPr>
        <p:txBody>
          <a:bodyPr wrap="square" lIns="0" tIns="0" rIns="0" bIns="0" rtlCol="0" anchor="ctr"/>
          <a:lstStyle/>
          <a:p>
            <a:pPr indent="0" marL="0">
              <a:buNone/>
            </a:pPr>
            <a:r>
              <a:rPr lang="en-US" sz="800" b="1" dirty="0">
                <a:solidFill>
                  <a:srgbClr val="0D7377"/>
                </a:solidFill>
              </a:rPr>
              <a:t>T+50m</a:t>
            </a:r>
            <a:endParaRPr lang="en-US" sz="800" dirty="0"/>
          </a:p>
        </p:txBody>
      </p:sp>
      <p:sp>
        <p:nvSpPr>
          <p:cNvPr id="60" name="Shape 53"/>
          <p:cNvSpPr/>
          <p:nvPr/>
        </p:nvSpPr>
        <p:spPr>
          <a:xfrm>
            <a:off x="5980176" y="2121408"/>
            <a:ext cx="1261872" cy="256032"/>
          </a:xfrm>
          <a:prstGeom prst="rect">
            <a:avLst/>
          </a:prstGeom>
          <a:solidFill>
            <a:srgbClr val="091830"/>
          </a:solidFill>
          <a:ln w="12700">
            <a:solidFill>
              <a:srgbClr val="1A3A5C"/>
            </a:solidFill>
            <a:prstDash val="solid"/>
          </a:ln>
        </p:spPr>
      </p:sp>
      <p:sp>
        <p:nvSpPr>
          <p:cNvPr id="61" name="Text 54"/>
          <p:cNvSpPr/>
          <p:nvPr/>
        </p:nvSpPr>
        <p:spPr>
          <a:xfrm>
            <a:off x="6035040" y="2121408"/>
            <a:ext cx="1170432" cy="256032"/>
          </a:xfrm>
          <a:prstGeom prst="rect">
            <a:avLst/>
          </a:prstGeom>
          <a:noFill/>
          <a:ln/>
        </p:spPr>
        <p:txBody>
          <a:bodyPr wrap="square" lIns="0" tIns="0" rIns="0" bIns="0" rtlCol="0" anchor="ctr"/>
          <a:lstStyle/>
          <a:p>
            <a:pPr indent="0" marL="0">
              <a:buNone/>
            </a:pPr>
            <a:r>
              <a:rPr lang="en-US" sz="700" dirty="0">
                <a:solidFill>
                  <a:srgbClr val="94A3B8"/>
                </a:solidFill>
              </a:rPr>
              <a:t>→ SmokeTestReport</a:t>
            </a:r>
            <a:endParaRPr lang="en-US" sz="700" dirty="0"/>
          </a:p>
        </p:txBody>
      </p:sp>
      <p:sp>
        <p:nvSpPr>
          <p:cNvPr id="62" name="Text 55"/>
          <p:cNvSpPr/>
          <p:nvPr/>
        </p:nvSpPr>
        <p:spPr>
          <a:xfrm>
            <a:off x="5980176" y="2414016"/>
            <a:ext cx="1261872" cy="201168"/>
          </a:xfrm>
          <a:prstGeom prst="rect">
            <a:avLst/>
          </a:prstGeom>
          <a:noFill/>
          <a:ln/>
        </p:spPr>
        <p:txBody>
          <a:bodyPr wrap="square" lIns="0" tIns="0" rIns="0" bIns="0" rtlCol="0" anchor="ctr"/>
          <a:lstStyle/>
          <a:p>
            <a:pPr algn="ctr" indent="0" marL="0">
              <a:buNone/>
            </a:pPr>
            <a:r>
              <a:rPr lang="en-US" sz="750" b="1" dirty="0">
                <a:solidFill>
                  <a:srgbClr val="0D7377"/>
                </a:solidFill>
              </a:rPr>
              <a:t>24/24 pass</a:t>
            </a:r>
            <a:endParaRPr lang="en-US" sz="750" dirty="0"/>
          </a:p>
        </p:txBody>
      </p:sp>
      <p:sp>
        <p:nvSpPr>
          <p:cNvPr id="63" name="Shape 56"/>
          <p:cNvSpPr/>
          <p:nvPr/>
        </p:nvSpPr>
        <p:spPr>
          <a:xfrm>
            <a:off x="7278624" y="1097280"/>
            <a:ext cx="164592" cy="1005840"/>
          </a:xfrm>
          <a:prstGeom prst="rect">
            <a:avLst/>
          </a:prstGeom>
          <a:solidFill>
            <a:srgbClr val="F59E0B"/>
          </a:solidFill>
          <a:ln w="12700">
            <a:solidFill>
              <a:srgbClr val="F59E0B"/>
            </a:solidFill>
            <a:prstDash val="solid"/>
          </a:ln>
        </p:spPr>
      </p:sp>
      <p:sp>
        <p:nvSpPr>
          <p:cNvPr id="64" name="Text 57"/>
          <p:cNvSpPr/>
          <p:nvPr/>
        </p:nvSpPr>
        <p:spPr>
          <a:xfrm>
            <a:off x="7461504" y="1097280"/>
            <a:ext cx="1005840" cy="1005840"/>
          </a:xfrm>
          <a:prstGeom prst="rect">
            <a:avLst/>
          </a:prstGeom>
          <a:noFill/>
          <a:ln/>
        </p:spPr>
        <p:txBody>
          <a:bodyPr wrap="square" lIns="0" tIns="0" rIns="0" bIns="0" rtlCol="0" anchor="ctr"/>
          <a:lstStyle/>
          <a:p>
            <a:pPr indent="0" marL="0">
              <a:buNone/>
            </a:pPr>
            <a:r>
              <a:rPr lang="en-US" sz="750" b="1" dirty="0">
                <a:solidFill>
                  <a:srgbClr val="F59E0B"/>
                </a:solidFill>
              </a:rPr>
              <a:t>Gate 3</a:t>
            </a:r>
            <a:endParaRPr lang="en-US" sz="750" dirty="0"/>
          </a:p>
          <a:p>
            <a:pPr indent="0" marL="0">
              <a:buNone/>
            </a:pPr>
            <a:r>
              <a:rPr lang="en-US" sz="750" b="1" dirty="0">
                <a:solidFill>
                  <a:srgbClr val="F59E0B"/>
                </a:solidFill>
              </a:rPr>
              <a:t>Go-live</a:t>
            </a:r>
            <a:endParaRPr lang="en-US" sz="750" dirty="0"/>
          </a:p>
          <a:p>
            <a:pPr indent="0" marL="0">
              <a:buNone/>
            </a:pPr>
            <a:r>
              <a:rPr lang="en-US" sz="750" b="1" dirty="0">
                <a:solidFill>
                  <a:srgbClr val="F59E0B"/>
                </a:solidFill>
              </a:rPr>
              <a:t>5 min</a:t>
            </a:r>
            <a:endParaRPr lang="en-US" sz="750" dirty="0"/>
          </a:p>
        </p:txBody>
      </p:sp>
      <p:sp>
        <p:nvSpPr>
          <p:cNvPr id="65" name="Shape 58"/>
          <p:cNvSpPr/>
          <p:nvPr/>
        </p:nvSpPr>
        <p:spPr>
          <a:xfrm>
            <a:off x="7424928" y="1115568"/>
            <a:ext cx="1261872" cy="960120"/>
          </a:xfrm>
          <a:prstGeom prst="rect">
            <a:avLst/>
          </a:prstGeom>
          <a:solidFill>
            <a:srgbClr val="0D2240"/>
          </a:solidFill>
          <a:ln w="19050">
            <a:solidFill>
              <a:srgbClr val="059669"/>
            </a:solidFill>
            <a:prstDash val="solid"/>
          </a:ln>
          <a:effectLst>
            <a:outerShdw sx="100000" sy="100000" kx="0" ky="0" algn="bl" rotWithShape="0" blurRad="101600" dist="38100" dir="8100000">
              <a:srgbClr val="000000">
                <a:alpha val="10000"/>
              </a:srgbClr>
            </a:outerShdw>
          </a:effectLst>
        </p:spPr>
      </p:sp>
      <p:sp>
        <p:nvSpPr>
          <p:cNvPr id="66" name="Shape 59"/>
          <p:cNvSpPr/>
          <p:nvPr/>
        </p:nvSpPr>
        <p:spPr>
          <a:xfrm>
            <a:off x="7424928" y="1115568"/>
            <a:ext cx="1261872" cy="54864"/>
          </a:xfrm>
          <a:prstGeom prst="rect">
            <a:avLst/>
          </a:prstGeom>
          <a:solidFill>
            <a:srgbClr val="059669"/>
          </a:solidFill>
          <a:ln w="12700">
            <a:solidFill>
              <a:srgbClr val="059669"/>
            </a:solidFill>
            <a:prstDash val="solid"/>
          </a:ln>
        </p:spPr>
      </p:sp>
      <p:sp>
        <p:nvSpPr>
          <p:cNvPr id="67" name="Shape 60"/>
          <p:cNvSpPr/>
          <p:nvPr/>
        </p:nvSpPr>
        <p:spPr>
          <a:xfrm>
            <a:off x="7516368" y="1225296"/>
            <a:ext cx="256032" cy="256032"/>
          </a:xfrm>
          <a:prstGeom prst="ellipse">
            <a:avLst/>
          </a:prstGeom>
          <a:solidFill>
            <a:srgbClr val="059669"/>
          </a:solidFill>
          <a:ln w="12700">
            <a:solidFill>
              <a:srgbClr val="059669"/>
            </a:solidFill>
            <a:prstDash val="solid"/>
          </a:ln>
        </p:spPr>
      </p:sp>
      <p:sp>
        <p:nvSpPr>
          <p:cNvPr id="68" name="Text 61"/>
          <p:cNvSpPr/>
          <p:nvPr/>
        </p:nvSpPr>
        <p:spPr>
          <a:xfrm>
            <a:off x="7516368" y="122529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rPr>
              <a:t>6</a:t>
            </a:r>
            <a:endParaRPr lang="en-US" sz="900" dirty="0"/>
          </a:p>
        </p:txBody>
      </p:sp>
      <p:pic>
        <p:nvPicPr>
          <p:cNvPr id="69" name="Image 5" descr="preencoded.png"/>
          <p:cNvPicPr>
            <a:picLocks noChangeAspect="1"/>
          </p:cNvPicPr>
          <p:nvPr/>
        </p:nvPicPr>
        <p:blipFill>
          <a:blip r:embed="rId6"/>
          <a:stretch>
            <a:fillRect/>
          </a:stretch>
        </p:blipFill>
        <p:spPr>
          <a:xfrm>
            <a:off x="8339328" y="1207008"/>
            <a:ext cx="237744" cy="237744"/>
          </a:xfrm>
          <a:prstGeom prst="rect">
            <a:avLst/>
          </a:prstGeom>
        </p:spPr>
      </p:pic>
      <p:sp>
        <p:nvSpPr>
          <p:cNvPr id="70" name="Text 62"/>
          <p:cNvSpPr/>
          <p:nvPr/>
        </p:nvSpPr>
        <p:spPr>
          <a:xfrm>
            <a:off x="7516368" y="1517904"/>
            <a:ext cx="1078992" cy="292608"/>
          </a:xfrm>
          <a:prstGeom prst="rect">
            <a:avLst/>
          </a:prstGeom>
          <a:noFill/>
          <a:ln/>
        </p:spPr>
        <p:txBody>
          <a:bodyPr wrap="square" lIns="0" tIns="0" rIns="0" bIns="0" rtlCol="0" anchor="ctr"/>
          <a:lstStyle/>
          <a:p>
            <a:pPr indent="0" marL="0">
              <a:buNone/>
            </a:pPr>
            <a:r>
              <a:rPr lang="en-US" sz="850" b="1" dirty="0">
                <a:solidFill>
                  <a:srgbClr val="FFFFFF"/>
                </a:solidFill>
              </a:rPr>
              <a:t>Observability</a:t>
            </a:r>
            <a:endParaRPr lang="en-US" sz="850" dirty="0"/>
          </a:p>
          <a:p>
            <a:pPr indent="0" marL="0">
              <a:buNone/>
            </a:pPr>
            <a:r>
              <a:rPr lang="en-US" sz="850" b="1" dirty="0">
                <a:solidFill>
                  <a:srgbClr val="FFFFFF"/>
                </a:solidFill>
              </a:rPr>
              <a:t>Agent</a:t>
            </a:r>
            <a:endParaRPr lang="en-US" sz="850" dirty="0"/>
          </a:p>
        </p:txBody>
      </p:sp>
      <p:sp>
        <p:nvSpPr>
          <p:cNvPr id="71" name="Text 63"/>
          <p:cNvSpPr/>
          <p:nvPr/>
        </p:nvSpPr>
        <p:spPr>
          <a:xfrm>
            <a:off x="7516368" y="1847088"/>
            <a:ext cx="1078992" cy="182880"/>
          </a:xfrm>
          <a:prstGeom prst="rect">
            <a:avLst/>
          </a:prstGeom>
          <a:noFill/>
          <a:ln/>
        </p:spPr>
        <p:txBody>
          <a:bodyPr wrap="square" lIns="0" tIns="0" rIns="0" bIns="0" rtlCol="0" anchor="ctr"/>
          <a:lstStyle/>
          <a:p>
            <a:pPr indent="0" marL="0">
              <a:buNone/>
            </a:pPr>
            <a:r>
              <a:rPr lang="en-US" sz="800" b="1" dirty="0">
                <a:solidFill>
                  <a:srgbClr val="059669"/>
                </a:solidFill>
              </a:rPr>
              <a:t>T+55m</a:t>
            </a:r>
            <a:endParaRPr lang="en-US" sz="800" dirty="0"/>
          </a:p>
        </p:txBody>
      </p:sp>
      <p:sp>
        <p:nvSpPr>
          <p:cNvPr id="72" name="Shape 64"/>
          <p:cNvSpPr/>
          <p:nvPr/>
        </p:nvSpPr>
        <p:spPr>
          <a:xfrm>
            <a:off x="7424928" y="2121408"/>
            <a:ext cx="1261872" cy="256032"/>
          </a:xfrm>
          <a:prstGeom prst="rect">
            <a:avLst/>
          </a:prstGeom>
          <a:solidFill>
            <a:srgbClr val="091830"/>
          </a:solidFill>
          <a:ln w="12700">
            <a:solidFill>
              <a:srgbClr val="1A3A5C"/>
            </a:solidFill>
            <a:prstDash val="solid"/>
          </a:ln>
        </p:spPr>
      </p:sp>
      <p:sp>
        <p:nvSpPr>
          <p:cNvPr id="73" name="Text 65"/>
          <p:cNvSpPr/>
          <p:nvPr/>
        </p:nvSpPr>
        <p:spPr>
          <a:xfrm>
            <a:off x="7479792" y="2121408"/>
            <a:ext cx="1170432" cy="256032"/>
          </a:xfrm>
          <a:prstGeom prst="rect">
            <a:avLst/>
          </a:prstGeom>
          <a:noFill/>
          <a:ln/>
        </p:spPr>
        <p:txBody>
          <a:bodyPr wrap="square" lIns="0" tIns="0" rIns="0" bIns="0" rtlCol="0" anchor="ctr"/>
          <a:lstStyle/>
          <a:p>
            <a:pPr indent="0" marL="0">
              <a:buNone/>
            </a:pPr>
            <a:r>
              <a:rPr lang="en-US" sz="700" dirty="0">
                <a:solidFill>
                  <a:srgbClr val="94A3B8"/>
                </a:solidFill>
              </a:rPr>
              <a:t>→ DeploymentReceipt</a:t>
            </a:r>
            <a:endParaRPr lang="en-US" sz="700" dirty="0"/>
          </a:p>
        </p:txBody>
      </p:sp>
      <p:sp>
        <p:nvSpPr>
          <p:cNvPr id="74" name="Text 66"/>
          <p:cNvSpPr/>
          <p:nvPr/>
        </p:nvSpPr>
        <p:spPr>
          <a:xfrm>
            <a:off x="7424928" y="2414016"/>
            <a:ext cx="1261872" cy="201168"/>
          </a:xfrm>
          <a:prstGeom prst="rect">
            <a:avLst/>
          </a:prstGeom>
          <a:noFill/>
          <a:ln/>
        </p:spPr>
        <p:txBody>
          <a:bodyPr wrap="square" lIns="0" tIns="0" rIns="0" bIns="0" rtlCol="0" anchor="ctr"/>
          <a:lstStyle/>
          <a:p>
            <a:pPr algn="ctr" indent="0" marL="0">
              <a:buNone/>
            </a:pPr>
            <a:r>
              <a:rPr lang="en-US" sz="750" b="1" dirty="0">
                <a:solidFill>
                  <a:srgbClr val="059669"/>
                </a:solidFill>
              </a:rPr>
              <a:t>Monitoring armed</a:t>
            </a:r>
            <a:endParaRPr lang="en-US" sz="750" dirty="0"/>
          </a:p>
        </p:txBody>
      </p:sp>
      <p:sp>
        <p:nvSpPr>
          <p:cNvPr id="75" name="Shape 67"/>
          <p:cNvSpPr/>
          <p:nvPr/>
        </p:nvSpPr>
        <p:spPr>
          <a:xfrm>
            <a:off x="201168" y="2670048"/>
            <a:ext cx="8741664" cy="219456"/>
          </a:xfrm>
          <a:prstGeom prst="rect">
            <a:avLst/>
          </a:prstGeom>
          <a:solidFill>
            <a:srgbClr val="0A1A38"/>
          </a:solidFill>
          <a:ln w="12700">
            <a:solidFill>
              <a:srgbClr val="0A1A38"/>
            </a:solidFill>
            <a:prstDash val="solid"/>
          </a:ln>
        </p:spPr>
      </p:sp>
      <p:sp>
        <p:nvSpPr>
          <p:cNvPr id="76" name="Text 68"/>
          <p:cNvSpPr/>
          <p:nvPr/>
        </p:nvSpPr>
        <p:spPr>
          <a:xfrm>
            <a:off x="320040" y="2670048"/>
            <a:ext cx="8412480" cy="219456"/>
          </a:xfrm>
          <a:prstGeom prst="rect">
            <a:avLst/>
          </a:prstGeom>
          <a:noFill/>
          <a:ln/>
        </p:spPr>
        <p:txBody>
          <a:bodyPr wrap="square" lIns="0" tIns="0" rIns="0" bIns="0" rtlCol="0" anchor="ctr"/>
          <a:lstStyle/>
          <a:p>
            <a:pPr indent="0" marL="0">
              <a:buNone/>
            </a:pPr>
            <a:r>
              <a:rPr lang="en-US" sz="850" b="1" spc="200" kern="0" dirty="0">
                <a:solidFill>
                  <a:srgbClr val="FFFFFF"/>
                </a:solidFill>
              </a:rPr>
              <a:t>ROLLBACK PATHS — WHAT HAPPENS WHEN EACH FAILURE POINT IS HIT</a:t>
            </a:r>
            <a:endParaRPr lang="en-US" sz="850" dirty="0"/>
          </a:p>
        </p:txBody>
      </p:sp>
      <p:sp>
        <p:nvSpPr>
          <p:cNvPr id="77" name="Shape 69"/>
          <p:cNvSpPr/>
          <p:nvPr/>
        </p:nvSpPr>
        <p:spPr>
          <a:xfrm>
            <a:off x="201168" y="2889504"/>
            <a:ext cx="8741664" cy="219456"/>
          </a:xfrm>
          <a:prstGeom prst="rect">
            <a:avLst/>
          </a:prstGeom>
          <a:solidFill>
            <a:srgbClr val="0F2044"/>
          </a:solidFill>
          <a:ln w="12700">
            <a:solidFill>
              <a:srgbClr val="0F2044"/>
            </a:solidFill>
            <a:prstDash val="solid"/>
          </a:ln>
        </p:spPr>
      </p:sp>
      <p:sp>
        <p:nvSpPr>
          <p:cNvPr id="78" name="Text 70"/>
          <p:cNvSpPr/>
          <p:nvPr/>
        </p:nvSpPr>
        <p:spPr>
          <a:xfrm>
            <a:off x="256032" y="2889504"/>
            <a:ext cx="1426464" cy="219456"/>
          </a:xfrm>
          <a:prstGeom prst="rect">
            <a:avLst/>
          </a:prstGeom>
          <a:noFill/>
          <a:ln/>
        </p:spPr>
        <p:txBody>
          <a:bodyPr wrap="square" lIns="0" tIns="0" rIns="0" bIns="0" rtlCol="0" anchor="ctr"/>
          <a:lstStyle/>
          <a:p>
            <a:pPr indent="0" marL="0">
              <a:buNone/>
            </a:pPr>
            <a:r>
              <a:rPr lang="en-US" sz="750" b="1" dirty="0">
                <a:solidFill>
                  <a:srgbClr val="FFFFFF"/>
                </a:solidFill>
              </a:rPr>
              <a:t>FAILURE TRIGGER</a:t>
            </a:r>
            <a:endParaRPr lang="en-US" sz="750" dirty="0"/>
          </a:p>
        </p:txBody>
      </p:sp>
      <p:sp>
        <p:nvSpPr>
          <p:cNvPr id="79" name="Text 71"/>
          <p:cNvSpPr/>
          <p:nvPr/>
        </p:nvSpPr>
        <p:spPr>
          <a:xfrm>
            <a:off x="1682496" y="2889504"/>
            <a:ext cx="1005840" cy="219456"/>
          </a:xfrm>
          <a:prstGeom prst="rect">
            <a:avLst/>
          </a:prstGeom>
          <a:noFill/>
          <a:ln/>
        </p:spPr>
        <p:txBody>
          <a:bodyPr wrap="square" lIns="0" tIns="0" rIns="0" bIns="0" rtlCol="0" anchor="ctr"/>
          <a:lstStyle/>
          <a:p>
            <a:pPr indent="0" marL="0">
              <a:buNone/>
            </a:pPr>
            <a:r>
              <a:rPr lang="en-US" sz="750" b="1" dirty="0">
                <a:solidFill>
                  <a:srgbClr val="FFFFFF"/>
                </a:solidFill>
              </a:rPr>
              <a:t>PIPELINE POSITION</a:t>
            </a:r>
            <a:endParaRPr lang="en-US" sz="750" dirty="0"/>
          </a:p>
        </p:txBody>
      </p:sp>
      <p:sp>
        <p:nvSpPr>
          <p:cNvPr id="80" name="Text 72"/>
          <p:cNvSpPr/>
          <p:nvPr/>
        </p:nvSpPr>
        <p:spPr>
          <a:xfrm>
            <a:off x="2688336" y="2889504"/>
            <a:ext cx="5961888" cy="219456"/>
          </a:xfrm>
          <a:prstGeom prst="rect">
            <a:avLst/>
          </a:prstGeom>
          <a:noFill/>
          <a:ln/>
        </p:spPr>
        <p:txBody>
          <a:bodyPr wrap="square" lIns="0" tIns="0" rIns="0" bIns="0" rtlCol="0" anchor="ctr"/>
          <a:lstStyle/>
          <a:p>
            <a:pPr indent="0" marL="0">
              <a:buNone/>
            </a:pPr>
            <a:r>
              <a:rPr lang="en-US" sz="750" b="1" dirty="0">
                <a:solidFill>
                  <a:srgbClr val="FFFFFF"/>
                </a:solidFill>
              </a:rPr>
              <a:t>ROLLBACK ACTION + STATE GUARANTEE</a:t>
            </a:r>
            <a:endParaRPr lang="en-US" sz="750" dirty="0"/>
          </a:p>
        </p:txBody>
      </p:sp>
      <p:sp>
        <p:nvSpPr>
          <p:cNvPr id="81" name="Text 73"/>
          <p:cNvSpPr/>
          <p:nvPr/>
        </p:nvSpPr>
        <p:spPr>
          <a:xfrm>
            <a:off x="8650224" y="2889504"/>
            <a:ext cx="274320" cy="219456"/>
          </a:xfrm>
          <a:prstGeom prst="rect">
            <a:avLst/>
          </a:prstGeom>
          <a:noFill/>
          <a:ln/>
        </p:spPr>
        <p:txBody>
          <a:bodyPr wrap="square" lIns="0" tIns="0" rIns="0" bIns="0" rtlCol="0" anchor="ctr"/>
          <a:lstStyle/>
          <a:p>
            <a:pPr indent="0" marL="0">
              <a:buNone/>
            </a:pPr>
            <a:endParaRPr lang="en-US" sz="750" dirty="0"/>
          </a:p>
        </p:txBody>
      </p:sp>
      <p:sp>
        <p:nvSpPr>
          <p:cNvPr id="82" name="Shape 74"/>
          <p:cNvSpPr/>
          <p:nvPr/>
        </p:nvSpPr>
        <p:spPr>
          <a:xfrm>
            <a:off x="201168" y="3108960"/>
            <a:ext cx="8741664" cy="393192"/>
          </a:xfrm>
          <a:prstGeom prst="rect">
            <a:avLst/>
          </a:prstGeom>
          <a:solidFill>
            <a:srgbClr val="0D2240"/>
          </a:solidFill>
          <a:ln w="6350">
            <a:solidFill>
              <a:srgbClr val="1A3A5C"/>
            </a:solidFill>
            <a:prstDash val="solid"/>
          </a:ln>
        </p:spPr>
      </p:sp>
      <p:sp>
        <p:nvSpPr>
          <p:cNvPr id="83" name="Text 75"/>
          <p:cNvSpPr/>
          <p:nvPr/>
        </p:nvSpPr>
        <p:spPr>
          <a:xfrm>
            <a:off x="256032" y="3145536"/>
            <a:ext cx="1335024" cy="329184"/>
          </a:xfrm>
          <a:prstGeom prst="rect">
            <a:avLst/>
          </a:prstGeom>
          <a:noFill/>
          <a:ln/>
        </p:spPr>
        <p:txBody>
          <a:bodyPr wrap="square" lIns="0" tIns="0" rIns="0" bIns="0" rtlCol="0" anchor="ctr"/>
          <a:lstStyle/>
          <a:p>
            <a:pPr indent="0" marL="0">
              <a:buNone/>
            </a:pPr>
            <a:r>
              <a:rPr lang="en-US" sz="750" b="1" dirty="0">
                <a:solidFill>
                  <a:srgbClr val="DC2626"/>
                </a:solidFill>
              </a:rPr>
              <a:t>Gate 1 rejected</a:t>
            </a:r>
            <a:endParaRPr lang="en-US" sz="750" dirty="0"/>
          </a:p>
          <a:p>
            <a:pPr indent="0" marL="0">
              <a:buNone/>
            </a:pPr>
            <a:r>
              <a:rPr lang="en-US" sz="750" b="1" dirty="0">
                <a:solidFill>
                  <a:srgbClr val="DC2626"/>
                </a:solidFill>
              </a:rPr>
              <a:t>(IAM denied)</a:t>
            </a:r>
            <a:endParaRPr lang="en-US" sz="750" dirty="0"/>
          </a:p>
        </p:txBody>
      </p:sp>
      <p:sp>
        <p:nvSpPr>
          <p:cNvPr id="84" name="Text 76"/>
          <p:cNvSpPr/>
          <p:nvPr/>
        </p:nvSpPr>
        <p:spPr>
          <a:xfrm>
            <a:off x="1682496" y="3145536"/>
            <a:ext cx="914400" cy="329184"/>
          </a:xfrm>
          <a:prstGeom prst="rect">
            <a:avLst/>
          </a:prstGeom>
          <a:noFill/>
          <a:ln/>
        </p:spPr>
        <p:txBody>
          <a:bodyPr wrap="square" lIns="0" tIns="0" rIns="0" bIns="0" rtlCol="0" anchor="ctr"/>
          <a:lstStyle/>
          <a:p>
            <a:pPr indent="0" marL="0">
              <a:buNone/>
            </a:pPr>
            <a:r>
              <a:rPr lang="en-US" sz="750" dirty="0">
                <a:solidFill>
                  <a:srgbClr val="94A3B8"/>
                </a:solidFill>
              </a:rPr>
              <a:t>After Agent 1</a:t>
            </a:r>
            <a:endParaRPr lang="en-US" sz="750" dirty="0"/>
          </a:p>
        </p:txBody>
      </p:sp>
      <p:sp>
        <p:nvSpPr>
          <p:cNvPr id="85" name="Text 77"/>
          <p:cNvSpPr/>
          <p:nvPr/>
        </p:nvSpPr>
        <p:spPr>
          <a:xfrm>
            <a:off x="2688336" y="3136392"/>
            <a:ext cx="5870448" cy="365760"/>
          </a:xfrm>
          <a:prstGeom prst="rect">
            <a:avLst/>
          </a:prstGeom>
          <a:noFill/>
          <a:ln/>
        </p:spPr>
        <p:txBody>
          <a:bodyPr wrap="square" lIns="0" tIns="0" rIns="0" bIns="0" rtlCol="0" anchor="ctr"/>
          <a:lstStyle/>
          <a:p>
            <a:pPr indent="0" marL="0">
              <a:buNone/>
            </a:pPr>
            <a:r>
              <a:rPr lang="en-US" sz="750" dirty="0">
                <a:solidFill>
                  <a:srgbClr val="FFFFFF"/>
                </a:solidFill>
              </a:rPr>
              <a:t>Infrastructure agent invokes teardown playbook. All provisioned resources destroyed. Tenant entry removed from control plane. Clean-state guaranteed.</a:t>
            </a:r>
            <a:endParaRPr lang="en-US" sz="750" dirty="0"/>
          </a:p>
        </p:txBody>
      </p:sp>
      <p:sp>
        <p:nvSpPr>
          <p:cNvPr id="86" name="Shape 78"/>
          <p:cNvSpPr/>
          <p:nvPr/>
        </p:nvSpPr>
        <p:spPr>
          <a:xfrm>
            <a:off x="8631936" y="3236976"/>
            <a:ext cx="146304" cy="146304"/>
          </a:xfrm>
          <a:prstGeom prst="ellipse">
            <a:avLst/>
          </a:prstGeom>
          <a:solidFill>
            <a:srgbClr val="059669"/>
          </a:solidFill>
          <a:ln w="12700">
            <a:solidFill>
              <a:srgbClr val="059669"/>
            </a:solidFill>
            <a:prstDash val="solid"/>
          </a:ln>
        </p:spPr>
      </p:sp>
      <p:sp>
        <p:nvSpPr>
          <p:cNvPr id="87" name="Shape 79"/>
          <p:cNvSpPr/>
          <p:nvPr/>
        </p:nvSpPr>
        <p:spPr>
          <a:xfrm>
            <a:off x="201168" y="3502152"/>
            <a:ext cx="8741664" cy="393192"/>
          </a:xfrm>
          <a:prstGeom prst="rect">
            <a:avLst/>
          </a:prstGeom>
          <a:solidFill>
            <a:srgbClr val="091830"/>
          </a:solidFill>
          <a:ln w="6350">
            <a:solidFill>
              <a:srgbClr val="1A3A5C"/>
            </a:solidFill>
            <a:prstDash val="solid"/>
          </a:ln>
        </p:spPr>
      </p:sp>
      <p:sp>
        <p:nvSpPr>
          <p:cNvPr id="88" name="Text 80"/>
          <p:cNvSpPr/>
          <p:nvPr/>
        </p:nvSpPr>
        <p:spPr>
          <a:xfrm>
            <a:off x="256032" y="3538728"/>
            <a:ext cx="1335024" cy="329184"/>
          </a:xfrm>
          <a:prstGeom prst="rect">
            <a:avLst/>
          </a:prstGeom>
          <a:noFill/>
          <a:ln/>
        </p:spPr>
        <p:txBody>
          <a:bodyPr wrap="square" lIns="0" tIns="0" rIns="0" bIns="0" rtlCol="0" anchor="ctr"/>
          <a:lstStyle/>
          <a:p>
            <a:pPr indent="0" marL="0">
              <a:buNone/>
            </a:pPr>
            <a:r>
              <a:rPr lang="en-US" sz="750" b="1" dirty="0">
                <a:solidFill>
                  <a:srgbClr val="DC2626"/>
                </a:solidFill>
              </a:rPr>
              <a:t>Agent 2 data quality</a:t>
            </a:r>
            <a:endParaRPr lang="en-US" sz="750" dirty="0"/>
          </a:p>
          <a:p>
            <a:pPr indent="0" marL="0">
              <a:buNone/>
            </a:pPr>
            <a:r>
              <a:rPr lang="en-US" sz="750" b="1" dirty="0">
                <a:solidFill>
                  <a:srgbClr val="DC2626"/>
                </a:solidFill>
              </a:rPr>
              <a:t>below threshold</a:t>
            </a:r>
            <a:endParaRPr lang="en-US" sz="750" dirty="0"/>
          </a:p>
        </p:txBody>
      </p:sp>
      <p:sp>
        <p:nvSpPr>
          <p:cNvPr id="89" name="Text 81"/>
          <p:cNvSpPr/>
          <p:nvPr/>
        </p:nvSpPr>
        <p:spPr>
          <a:xfrm>
            <a:off x="1682496" y="3538728"/>
            <a:ext cx="914400" cy="329184"/>
          </a:xfrm>
          <a:prstGeom prst="rect">
            <a:avLst/>
          </a:prstGeom>
          <a:noFill/>
          <a:ln/>
        </p:spPr>
        <p:txBody>
          <a:bodyPr wrap="square" lIns="0" tIns="0" rIns="0" bIns="0" rtlCol="0" anchor="ctr"/>
          <a:lstStyle/>
          <a:p>
            <a:pPr indent="0" marL="0">
              <a:buNone/>
            </a:pPr>
            <a:r>
              <a:rPr lang="en-US" sz="750" dirty="0">
                <a:solidFill>
                  <a:srgbClr val="94A3B8"/>
                </a:solidFill>
              </a:rPr>
              <a:t>Before Gate 2</a:t>
            </a:r>
            <a:endParaRPr lang="en-US" sz="750" dirty="0"/>
          </a:p>
        </p:txBody>
      </p:sp>
      <p:sp>
        <p:nvSpPr>
          <p:cNvPr id="90" name="Text 82"/>
          <p:cNvSpPr/>
          <p:nvPr/>
        </p:nvSpPr>
        <p:spPr>
          <a:xfrm>
            <a:off x="2688336" y="3529584"/>
            <a:ext cx="5870448" cy="365760"/>
          </a:xfrm>
          <a:prstGeom prst="rect">
            <a:avLst/>
          </a:prstGeom>
          <a:noFill/>
          <a:ln/>
        </p:spPr>
        <p:txBody>
          <a:bodyPr wrap="square" lIns="0" tIns="0" rIns="0" bIns="0" rtlCol="0" anchor="ctr"/>
          <a:lstStyle/>
          <a:p>
            <a:pPr indent="0" marL="0">
              <a:buNone/>
            </a:pPr>
            <a:r>
              <a:rPr lang="en-US" sz="750" dirty="0">
                <a:solidFill>
                  <a:srgbClr val="FFFFFF"/>
                </a:solidFill>
              </a:rPr>
              <a:t>Pipeline halts. DataQualityReport surfaced to implementation team with gap detail. Agent 1 resources held in standby for 24h. Re-trigger without re-provisioning.</a:t>
            </a:r>
            <a:endParaRPr lang="en-US" sz="750" dirty="0"/>
          </a:p>
        </p:txBody>
      </p:sp>
      <p:sp>
        <p:nvSpPr>
          <p:cNvPr id="91" name="Shape 83"/>
          <p:cNvSpPr/>
          <p:nvPr/>
        </p:nvSpPr>
        <p:spPr>
          <a:xfrm>
            <a:off x="8631936" y="3630168"/>
            <a:ext cx="146304" cy="146304"/>
          </a:xfrm>
          <a:prstGeom prst="ellipse">
            <a:avLst/>
          </a:prstGeom>
          <a:solidFill>
            <a:srgbClr val="059669"/>
          </a:solidFill>
          <a:ln w="12700">
            <a:solidFill>
              <a:srgbClr val="059669"/>
            </a:solidFill>
            <a:prstDash val="solid"/>
          </a:ln>
        </p:spPr>
      </p:sp>
      <p:sp>
        <p:nvSpPr>
          <p:cNvPr id="92" name="Shape 84"/>
          <p:cNvSpPr/>
          <p:nvPr/>
        </p:nvSpPr>
        <p:spPr>
          <a:xfrm>
            <a:off x="201168" y="3895344"/>
            <a:ext cx="8741664" cy="393192"/>
          </a:xfrm>
          <a:prstGeom prst="rect">
            <a:avLst/>
          </a:prstGeom>
          <a:solidFill>
            <a:srgbClr val="0D2240"/>
          </a:solidFill>
          <a:ln w="6350">
            <a:solidFill>
              <a:srgbClr val="1A3A5C"/>
            </a:solidFill>
            <a:prstDash val="solid"/>
          </a:ln>
        </p:spPr>
      </p:sp>
      <p:sp>
        <p:nvSpPr>
          <p:cNvPr id="93" name="Text 85"/>
          <p:cNvSpPr/>
          <p:nvPr/>
        </p:nvSpPr>
        <p:spPr>
          <a:xfrm>
            <a:off x="256032" y="3931920"/>
            <a:ext cx="1335024" cy="329184"/>
          </a:xfrm>
          <a:prstGeom prst="rect">
            <a:avLst/>
          </a:prstGeom>
          <a:noFill/>
          <a:ln/>
        </p:spPr>
        <p:txBody>
          <a:bodyPr wrap="square" lIns="0" tIns="0" rIns="0" bIns="0" rtlCol="0" anchor="ctr"/>
          <a:lstStyle/>
          <a:p>
            <a:pPr indent="0" marL="0">
              <a:buNone/>
            </a:pPr>
            <a:r>
              <a:rPr lang="en-US" sz="750" b="1" dirty="0">
                <a:solidFill>
                  <a:srgbClr val="DC2626"/>
                </a:solidFill>
              </a:rPr>
              <a:t>Gate 2 rejected</a:t>
            </a:r>
            <a:endParaRPr lang="en-US" sz="750" dirty="0"/>
          </a:p>
          <a:p>
            <a:pPr indent="0" marL="0">
              <a:buNone/>
            </a:pPr>
            <a:r>
              <a:rPr lang="en-US" sz="750" b="1" dirty="0">
                <a:solidFill>
                  <a:srgbClr val="DC2626"/>
                </a:solidFill>
              </a:rPr>
              <a:t>(data auth refused)</a:t>
            </a:r>
            <a:endParaRPr lang="en-US" sz="750" dirty="0"/>
          </a:p>
        </p:txBody>
      </p:sp>
      <p:sp>
        <p:nvSpPr>
          <p:cNvPr id="94" name="Text 86"/>
          <p:cNvSpPr/>
          <p:nvPr/>
        </p:nvSpPr>
        <p:spPr>
          <a:xfrm>
            <a:off x="1682496" y="3931920"/>
            <a:ext cx="914400" cy="329184"/>
          </a:xfrm>
          <a:prstGeom prst="rect">
            <a:avLst/>
          </a:prstGeom>
          <a:noFill/>
          <a:ln/>
        </p:spPr>
        <p:txBody>
          <a:bodyPr wrap="square" lIns="0" tIns="0" rIns="0" bIns="0" rtlCol="0" anchor="ctr"/>
          <a:lstStyle/>
          <a:p>
            <a:pPr indent="0" marL="0">
              <a:buNone/>
            </a:pPr>
            <a:r>
              <a:rPr lang="en-US" sz="750" dirty="0">
                <a:solidFill>
                  <a:srgbClr val="94A3B8"/>
                </a:solidFill>
              </a:rPr>
              <a:t>After Agent 2</a:t>
            </a:r>
            <a:endParaRPr lang="en-US" sz="750" dirty="0"/>
          </a:p>
        </p:txBody>
      </p:sp>
      <p:sp>
        <p:nvSpPr>
          <p:cNvPr id="95" name="Text 87"/>
          <p:cNvSpPr/>
          <p:nvPr/>
        </p:nvSpPr>
        <p:spPr>
          <a:xfrm>
            <a:off x="2688336" y="3922776"/>
            <a:ext cx="5870448" cy="365760"/>
          </a:xfrm>
          <a:prstGeom prst="rect">
            <a:avLst/>
          </a:prstGeom>
          <a:noFill/>
          <a:ln/>
        </p:spPr>
        <p:txBody>
          <a:bodyPr wrap="square" lIns="0" tIns="0" rIns="0" bIns="0" rtlCol="0" anchor="ctr"/>
          <a:lstStyle/>
          <a:p>
            <a:pPr indent="0" marL="0">
              <a:buNone/>
            </a:pPr>
            <a:r>
              <a:rPr lang="en-US" sz="750" dirty="0">
                <a:solidFill>
                  <a:srgbClr val="FFFFFF"/>
                </a:solidFill>
              </a:rPr>
              <a:t>Schema mapping discarded. Agent 1 resources held in standby. Tenant remains in provisioned-not-activated state. Can re-trigger data ingestion with corrected credentials.</a:t>
            </a:r>
            <a:endParaRPr lang="en-US" sz="750" dirty="0"/>
          </a:p>
        </p:txBody>
      </p:sp>
      <p:sp>
        <p:nvSpPr>
          <p:cNvPr id="96" name="Shape 88"/>
          <p:cNvSpPr/>
          <p:nvPr/>
        </p:nvSpPr>
        <p:spPr>
          <a:xfrm>
            <a:off x="8631936" y="4023360"/>
            <a:ext cx="146304" cy="146304"/>
          </a:xfrm>
          <a:prstGeom prst="ellipse">
            <a:avLst/>
          </a:prstGeom>
          <a:solidFill>
            <a:srgbClr val="059669"/>
          </a:solidFill>
          <a:ln w="12700">
            <a:solidFill>
              <a:srgbClr val="059669"/>
            </a:solidFill>
            <a:prstDash val="solid"/>
          </a:ln>
        </p:spPr>
      </p:sp>
      <p:sp>
        <p:nvSpPr>
          <p:cNvPr id="97" name="Shape 89"/>
          <p:cNvSpPr/>
          <p:nvPr/>
        </p:nvSpPr>
        <p:spPr>
          <a:xfrm>
            <a:off x="201168" y="4288536"/>
            <a:ext cx="8741664" cy="393192"/>
          </a:xfrm>
          <a:prstGeom prst="rect">
            <a:avLst/>
          </a:prstGeom>
          <a:solidFill>
            <a:srgbClr val="091830"/>
          </a:solidFill>
          <a:ln w="6350">
            <a:solidFill>
              <a:srgbClr val="1A3A5C"/>
            </a:solidFill>
            <a:prstDash val="solid"/>
          </a:ln>
        </p:spPr>
      </p:sp>
      <p:sp>
        <p:nvSpPr>
          <p:cNvPr id="98" name="Text 90"/>
          <p:cNvSpPr/>
          <p:nvPr/>
        </p:nvSpPr>
        <p:spPr>
          <a:xfrm>
            <a:off x="256032" y="4325112"/>
            <a:ext cx="1335024" cy="329184"/>
          </a:xfrm>
          <a:prstGeom prst="rect">
            <a:avLst/>
          </a:prstGeom>
          <a:noFill/>
          <a:ln/>
        </p:spPr>
        <p:txBody>
          <a:bodyPr wrap="square" lIns="0" tIns="0" rIns="0" bIns="0" rtlCol="0" anchor="ctr"/>
          <a:lstStyle/>
          <a:p>
            <a:pPr indent="0" marL="0">
              <a:buNone/>
            </a:pPr>
            <a:r>
              <a:rPr lang="en-US" sz="750" b="1" dirty="0">
                <a:solidFill>
                  <a:srgbClr val="DC2626"/>
                </a:solidFill>
              </a:rPr>
              <a:t>Agent 5 smoke tests</a:t>
            </a:r>
            <a:endParaRPr lang="en-US" sz="750" dirty="0"/>
          </a:p>
          <a:p>
            <a:pPr indent="0" marL="0">
              <a:buNone/>
            </a:pPr>
            <a:r>
              <a:rPr lang="en-US" sz="750" b="1" dirty="0">
                <a:solidFill>
                  <a:srgbClr val="DC2626"/>
                </a:solidFill>
              </a:rPr>
              <a:t>fail (&lt; 24/24)</a:t>
            </a:r>
            <a:endParaRPr lang="en-US" sz="750" dirty="0"/>
          </a:p>
        </p:txBody>
      </p:sp>
      <p:sp>
        <p:nvSpPr>
          <p:cNvPr id="99" name="Text 91"/>
          <p:cNvSpPr/>
          <p:nvPr/>
        </p:nvSpPr>
        <p:spPr>
          <a:xfrm>
            <a:off x="1682496" y="4325112"/>
            <a:ext cx="914400" cy="329184"/>
          </a:xfrm>
          <a:prstGeom prst="rect">
            <a:avLst/>
          </a:prstGeom>
          <a:noFill/>
          <a:ln/>
        </p:spPr>
        <p:txBody>
          <a:bodyPr wrap="square" lIns="0" tIns="0" rIns="0" bIns="0" rtlCol="0" anchor="ctr"/>
          <a:lstStyle/>
          <a:p>
            <a:pPr indent="0" marL="0">
              <a:buNone/>
            </a:pPr>
            <a:r>
              <a:rPr lang="en-US" sz="750" dirty="0">
                <a:solidFill>
                  <a:srgbClr val="94A3B8"/>
                </a:solidFill>
              </a:rPr>
              <a:t>After Agent 4</a:t>
            </a:r>
            <a:endParaRPr lang="en-US" sz="750" dirty="0"/>
          </a:p>
        </p:txBody>
      </p:sp>
      <p:sp>
        <p:nvSpPr>
          <p:cNvPr id="100" name="Text 92"/>
          <p:cNvSpPr/>
          <p:nvPr/>
        </p:nvSpPr>
        <p:spPr>
          <a:xfrm>
            <a:off x="2688336" y="4315968"/>
            <a:ext cx="5870448" cy="365760"/>
          </a:xfrm>
          <a:prstGeom prst="rect">
            <a:avLst/>
          </a:prstGeom>
          <a:noFill/>
          <a:ln/>
        </p:spPr>
        <p:txBody>
          <a:bodyPr wrap="square" lIns="0" tIns="0" rIns="0" bIns="0" rtlCol="0" anchor="ctr"/>
          <a:lstStyle/>
          <a:p>
            <a:pPr indent="0" marL="0">
              <a:buNone/>
            </a:pPr>
            <a:r>
              <a:rPr lang="en-US" sz="750" dirty="0">
                <a:solidFill>
                  <a:srgbClr val="FFFFFF"/>
                </a:solidFill>
              </a:rPr>
              <a:t>Activation agent invoked in reverse — feature flags disabled, clustering seed cleared, base model weights reset. Tenant returned to pre-activation state. Rollback hook confirmed before Gate 3.</a:t>
            </a:r>
            <a:endParaRPr lang="en-US" sz="750" dirty="0"/>
          </a:p>
        </p:txBody>
      </p:sp>
      <p:sp>
        <p:nvSpPr>
          <p:cNvPr id="101" name="Shape 93"/>
          <p:cNvSpPr/>
          <p:nvPr/>
        </p:nvSpPr>
        <p:spPr>
          <a:xfrm>
            <a:off x="8631936" y="4416552"/>
            <a:ext cx="146304" cy="146304"/>
          </a:xfrm>
          <a:prstGeom prst="ellipse">
            <a:avLst/>
          </a:prstGeom>
          <a:solidFill>
            <a:srgbClr val="F59E0B"/>
          </a:solidFill>
          <a:ln w="12700">
            <a:solidFill>
              <a:srgbClr val="F59E0B"/>
            </a:solidFill>
            <a:prstDash val="solid"/>
          </a:ln>
        </p:spPr>
      </p:sp>
      <p:sp>
        <p:nvSpPr>
          <p:cNvPr id="102" name="Shape 94"/>
          <p:cNvSpPr/>
          <p:nvPr/>
        </p:nvSpPr>
        <p:spPr>
          <a:xfrm>
            <a:off x="201168" y="4681728"/>
            <a:ext cx="8741664" cy="393192"/>
          </a:xfrm>
          <a:prstGeom prst="rect">
            <a:avLst/>
          </a:prstGeom>
          <a:solidFill>
            <a:srgbClr val="0D2240"/>
          </a:solidFill>
          <a:ln w="6350">
            <a:solidFill>
              <a:srgbClr val="1A3A5C"/>
            </a:solidFill>
            <a:prstDash val="solid"/>
          </a:ln>
        </p:spPr>
      </p:sp>
      <p:sp>
        <p:nvSpPr>
          <p:cNvPr id="103" name="Text 95"/>
          <p:cNvSpPr/>
          <p:nvPr/>
        </p:nvSpPr>
        <p:spPr>
          <a:xfrm>
            <a:off x="256032" y="4718304"/>
            <a:ext cx="1335024" cy="329184"/>
          </a:xfrm>
          <a:prstGeom prst="rect">
            <a:avLst/>
          </a:prstGeom>
          <a:noFill/>
          <a:ln/>
        </p:spPr>
        <p:txBody>
          <a:bodyPr wrap="square" lIns="0" tIns="0" rIns="0" bIns="0" rtlCol="0" anchor="ctr"/>
          <a:lstStyle/>
          <a:p>
            <a:pPr indent="0" marL="0">
              <a:buNone/>
            </a:pPr>
            <a:r>
              <a:rPr lang="en-US" sz="750" b="1" dirty="0">
                <a:solidFill>
                  <a:srgbClr val="DC2626"/>
                </a:solidFill>
              </a:rPr>
              <a:t>Gate 3 rejected</a:t>
            </a:r>
            <a:endParaRPr lang="en-US" sz="750" dirty="0"/>
          </a:p>
          <a:p>
            <a:pPr indent="0" marL="0">
              <a:buNone/>
            </a:pPr>
            <a:r>
              <a:rPr lang="en-US" sz="750" b="1" dirty="0">
                <a:solidFill>
                  <a:srgbClr val="DC2626"/>
                </a:solidFill>
              </a:rPr>
              <a:t>(go-live declined)</a:t>
            </a:r>
            <a:endParaRPr lang="en-US" sz="750" dirty="0"/>
          </a:p>
        </p:txBody>
      </p:sp>
      <p:sp>
        <p:nvSpPr>
          <p:cNvPr id="104" name="Text 96"/>
          <p:cNvSpPr/>
          <p:nvPr/>
        </p:nvSpPr>
        <p:spPr>
          <a:xfrm>
            <a:off x="1682496" y="4718304"/>
            <a:ext cx="914400" cy="329184"/>
          </a:xfrm>
          <a:prstGeom prst="rect">
            <a:avLst/>
          </a:prstGeom>
          <a:noFill/>
          <a:ln/>
        </p:spPr>
        <p:txBody>
          <a:bodyPr wrap="square" lIns="0" tIns="0" rIns="0" bIns="0" rtlCol="0" anchor="ctr"/>
          <a:lstStyle/>
          <a:p>
            <a:pPr indent="0" marL="0">
              <a:buNone/>
            </a:pPr>
            <a:r>
              <a:rPr lang="en-US" sz="750" dirty="0">
                <a:solidFill>
                  <a:srgbClr val="94A3B8"/>
                </a:solidFill>
              </a:rPr>
              <a:t>After Agent 5</a:t>
            </a:r>
            <a:endParaRPr lang="en-US" sz="750" dirty="0"/>
          </a:p>
        </p:txBody>
      </p:sp>
      <p:sp>
        <p:nvSpPr>
          <p:cNvPr id="105" name="Text 97"/>
          <p:cNvSpPr/>
          <p:nvPr/>
        </p:nvSpPr>
        <p:spPr>
          <a:xfrm>
            <a:off x="2688336" y="4709160"/>
            <a:ext cx="5870448" cy="365760"/>
          </a:xfrm>
          <a:prstGeom prst="rect">
            <a:avLst/>
          </a:prstGeom>
          <a:noFill/>
          <a:ln/>
        </p:spPr>
        <p:txBody>
          <a:bodyPr wrap="square" lIns="0" tIns="0" rIns="0" bIns="0" rtlCol="0" anchor="ctr"/>
          <a:lstStyle/>
          <a:p>
            <a:pPr indent="0" marL="0">
              <a:buNone/>
            </a:pPr>
            <a:r>
              <a:rPr lang="en-US" sz="750" dirty="0">
                <a:solidFill>
                  <a:srgbClr val="FFFFFF"/>
                </a:solidFill>
              </a:rPr>
              <a:t>Tenant stays in verified-not-live state. All resources held. Implementation team can remediate and re-trigger Gate 3 without re-running any prior agents. State artifacts still valid.</a:t>
            </a:r>
            <a:endParaRPr lang="en-US" sz="750" dirty="0"/>
          </a:p>
        </p:txBody>
      </p:sp>
      <p:sp>
        <p:nvSpPr>
          <p:cNvPr id="106" name="Shape 98"/>
          <p:cNvSpPr/>
          <p:nvPr/>
        </p:nvSpPr>
        <p:spPr>
          <a:xfrm>
            <a:off x="8631936" y="4809744"/>
            <a:ext cx="146304" cy="146304"/>
          </a:xfrm>
          <a:prstGeom prst="ellipse">
            <a:avLst/>
          </a:prstGeom>
          <a:solidFill>
            <a:srgbClr val="059669"/>
          </a:solidFill>
          <a:ln w="12700">
            <a:solidFill>
              <a:srgbClr val="059669"/>
            </a:solidFill>
            <a:prstDash val="solid"/>
          </a:ln>
        </p:spPr>
      </p:sp>
      <p:sp>
        <p:nvSpPr>
          <p:cNvPr id="107" name="Shape 99"/>
          <p:cNvSpPr/>
          <p:nvPr/>
        </p:nvSpPr>
        <p:spPr>
          <a:xfrm>
            <a:off x="201168" y="5093208"/>
            <a:ext cx="128016" cy="128016"/>
          </a:xfrm>
          <a:prstGeom prst="ellipse">
            <a:avLst/>
          </a:prstGeom>
          <a:solidFill>
            <a:srgbClr val="059669"/>
          </a:solidFill>
          <a:ln w="12700">
            <a:solidFill>
              <a:srgbClr val="059669"/>
            </a:solidFill>
            <a:prstDash val="solid"/>
          </a:ln>
        </p:spPr>
      </p:sp>
      <p:sp>
        <p:nvSpPr>
          <p:cNvPr id="108" name="Text 100"/>
          <p:cNvSpPr/>
          <p:nvPr/>
        </p:nvSpPr>
        <p:spPr>
          <a:xfrm>
            <a:off x="384048" y="5056632"/>
            <a:ext cx="1645920" cy="201168"/>
          </a:xfrm>
          <a:prstGeom prst="rect">
            <a:avLst/>
          </a:prstGeom>
          <a:noFill/>
          <a:ln/>
        </p:spPr>
        <p:txBody>
          <a:bodyPr wrap="square" lIns="0" tIns="0" rIns="0" bIns="0" rtlCol="0" anchor="ctr"/>
          <a:lstStyle/>
          <a:p>
            <a:pPr indent="0" marL="0">
              <a:buNone/>
            </a:pPr>
            <a:r>
              <a:rPr lang="en-US" sz="750" dirty="0">
                <a:solidFill>
                  <a:srgbClr val="94A3B8"/>
                </a:solidFill>
              </a:rPr>
              <a:t>Clean-state guaranteed</a:t>
            </a:r>
            <a:endParaRPr lang="en-US" sz="750" dirty="0"/>
          </a:p>
        </p:txBody>
      </p:sp>
      <p:sp>
        <p:nvSpPr>
          <p:cNvPr id="109" name="Shape 101"/>
          <p:cNvSpPr/>
          <p:nvPr/>
        </p:nvSpPr>
        <p:spPr>
          <a:xfrm>
            <a:off x="2121408" y="5093208"/>
            <a:ext cx="128016" cy="128016"/>
          </a:xfrm>
          <a:prstGeom prst="ellipse">
            <a:avLst/>
          </a:prstGeom>
          <a:solidFill>
            <a:srgbClr val="F59E0B"/>
          </a:solidFill>
          <a:ln w="12700">
            <a:solidFill>
              <a:srgbClr val="F59E0B"/>
            </a:solidFill>
            <a:prstDash val="solid"/>
          </a:ln>
        </p:spPr>
      </p:sp>
      <p:sp>
        <p:nvSpPr>
          <p:cNvPr id="110" name="Text 102"/>
          <p:cNvSpPr/>
          <p:nvPr/>
        </p:nvSpPr>
        <p:spPr>
          <a:xfrm>
            <a:off x="2304288" y="5056632"/>
            <a:ext cx="3200400" cy="201168"/>
          </a:xfrm>
          <a:prstGeom prst="rect">
            <a:avLst/>
          </a:prstGeom>
          <a:noFill/>
          <a:ln/>
        </p:spPr>
        <p:txBody>
          <a:bodyPr wrap="square" lIns="0" tIns="0" rIns="0" bIns="0" rtlCol="0" anchor="ctr"/>
          <a:lstStyle/>
          <a:p>
            <a:pPr indent="0" marL="0">
              <a:buNone/>
            </a:pPr>
            <a:r>
              <a:rPr lang="en-US" sz="750" dirty="0">
                <a:solidFill>
                  <a:srgbClr val="94A3B8"/>
                </a:solidFill>
              </a:rPr>
              <a:t>Partial rollback — manual remediation step required</a:t>
            </a:r>
            <a:endParaRPr lang="en-US" sz="750" dirty="0"/>
          </a:p>
        </p:txBody>
      </p:sp>
      <p:sp>
        <p:nvSpPr>
          <p:cNvPr id="111" name="Text 103"/>
          <p:cNvSpPr/>
          <p:nvPr/>
        </p:nvSpPr>
        <p:spPr>
          <a:xfrm>
            <a:off x="5577840" y="5029200"/>
            <a:ext cx="3364992" cy="256032"/>
          </a:xfrm>
          <a:prstGeom prst="rect">
            <a:avLst/>
          </a:prstGeom>
          <a:noFill/>
          <a:ln/>
        </p:spPr>
        <p:txBody>
          <a:bodyPr wrap="square" lIns="0" tIns="0" rIns="0" bIns="0" rtlCol="0" anchor="ctr"/>
          <a:lstStyle/>
          <a:p>
            <a:pPr indent="0" marL="0">
              <a:buNone/>
            </a:pPr>
            <a:r>
              <a:rPr lang="en-US" sz="750" b="1" dirty="0">
                <a:solidFill>
                  <a:srgbClr val="0D7377"/>
                </a:solidFill>
              </a:rPr>
              <a:t>IDEMPOTENCY GUARANTEE: Every sub-agent is safe to re-run. Re-triggering after any failure will not duplicate resources, corrupt state, or affect live tenants.</a:t>
            </a:r>
            <a:endParaRPr lang="en-US" sz="7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F2044"/>
          </a:solidFill>
          <a:ln w="12700">
            <a:solidFill>
              <a:srgbClr val="0F2044"/>
            </a:solidFill>
            <a:prstDash val="solid"/>
          </a:ln>
        </p:spPr>
      </p:sp>
      <p:sp>
        <p:nvSpPr>
          <p:cNvPr id="3" name="Shape 1"/>
          <p:cNvSpPr/>
          <p:nvPr/>
        </p:nvSpPr>
        <p:spPr>
          <a:xfrm>
            <a:off x="0" y="0"/>
            <a:ext cx="292608" cy="658368"/>
          </a:xfrm>
          <a:prstGeom prst="rect">
            <a:avLst/>
          </a:prstGeom>
          <a:solidFill>
            <a:srgbClr val="0D7377"/>
          </a:solidFill>
          <a:ln w="12700">
            <a:solidFill>
              <a:srgbClr val="0D7377"/>
            </a:solidFill>
            <a:prstDash val="solid"/>
          </a:ln>
        </p:spPr>
      </p:sp>
      <p:sp>
        <p:nvSpPr>
          <p:cNvPr id="4" name="Text 2"/>
          <p:cNvSpPr/>
          <p:nvPr/>
        </p:nvSpPr>
        <p:spPr>
          <a:xfrm>
            <a:off x="420624" y="0"/>
            <a:ext cx="5486400" cy="329184"/>
          </a:xfrm>
          <a:prstGeom prst="rect">
            <a:avLst/>
          </a:prstGeom>
          <a:noFill/>
          <a:ln/>
        </p:spPr>
        <p:txBody>
          <a:bodyPr wrap="square" lIns="0" tIns="0" rIns="0" bIns="0" rtlCol="0" anchor="b"/>
          <a:lstStyle/>
          <a:p>
            <a:pPr indent="0" marL="0">
              <a:buNone/>
            </a:pPr>
            <a:r>
              <a:rPr lang="en-US" sz="750" b="1" spc="200" kern="0" dirty="0">
                <a:solidFill>
                  <a:srgbClr val="94A3B8"/>
                </a:solidFill>
              </a:rPr>
              <a:t>APPENDIX  ·  DEPLOYMENT AGENT</a:t>
            </a:r>
            <a:endParaRPr lang="en-US" sz="750" dirty="0"/>
          </a:p>
        </p:txBody>
      </p:sp>
      <p:sp>
        <p:nvSpPr>
          <p:cNvPr id="5" name="Text 3"/>
          <p:cNvSpPr/>
          <p:nvPr/>
        </p:nvSpPr>
        <p:spPr>
          <a:xfrm>
            <a:off x="420624" y="320040"/>
            <a:ext cx="7315200" cy="310896"/>
          </a:xfrm>
          <a:prstGeom prst="rect">
            <a:avLst/>
          </a:prstGeom>
          <a:noFill/>
          <a:ln/>
        </p:spPr>
        <p:txBody>
          <a:bodyPr wrap="square" lIns="0" tIns="0" rIns="0" bIns="0" rtlCol="0" anchor="t"/>
          <a:lstStyle/>
          <a:p>
            <a:pPr indent="0" marL="0">
              <a:buNone/>
            </a:pPr>
            <a:r>
              <a:rPr lang="en-US" sz="1200" b="1" dirty="0">
                <a:solidFill>
                  <a:srgbClr val="FFFFFF"/>
                </a:solidFill>
              </a:rPr>
              <a:t>DEPLOY-02  ·  Sub-Agent Specifications</a:t>
            </a:r>
            <a:endParaRPr lang="en-US" sz="1200" dirty="0"/>
          </a:p>
        </p:txBody>
      </p:sp>
      <p:sp>
        <p:nvSpPr>
          <p:cNvPr id="6" name="Text 4"/>
          <p:cNvSpPr/>
          <p:nvPr/>
        </p:nvSpPr>
        <p:spPr>
          <a:xfrm>
            <a:off x="7772400" y="0"/>
            <a:ext cx="1188720" cy="658368"/>
          </a:xfrm>
          <a:prstGeom prst="rect">
            <a:avLst/>
          </a:prstGeom>
          <a:noFill/>
          <a:ln/>
        </p:spPr>
        <p:txBody>
          <a:bodyPr wrap="square" lIns="0" tIns="0" rIns="0" bIns="0" rtlCol="0" anchor="ctr"/>
          <a:lstStyle/>
          <a:p>
            <a:pPr algn="r" indent="0" marL="0">
              <a:buNone/>
            </a:pPr>
            <a:r>
              <a:rPr lang="en-US" sz="900" dirty="0">
                <a:solidFill>
                  <a:srgbClr val="94A3B8"/>
                </a:solidFill>
              </a:rPr>
              <a:t>DEPLOY-02</a:t>
            </a:r>
            <a:endParaRPr lang="en-US" sz="900" dirty="0"/>
          </a:p>
        </p:txBody>
      </p:sp>
      <p:sp>
        <p:nvSpPr>
          <p:cNvPr id="7" name="Shape 5"/>
          <p:cNvSpPr/>
          <p:nvPr/>
        </p:nvSpPr>
        <p:spPr>
          <a:xfrm>
            <a:off x="201168" y="768096"/>
            <a:ext cx="4279392" cy="141732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8" name="Shape 6"/>
          <p:cNvSpPr/>
          <p:nvPr/>
        </p:nvSpPr>
        <p:spPr>
          <a:xfrm>
            <a:off x="201168" y="768096"/>
            <a:ext cx="4279392" cy="54864"/>
          </a:xfrm>
          <a:prstGeom prst="rect">
            <a:avLst/>
          </a:prstGeom>
          <a:solidFill>
            <a:srgbClr val="0D7377"/>
          </a:solidFill>
          <a:ln w="12700">
            <a:solidFill>
              <a:srgbClr val="0D7377"/>
            </a:solidFill>
            <a:prstDash val="solid"/>
          </a:ln>
        </p:spPr>
      </p:sp>
      <p:sp>
        <p:nvSpPr>
          <p:cNvPr id="9" name="Shape 7"/>
          <p:cNvSpPr/>
          <p:nvPr/>
        </p:nvSpPr>
        <p:spPr>
          <a:xfrm>
            <a:off x="310896" y="877824"/>
            <a:ext cx="256032" cy="256032"/>
          </a:xfrm>
          <a:prstGeom prst="ellipse">
            <a:avLst/>
          </a:prstGeom>
          <a:solidFill>
            <a:srgbClr val="0D7377"/>
          </a:solidFill>
          <a:ln w="12700">
            <a:solidFill>
              <a:srgbClr val="0D7377"/>
            </a:solidFill>
            <a:prstDash val="solid"/>
          </a:ln>
        </p:spPr>
      </p:sp>
      <p:sp>
        <p:nvSpPr>
          <p:cNvPr id="10" name="Text 8"/>
          <p:cNvSpPr/>
          <p:nvPr/>
        </p:nvSpPr>
        <p:spPr>
          <a:xfrm>
            <a:off x="310896" y="877824"/>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rPr>
              <a:t>1</a:t>
            </a:r>
            <a:endParaRPr lang="en-US" sz="900" dirty="0"/>
          </a:p>
        </p:txBody>
      </p:sp>
      <p:pic>
        <p:nvPicPr>
          <p:cNvPr id="11" name="Image 0" descr="preencoded.png"/>
          <p:cNvPicPr>
            <a:picLocks noChangeAspect="1"/>
          </p:cNvPicPr>
          <p:nvPr/>
        </p:nvPicPr>
        <p:blipFill>
          <a:blip r:embed="rId1"/>
          <a:stretch>
            <a:fillRect/>
          </a:stretch>
        </p:blipFill>
        <p:spPr>
          <a:xfrm>
            <a:off x="4133088" y="859536"/>
            <a:ext cx="237744" cy="237744"/>
          </a:xfrm>
          <a:prstGeom prst="rect">
            <a:avLst/>
          </a:prstGeom>
        </p:spPr>
      </p:pic>
      <p:sp>
        <p:nvSpPr>
          <p:cNvPr id="12" name="Text 9"/>
          <p:cNvSpPr/>
          <p:nvPr/>
        </p:nvSpPr>
        <p:spPr>
          <a:xfrm>
            <a:off x="640080" y="877824"/>
            <a:ext cx="3401568" cy="256032"/>
          </a:xfrm>
          <a:prstGeom prst="rect">
            <a:avLst/>
          </a:prstGeom>
          <a:noFill/>
          <a:ln/>
        </p:spPr>
        <p:txBody>
          <a:bodyPr wrap="square" lIns="0" tIns="0" rIns="0" bIns="0" rtlCol="0" anchor="ctr"/>
          <a:lstStyle/>
          <a:p>
            <a:pPr indent="0" marL="0">
              <a:buNone/>
            </a:pPr>
            <a:r>
              <a:rPr lang="en-US" sz="1050" b="1" dirty="0">
                <a:solidFill>
                  <a:srgbClr val="0F2044"/>
                </a:solidFill>
              </a:rPr>
              <a:t>Infrastructure Agent</a:t>
            </a:r>
            <a:endParaRPr lang="en-US" sz="1050" dirty="0"/>
          </a:p>
        </p:txBody>
      </p:sp>
      <p:sp>
        <p:nvSpPr>
          <p:cNvPr id="13" name="Shape 10"/>
          <p:cNvSpPr/>
          <p:nvPr/>
        </p:nvSpPr>
        <p:spPr>
          <a:xfrm>
            <a:off x="640080" y="1152144"/>
            <a:ext cx="3749040" cy="164592"/>
          </a:xfrm>
          <a:prstGeom prst="rect">
            <a:avLst/>
          </a:prstGeom>
          <a:solidFill>
            <a:srgbClr val="F7F9FC"/>
          </a:solidFill>
          <a:ln w="12700">
            <a:solidFill>
              <a:srgbClr val="E2E8F0"/>
            </a:solidFill>
            <a:prstDash val="solid"/>
          </a:ln>
        </p:spPr>
      </p:sp>
      <p:sp>
        <p:nvSpPr>
          <p:cNvPr id="14" name="Text 11"/>
          <p:cNvSpPr/>
          <p:nvPr/>
        </p:nvSpPr>
        <p:spPr>
          <a:xfrm>
            <a:off x="694944" y="1152144"/>
            <a:ext cx="3712464" cy="164592"/>
          </a:xfrm>
          <a:prstGeom prst="rect">
            <a:avLst/>
          </a:prstGeom>
          <a:noFill/>
          <a:ln/>
        </p:spPr>
        <p:txBody>
          <a:bodyPr wrap="square" lIns="0" tIns="0" rIns="0" bIns="0" rtlCol="0" anchor="ctr"/>
          <a:lstStyle/>
          <a:p>
            <a:pPr indent="0" marL="0">
              <a:buNone/>
            </a:pPr>
            <a:r>
              <a:rPr lang="en-US" sz="750" b="1" dirty="0">
                <a:solidFill>
                  <a:srgbClr val="334155"/>
                </a:solidFill>
              </a:rPr>
              <a:t xml:space="preserve">Layer: </a:t>
            </a:r>
            <a:pPr indent="0" marL="0">
              <a:buNone/>
            </a:pPr>
            <a:r>
              <a:rPr lang="en-US" sz="750" dirty="0">
                <a:solidFill>
                  <a:srgbClr val="0D7377"/>
                </a:solidFill>
              </a:rPr>
              <a:t>Core / Control plane</a:t>
            </a:r>
            <a:endParaRPr lang="en-US" sz="750" dirty="0"/>
          </a:p>
        </p:txBody>
      </p:sp>
      <p:sp>
        <p:nvSpPr>
          <p:cNvPr id="15" name="Text 12"/>
          <p:cNvSpPr/>
          <p:nvPr/>
        </p:nvSpPr>
        <p:spPr>
          <a:xfrm>
            <a:off x="310896" y="1353312"/>
            <a:ext cx="1975104" cy="365760"/>
          </a:xfrm>
          <a:prstGeom prst="rect">
            <a:avLst/>
          </a:prstGeom>
          <a:noFill/>
          <a:ln/>
        </p:spPr>
        <p:txBody>
          <a:bodyPr wrap="square" lIns="0" tIns="0" rIns="0" bIns="0" rtlCol="0" anchor="ctr"/>
          <a:lstStyle/>
          <a:p>
            <a:pPr indent="0" marL="0">
              <a:buNone/>
            </a:pPr>
            <a:r>
              <a:rPr lang="en-US" sz="700" b="1" dirty="0">
                <a:solidFill>
                  <a:srgbClr val="334155"/>
                </a:solidFill>
              </a:rPr>
              <a:t xml:space="preserve">INPUTS  </a:t>
            </a:r>
            <a:pPr indent="0" marL="0">
              <a:buNone/>
            </a:pPr>
            <a:r>
              <a:rPr lang="en-US" sz="700" dirty="0">
                <a:solidFill>
                  <a:srgbClr val="64748B"/>
                </a:solidFill>
              </a:rPr>
              <a:t>Control plane API · IaC template library · IAM role scope (provisioning only)</a:t>
            </a:r>
            <a:endParaRPr lang="en-US" sz="700" dirty="0"/>
          </a:p>
        </p:txBody>
      </p:sp>
      <p:sp>
        <p:nvSpPr>
          <p:cNvPr id="16" name="Text 13"/>
          <p:cNvSpPr/>
          <p:nvPr/>
        </p:nvSpPr>
        <p:spPr>
          <a:xfrm>
            <a:off x="2395728" y="1353312"/>
            <a:ext cx="1975104" cy="365760"/>
          </a:xfrm>
          <a:prstGeom prst="rect">
            <a:avLst/>
          </a:prstGeom>
          <a:noFill/>
          <a:ln/>
        </p:spPr>
        <p:txBody>
          <a:bodyPr wrap="square" lIns="0" tIns="0" rIns="0" bIns="0" rtlCol="0" anchor="ctr"/>
          <a:lstStyle/>
          <a:p>
            <a:pPr indent="0" marL="0">
              <a:buNone/>
            </a:pPr>
            <a:r>
              <a:rPr lang="en-US" sz="700" b="1" dirty="0">
                <a:solidFill>
                  <a:srgbClr val="334155"/>
                </a:solidFill>
              </a:rPr>
              <a:t xml:space="preserve">OUTPUTS  </a:t>
            </a:r>
            <a:pPr indent="0" marL="0">
              <a:buNone/>
            </a:pPr>
            <a:r>
              <a:rPr lang="en-US" sz="700" dirty="0">
                <a:solidFill>
                  <a:srgbClr val="64748B"/>
                </a:solidFill>
              </a:rPr>
              <a:t>TenantProvisionReceipt: tenant_id, namespace, container registry entry, isolated extension container, base model slot allocated</a:t>
            </a:r>
            <a:endParaRPr lang="en-US" sz="700" dirty="0"/>
          </a:p>
        </p:txBody>
      </p:sp>
      <p:sp>
        <p:nvSpPr>
          <p:cNvPr id="17" name="Text 14"/>
          <p:cNvSpPr/>
          <p:nvPr/>
        </p:nvSpPr>
        <p:spPr>
          <a:xfrm>
            <a:off x="310896" y="1755648"/>
            <a:ext cx="1975104" cy="365760"/>
          </a:xfrm>
          <a:prstGeom prst="rect">
            <a:avLst/>
          </a:prstGeom>
          <a:noFill/>
          <a:ln/>
        </p:spPr>
        <p:txBody>
          <a:bodyPr wrap="square" lIns="0" tIns="0" rIns="0" bIns="0" rtlCol="0" anchor="ctr"/>
          <a:lstStyle/>
          <a:p>
            <a:pPr indent="0" marL="0">
              <a:buNone/>
            </a:pPr>
            <a:r>
              <a:rPr lang="en-US" sz="700" b="1" dirty="0">
                <a:solidFill>
                  <a:srgbClr val="334155"/>
                </a:solidFill>
              </a:rPr>
              <a:t xml:space="preserve">OWNS  </a:t>
            </a:r>
            <a:pPr indent="0" marL="0">
              <a:buNone/>
            </a:pPr>
            <a:r>
              <a:rPr lang="en-US" sz="700" dirty="0">
                <a:solidFill>
                  <a:srgbClr val="64748B"/>
                </a:solidFill>
              </a:rPr>
              <a:t>Only sub-agent with infra credentials. Elevated scope scoped strictly to provisioning. Cannot read or write tenant data. Teardown playbook embedded — invoked on Gate 1 rejection.</a:t>
            </a:r>
            <a:endParaRPr lang="en-US" sz="700" dirty="0"/>
          </a:p>
        </p:txBody>
      </p:sp>
      <p:sp>
        <p:nvSpPr>
          <p:cNvPr id="18" name="Text 15"/>
          <p:cNvSpPr/>
          <p:nvPr/>
        </p:nvSpPr>
        <p:spPr>
          <a:xfrm>
            <a:off x="2395728" y="1755648"/>
            <a:ext cx="1975104" cy="365760"/>
          </a:xfrm>
          <a:prstGeom prst="rect">
            <a:avLst/>
          </a:prstGeom>
          <a:noFill/>
          <a:ln/>
        </p:spPr>
        <p:txBody>
          <a:bodyPr wrap="square" lIns="0" tIns="0" rIns="0" bIns="0" rtlCol="0" anchor="ctr"/>
          <a:lstStyle/>
          <a:p>
            <a:pPr indent="0" marL="0">
              <a:buNone/>
            </a:pPr>
            <a:r>
              <a:rPr lang="en-US" sz="700" b="1" dirty="0">
                <a:solidFill>
                  <a:srgbClr val="DC2626"/>
                </a:solidFill>
              </a:rPr>
              <a:t xml:space="preserve">ON FAIL  </a:t>
            </a:r>
            <a:pPr indent="0" marL="0">
              <a:buNone/>
            </a:pPr>
            <a:r>
              <a:rPr lang="en-US" sz="700" dirty="0">
                <a:solidFill>
                  <a:srgbClr val="64748B"/>
                </a:solidFill>
              </a:rPr>
              <a:t>IaC apply fails → retry × 2 with exponential backoff → halt + clean teardown. Never leaves partial infra.</a:t>
            </a:r>
            <a:endParaRPr lang="en-US" sz="700" dirty="0"/>
          </a:p>
        </p:txBody>
      </p:sp>
      <p:sp>
        <p:nvSpPr>
          <p:cNvPr id="19" name="Shape 16"/>
          <p:cNvSpPr/>
          <p:nvPr/>
        </p:nvSpPr>
        <p:spPr>
          <a:xfrm>
            <a:off x="4681728" y="768096"/>
            <a:ext cx="4279392" cy="141732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20" name="Shape 17"/>
          <p:cNvSpPr/>
          <p:nvPr/>
        </p:nvSpPr>
        <p:spPr>
          <a:xfrm>
            <a:off x="4681728" y="768096"/>
            <a:ext cx="4279392" cy="54864"/>
          </a:xfrm>
          <a:prstGeom prst="rect">
            <a:avLst/>
          </a:prstGeom>
          <a:solidFill>
            <a:srgbClr val="0D7377"/>
          </a:solidFill>
          <a:ln w="12700">
            <a:solidFill>
              <a:srgbClr val="0D7377"/>
            </a:solidFill>
            <a:prstDash val="solid"/>
          </a:ln>
        </p:spPr>
      </p:sp>
      <p:sp>
        <p:nvSpPr>
          <p:cNvPr id="21" name="Shape 18"/>
          <p:cNvSpPr/>
          <p:nvPr/>
        </p:nvSpPr>
        <p:spPr>
          <a:xfrm>
            <a:off x="4791456" y="877824"/>
            <a:ext cx="256032" cy="256032"/>
          </a:xfrm>
          <a:prstGeom prst="ellipse">
            <a:avLst/>
          </a:prstGeom>
          <a:solidFill>
            <a:srgbClr val="0D7377"/>
          </a:solidFill>
          <a:ln w="12700">
            <a:solidFill>
              <a:srgbClr val="0D7377"/>
            </a:solidFill>
            <a:prstDash val="solid"/>
          </a:ln>
        </p:spPr>
      </p:sp>
      <p:sp>
        <p:nvSpPr>
          <p:cNvPr id="22" name="Text 19"/>
          <p:cNvSpPr/>
          <p:nvPr/>
        </p:nvSpPr>
        <p:spPr>
          <a:xfrm>
            <a:off x="4791456" y="877824"/>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rPr>
              <a:t>2</a:t>
            </a:r>
            <a:endParaRPr lang="en-US" sz="900" dirty="0"/>
          </a:p>
        </p:txBody>
      </p:sp>
      <p:pic>
        <p:nvPicPr>
          <p:cNvPr id="23" name="Image 1" descr="preencoded.png"/>
          <p:cNvPicPr>
            <a:picLocks noChangeAspect="1"/>
          </p:cNvPicPr>
          <p:nvPr/>
        </p:nvPicPr>
        <p:blipFill>
          <a:blip r:embed="rId2"/>
          <a:stretch>
            <a:fillRect/>
          </a:stretch>
        </p:blipFill>
        <p:spPr>
          <a:xfrm>
            <a:off x="8613648" y="859536"/>
            <a:ext cx="237744" cy="237744"/>
          </a:xfrm>
          <a:prstGeom prst="rect">
            <a:avLst/>
          </a:prstGeom>
        </p:spPr>
      </p:pic>
      <p:sp>
        <p:nvSpPr>
          <p:cNvPr id="24" name="Text 20"/>
          <p:cNvSpPr/>
          <p:nvPr/>
        </p:nvSpPr>
        <p:spPr>
          <a:xfrm>
            <a:off x="5120640" y="877824"/>
            <a:ext cx="3401568" cy="256032"/>
          </a:xfrm>
          <a:prstGeom prst="rect">
            <a:avLst/>
          </a:prstGeom>
          <a:noFill/>
          <a:ln/>
        </p:spPr>
        <p:txBody>
          <a:bodyPr wrap="square" lIns="0" tIns="0" rIns="0" bIns="0" rtlCol="0" anchor="ctr"/>
          <a:lstStyle/>
          <a:p>
            <a:pPr indent="0" marL="0">
              <a:buNone/>
            </a:pPr>
            <a:r>
              <a:rPr lang="en-US" sz="1050" b="1" dirty="0">
                <a:solidFill>
                  <a:srgbClr val="0F2044"/>
                </a:solidFill>
              </a:rPr>
              <a:t>Data Ingestion Agent</a:t>
            </a:r>
            <a:endParaRPr lang="en-US" sz="1050" dirty="0"/>
          </a:p>
        </p:txBody>
      </p:sp>
      <p:sp>
        <p:nvSpPr>
          <p:cNvPr id="25" name="Shape 21"/>
          <p:cNvSpPr/>
          <p:nvPr/>
        </p:nvSpPr>
        <p:spPr>
          <a:xfrm>
            <a:off x="5120640" y="1152144"/>
            <a:ext cx="3749040" cy="164592"/>
          </a:xfrm>
          <a:prstGeom prst="rect">
            <a:avLst/>
          </a:prstGeom>
          <a:solidFill>
            <a:srgbClr val="F7F9FC"/>
          </a:solidFill>
          <a:ln w="12700">
            <a:solidFill>
              <a:srgbClr val="E2E8F0"/>
            </a:solidFill>
            <a:prstDash val="solid"/>
          </a:ln>
        </p:spPr>
      </p:sp>
      <p:sp>
        <p:nvSpPr>
          <p:cNvPr id="26" name="Text 22"/>
          <p:cNvSpPr/>
          <p:nvPr/>
        </p:nvSpPr>
        <p:spPr>
          <a:xfrm>
            <a:off x="5175504" y="1152144"/>
            <a:ext cx="3712464" cy="164592"/>
          </a:xfrm>
          <a:prstGeom prst="rect">
            <a:avLst/>
          </a:prstGeom>
          <a:noFill/>
          <a:ln/>
        </p:spPr>
        <p:txBody>
          <a:bodyPr wrap="square" lIns="0" tIns="0" rIns="0" bIns="0" rtlCol="0" anchor="ctr"/>
          <a:lstStyle/>
          <a:p>
            <a:pPr indent="0" marL="0">
              <a:buNone/>
            </a:pPr>
            <a:r>
              <a:rPr lang="en-US" sz="750" b="1" dirty="0">
                <a:solidFill>
                  <a:srgbClr val="334155"/>
                </a:solidFill>
              </a:rPr>
              <a:t xml:space="preserve">Layer: </a:t>
            </a:r>
            <a:pPr indent="0" marL="0">
              <a:buNone/>
            </a:pPr>
            <a:r>
              <a:rPr lang="en-US" sz="750" dirty="0">
                <a:solidFill>
                  <a:srgbClr val="0D7377"/>
                </a:solidFill>
              </a:rPr>
              <a:t>Extension / Data layer</a:t>
            </a:r>
            <a:endParaRPr lang="en-US" sz="750" dirty="0"/>
          </a:p>
        </p:txBody>
      </p:sp>
      <p:sp>
        <p:nvSpPr>
          <p:cNvPr id="27" name="Text 23"/>
          <p:cNvSpPr/>
          <p:nvPr/>
        </p:nvSpPr>
        <p:spPr>
          <a:xfrm>
            <a:off x="4791456" y="1353312"/>
            <a:ext cx="1975104" cy="365760"/>
          </a:xfrm>
          <a:prstGeom prst="rect">
            <a:avLst/>
          </a:prstGeom>
          <a:noFill/>
          <a:ln/>
        </p:spPr>
        <p:txBody>
          <a:bodyPr wrap="square" lIns="0" tIns="0" rIns="0" bIns="0" rtlCol="0" anchor="ctr"/>
          <a:lstStyle/>
          <a:p>
            <a:pPr indent="0" marL="0">
              <a:buNone/>
            </a:pPr>
            <a:r>
              <a:rPr lang="en-US" sz="700" b="1" dirty="0">
                <a:solidFill>
                  <a:srgbClr val="334155"/>
                </a:solidFill>
              </a:rPr>
              <a:t xml:space="preserve">INPUTS  </a:t>
            </a:r>
            <a:pPr indent="0" marL="0">
              <a:buNone/>
            </a:pPr>
            <a:r>
              <a:rPr lang="en-US" sz="700" dirty="0">
                <a:solidFill>
                  <a:srgbClr val="64748B"/>
                </a:solidFill>
              </a:rPr>
              <a:t>Retailer source credentials · CoreProductSchema v3 · CoreSalesSchema v2 · quality threshold config</a:t>
            </a:r>
            <a:endParaRPr lang="en-US" sz="700" dirty="0"/>
          </a:p>
        </p:txBody>
      </p:sp>
      <p:sp>
        <p:nvSpPr>
          <p:cNvPr id="28" name="Text 24"/>
          <p:cNvSpPr/>
          <p:nvPr/>
        </p:nvSpPr>
        <p:spPr>
          <a:xfrm>
            <a:off x="6876288" y="1353312"/>
            <a:ext cx="1975104" cy="365760"/>
          </a:xfrm>
          <a:prstGeom prst="rect">
            <a:avLst/>
          </a:prstGeom>
          <a:noFill/>
          <a:ln/>
        </p:spPr>
        <p:txBody>
          <a:bodyPr wrap="square" lIns="0" tIns="0" rIns="0" bIns="0" rtlCol="0" anchor="ctr"/>
          <a:lstStyle/>
          <a:p>
            <a:pPr indent="0" marL="0">
              <a:buNone/>
            </a:pPr>
            <a:r>
              <a:rPr lang="en-US" sz="700" b="1" dirty="0">
                <a:solidFill>
                  <a:srgbClr val="334155"/>
                </a:solidFill>
              </a:rPr>
              <a:t xml:space="preserve">OUTPUTS  </a:t>
            </a:r>
            <a:pPr indent="0" marL="0">
              <a:buNone/>
            </a:pPr>
            <a:r>
              <a:rPr lang="en-US" sz="700" dirty="0">
                <a:solidFill>
                  <a:srgbClr val="64748B"/>
                </a:solidFill>
              </a:rPr>
              <a:t>DataQualityReport: schema mapping, field coverage %, history depth (weeks), store master completeness, CRM availability flag</a:t>
            </a:r>
            <a:endParaRPr lang="en-US" sz="700" dirty="0"/>
          </a:p>
        </p:txBody>
      </p:sp>
      <p:sp>
        <p:nvSpPr>
          <p:cNvPr id="29" name="Text 25"/>
          <p:cNvSpPr/>
          <p:nvPr/>
        </p:nvSpPr>
        <p:spPr>
          <a:xfrm>
            <a:off x="4791456" y="1755648"/>
            <a:ext cx="1975104" cy="365760"/>
          </a:xfrm>
          <a:prstGeom prst="rect">
            <a:avLst/>
          </a:prstGeom>
          <a:noFill/>
          <a:ln/>
        </p:spPr>
        <p:txBody>
          <a:bodyPr wrap="square" lIns="0" tIns="0" rIns="0" bIns="0" rtlCol="0" anchor="ctr"/>
          <a:lstStyle/>
          <a:p>
            <a:pPr indent="0" marL="0">
              <a:buNone/>
            </a:pPr>
            <a:r>
              <a:rPr lang="en-US" sz="700" b="1" dirty="0">
                <a:solidFill>
                  <a:srgbClr val="334155"/>
                </a:solidFill>
              </a:rPr>
              <a:t xml:space="preserve">OWNS  </a:t>
            </a:r>
            <a:pPr indent="0" marL="0">
              <a:buNone/>
            </a:pPr>
            <a:r>
              <a:rPr lang="en-US" sz="700" dirty="0">
                <a:solidFill>
                  <a:srgbClr val="64748B"/>
                </a:solidFill>
              </a:rPr>
              <a:t>Decides whether data is deployment-grade. Quality score &lt; threshold = halt before Gate 2. Last-valid feed cache seeded on success for Hindsight module first run.</a:t>
            </a:r>
            <a:endParaRPr lang="en-US" sz="700" dirty="0"/>
          </a:p>
        </p:txBody>
      </p:sp>
      <p:sp>
        <p:nvSpPr>
          <p:cNvPr id="30" name="Text 26"/>
          <p:cNvSpPr/>
          <p:nvPr/>
        </p:nvSpPr>
        <p:spPr>
          <a:xfrm>
            <a:off x="6876288" y="1755648"/>
            <a:ext cx="1975104" cy="365760"/>
          </a:xfrm>
          <a:prstGeom prst="rect">
            <a:avLst/>
          </a:prstGeom>
          <a:noFill/>
          <a:ln/>
        </p:spPr>
        <p:txBody>
          <a:bodyPr wrap="square" lIns="0" tIns="0" rIns="0" bIns="0" rtlCol="0" anchor="ctr"/>
          <a:lstStyle/>
          <a:p>
            <a:pPr indent="0" marL="0">
              <a:buNone/>
            </a:pPr>
            <a:r>
              <a:rPr lang="en-US" sz="700" b="1" dirty="0">
                <a:solidFill>
                  <a:srgbClr val="DC2626"/>
                </a:solidFill>
              </a:rPr>
              <a:t xml:space="preserve">ON FAIL  </a:t>
            </a:r>
            <a:pPr indent="0" marL="0">
              <a:buNone/>
            </a:pPr>
            <a:r>
              <a:rPr lang="en-US" sz="700" dirty="0">
                <a:solidFill>
                  <a:srgbClr val="64748B"/>
                </a:solidFill>
              </a:rPr>
              <a:t>Schema gap → flagged in report, not blocking unless mandatory fields missing. Mandatory field gap = halt + detailed remediation guidance surfaced to impl. team.</a:t>
            </a:r>
            <a:endParaRPr lang="en-US" sz="700" dirty="0"/>
          </a:p>
        </p:txBody>
      </p:sp>
      <p:sp>
        <p:nvSpPr>
          <p:cNvPr id="31" name="Shape 27"/>
          <p:cNvSpPr/>
          <p:nvPr/>
        </p:nvSpPr>
        <p:spPr>
          <a:xfrm>
            <a:off x="201168" y="2258568"/>
            <a:ext cx="4279392" cy="141732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32" name="Shape 28"/>
          <p:cNvSpPr/>
          <p:nvPr/>
        </p:nvSpPr>
        <p:spPr>
          <a:xfrm>
            <a:off x="201168" y="2258568"/>
            <a:ext cx="4279392" cy="54864"/>
          </a:xfrm>
          <a:prstGeom prst="rect">
            <a:avLst/>
          </a:prstGeom>
          <a:solidFill>
            <a:srgbClr val="0D7377"/>
          </a:solidFill>
          <a:ln w="12700">
            <a:solidFill>
              <a:srgbClr val="0D7377"/>
            </a:solidFill>
            <a:prstDash val="solid"/>
          </a:ln>
        </p:spPr>
      </p:sp>
      <p:sp>
        <p:nvSpPr>
          <p:cNvPr id="33" name="Shape 29"/>
          <p:cNvSpPr/>
          <p:nvPr/>
        </p:nvSpPr>
        <p:spPr>
          <a:xfrm>
            <a:off x="310896" y="2368296"/>
            <a:ext cx="256032" cy="256032"/>
          </a:xfrm>
          <a:prstGeom prst="ellipse">
            <a:avLst/>
          </a:prstGeom>
          <a:solidFill>
            <a:srgbClr val="0D7377"/>
          </a:solidFill>
          <a:ln w="12700">
            <a:solidFill>
              <a:srgbClr val="0D7377"/>
            </a:solidFill>
            <a:prstDash val="solid"/>
          </a:ln>
        </p:spPr>
      </p:sp>
      <p:sp>
        <p:nvSpPr>
          <p:cNvPr id="34" name="Text 30"/>
          <p:cNvSpPr/>
          <p:nvPr/>
        </p:nvSpPr>
        <p:spPr>
          <a:xfrm>
            <a:off x="310896" y="236829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rPr>
              <a:t>3</a:t>
            </a:r>
            <a:endParaRPr lang="en-US" sz="900" dirty="0"/>
          </a:p>
        </p:txBody>
      </p:sp>
      <p:pic>
        <p:nvPicPr>
          <p:cNvPr id="35" name="Image 2" descr="preencoded.png"/>
          <p:cNvPicPr>
            <a:picLocks noChangeAspect="1"/>
          </p:cNvPicPr>
          <p:nvPr/>
        </p:nvPicPr>
        <p:blipFill>
          <a:blip r:embed="rId3"/>
          <a:stretch>
            <a:fillRect/>
          </a:stretch>
        </p:blipFill>
        <p:spPr>
          <a:xfrm>
            <a:off x="4133088" y="2350008"/>
            <a:ext cx="237744" cy="237744"/>
          </a:xfrm>
          <a:prstGeom prst="rect">
            <a:avLst/>
          </a:prstGeom>
        </p:spPr>
      </p:pic>
      <p:sp>
        <p:nvSpPr>
          <p:cNvPr id="36" name="Text 31"/>
          <p:cNvSpPr/>
          <p:nvPr/>
        </p:nvSpPr>
        <p:spPr>
          <a:xfrm>
            <a:off x="640080" y="2368296"/>
            <a:ext cx="3401568" cy="256032"/>
          </a:xfrm>
          <a:prstGeom prst="rect">
            <a:avLst/>
          </a:prstGeom>
          <a:noFill/>
          <a:ln/>
        </p:spPr>
        <p:txBody>
          <a:bodyPr wrap="square" lIns="0" tIns="0" rIns="0" bIns="0" rtlCol="0" anchor="ctr"/>
          <a:lstStyle/>
          <a:p>
            <a:pPr indent="0" marL="0">
              <a:buNone/>
            </a:pPr>
            <a:r>
              <a:rPr lang="en-US" sz="1050" b="1" dirty="0">
                <a:solidFill>
                  <a:srgbClr val="0F2044"/>
                </a:solidFill>
              </a:rPr>
              <a:t>Configuration Agent</a:t>
            </a:r>
            <a:endParaRPr lang="en-US" sz="1050" dirty="0"/>
          </a:p>
        </p:txBody>
      </p:sp>
      <p:sp>
        <p:nvSpPr>
          <p:cNvPr id="37" name="Shape 32"/>
          <p:cNvSpPr/>
          <p:nvPr/>
        </p:nvSpPr>
        <p:spPr>
          <a:xfrm>
            <a:off x="640080" y="2642616"/>
            <a:ext cx="3749040" cy="164592"/>
          </a:xfrm>
          <a:prstGeom prst="rect">
            <a:avLst/>
          </a:prstGeom>
          <a:solidFill>
            <a:srgbClr val="F7F9FC"/>
          </a:solidFill>
          <a:ln w="12700">
            <a:solidFill>
              <a:srgbClr val="E2E8F0"/>
            </a:solidFill>
            <a:prstDash val="solid"/>
          </a:ln>
        </p:spPr>
      </p:sp>
      <p:sp>
        <p:nvSpPr>
          <p:cNvPr id="38" name="Text 33"/>
          <p:cNvSpPr/>
          <p:nvPr/>
        </p:nvSpPr>
        <p:spPr>
          <a:xfrm>
            <a:off x="694944" y="2642616"/>
            <a:ext cx="3712464" cy="164592"/>
          </a:xfrm>
          <a:prstGeom prst="rect">
            <a:avLst/>
          </a:prstGeom>
          <a:noFill/>
          <a:ln/>
        </p:spPr>
        <p:txBody>
          <a:bodyPr wrap="square" lIns="0" tIns="0" rIns="0" bIns="0" rtlCol="0" anchor="ctr"/>
          <a:lstStyle/>
          <a:p>
            <a:pPr indent="0" marL="0">
              <a:buNone/>
            </a:pPr>
            <a:r>
              <a:rPr lang="en-US" sz="750" b="1" dirty="0">
                <a:solidFill>
                  <a:srgbClr val="334155"/>
                </a:solidFill>
              </a:rPr>
              <a:t xml:space="preserve">Layer: </a:t>
            </a:r>
            <a:pPr indent="0" marL="0">
              <a:buNone/>
            </a:pPr>
            <a:r>
              <a:rPr lang="en-US" sz="750" dirty="0">
                <a:solidFill>
                  <a:srgbClr val="0D7377"/>
                </a:solidFill>
              </a:rPr>
              <a:t>Extension Framework — Layer 2</a:t>
            </a:r>
            <a:endParaRPr lang="en-US" sz="750" dirty="0"/>
          </a:p>
        </p:txBody>
      </p:sp>
      <p:sp>
        <p:nvSpPr>
          <p:cNvPr id="39" name="Text 34"/>
          <p:cNvSpPr/>
          <p:nvPr/>
        </p:nvSpPr>
        <p:spPr>
          <a:xfrm>
            <a:off x="310896" y="2843784"/>
            <a:ext cx="1975104" cy="365760"/>
          </a:xfrm>
          <a:prstGeom prst="rect">
            <a:avLst/>
          </a:prstGeom>
          <a:noFill/>
          <a:ln/>
        </p:spPr>
        <p:txBody>
          <a:bodyPr wrap="square" lIns="0" tIns="0" rIns="0" bIns="0" rtlCol="0" anchor="ctr"/>
          <a:lstStyle/>
          <a:p>
            <a:pPr indent="0" marL="0">
              <a:buNone/>
            </a:pPr>
            <a:r>
              <a:rPr lang="en-US" sz="700" b="1" dirty="0">
                <a:solidFill>
                  <a:srgbClr val="334155"/>
                </a:solidFill>
              </a:rPr>
              <a:t xml:space="preserve">INPUTS  </a:t>
            </a:r>
            <a:pPr indent="0" marL="0">
              <a:buNone/>
            </a:pPr>
            <a:r>
              <a:rPr lang="en-US" sz="700" dirty="0">
                <a:solidFill>
                  <a:srgbClr val="64748B"/>
                </a:solidFill>
              </a:rPr>
              <a:t>DataQualityReport · retailer segment profile · default config template · module param ranges</a:t>
            </a:r>
            <a:endParaRPr lang="en-US" sz="700" dirty="0"/>
          </a:p>
        </p:txBody>
      </p:sp>
      <p:sp>
        <p:nvSpPr>
          <p:cNvPr id="40" name="Text 35"/>
          <p:cNvSpPr/>
          <p:nvPr/>
        </p:nvSpPr>
        <p:spPr>
          <a:xfrm>
            <a:off x="2395728" y="2843784"/>
            <a:ext cx="1975104" cy="365760"/>
          </a:xfrm>
          <a:prstGeom prst="rect">
            <a:avLst/>
          </a:prstGeom>
          <a:noFill/>
          <a:ln/>
        </p:spPr>
        <p:txBody>
          <a:bodyPr wrap="square" lIns="0" tIns="0" rIns="0" bIns="0" rtlCol="0" anchor="ctr"/>
          <a:lstStyle/>
          <a:p>
            <a:pPr indent="0" marL="0">
              <a:buNone/>
            </a:pPr>
            <a:r>
              <a:rPr lang="en-US" sz="700" b="1" dirty="0">
                <a:solidFill>
                  <a:srgbClr val="334155"/>
                </a:solidFill>
              </a:rPr>
              <a:t xml:space="preserve">OUTPUTS  </a:t>
            </a:r>
            <a:pPr indent="0" marL="0">
              <a:buNone/>
            </a:pPr>
            <a:r>
              <a:rPr lang="en-US" sz="700" dirty="0">
                <a:solidFill>
                  <a:srgbClr val="64748B"/>
                </a:solidFill>
              </a:rPr>
              <a:t>TenantConfigBundle: all 5 module configs (DOS, cover weeks, OTB thresholds, approval routing, learning scope, hook activations, RBAC roles)</a:t>
            </a:r>
            <a:endParaRPr lang="en-US" sz="700" dirty="0"/>
          </a:p>
        </p:txBody>
      </p:sp>
      <p:sp>
        <p:nvSpPr>
          <p:cNvPr id="41" name="Text 36"/>
          <p:cNvSpPr/>
          <p:nvPr/>
        </p:nvSpPr>
        <p:spPr>
          <a:xfrm>
            <a:off x="310896" y="3246120"/>
            <a:ext cx="1975104" cy="365760"/>
          </a:xfrm>
          <a:prstGeom prst="rect">
            <a:avLst/>
          </a:prstGeom>
          <a:noFill/>
          <a:ln/>
        </p:spPr>
        <p:txBody>
          <a:bodyPr wrap="square" lIns="0" tIns="0" rIns="0" bIns="0" rtlCol="0" anchor="ctr"/>
          <a:lstStyle/>
          <a:p>
            <a:pPr indent="0" marL="0">
              <a:buNone/>
            </a:pPr>
            <a:r>
              <a:rPr lang="en-US" sz="700" b="1" dirty="0">
                <a:solidFill>
                  <a:srgbClr val="334155"/>
                </a:solidFill>
              </a:rPr>
              <a:t xml:space="preserve">OWNS  </a:t>
            </a:r>
            <a:pPr indent="0" marL="0">
              <a:buNone/>
            </a:pPr>
            <a:r>
              <a:rPr lang="en-US" sz="700" dirty="0">
                <a:solidFill>
                  <a:srgbClr val="64748B"/>
                </a:solidFill>
              </a:rPr>
              <a:t>First use of the hook architecture. Writes the retailer's initial extension config. Selects which phase web service hooks are active based on retailer segment. All values within platform-defined safe ranges.</a:t>
            </a:r>
            <a:endParaRPr lang="en-US" sz="700" dirty="0"/>
          </a:p>
        </p:txBody>
      </p:sp>
      <p:sp>
        <p:nvSpPr>
          <p:cNvPr id="42" name="Text 37"/>
          <p:cNvSpPr/>
          <p:nvPr/>
        </p:nvSpPr>
        <p:spPr>
          <a:xfrm>
            <a:off x="2395728" y="3246120"/>
            <a:ext cx="1975104" cy="365760"/>
          </a:xfrm>
          <a:prstGeom prst="rect">
            <a:avLst/>
          </a:prstGeom>
          <a:noFill/>
          <a:ln/>
        </p:spPr>
        <p:txBody>
          <a:bodyPr wrap="square" lIns="0" tIns="0" rIns="0" bIns="0" rtlCol="0" anchor="ctr"/>
          <a:lstStyle/>
          <a:p>
            <a:pPr indent="0" marL="0">
              <a:buNone/>
            </a:pPr>
            <a:r>
              <a:rPr lang="en-US" sz="700" b="1" dirty="0">
                <a:solidFill>
                  <a:srgbClr val="DC2626"/>
                </a:solidFill>
              </a:rPr>
              <a:t xml:space="preserve">ON FAIL  </a:t>
            </a:r>
            <a:pPr indent="0" marL="0">
              <a:buNone/>
            </a:pPr>
            <a:r>
              <a:rPr lang="en-US" sz="700" dirty="0">
                <a:solidFill>
                  <a:srgbClr val="64748B"/>
                </a:solidFill>
              </a:rPr>
              <a:t>Config validation fails (value out of range or missing mandatory param) → halt. Config bundle never partially written — atomic commit or full rollback.</a:t>
            </a:r>
            <a:endParaRPr lang="en-US" sz="700" dirty="0"/>
          </a:p>
        </p:txBody>
      </p:sp>
      <p:sp>
        <p:nvSpPr>
          <p:cNvPr id="43" name="Shape 38"/>
          <p:cNvSpPr/>
          <p:nvPr/>
        </p:nvSpPr>
        <p:spPr>
          <a:xfrm>
            <a:off x="4681728" y="2258568"/>
            <a:ext cx="4279392" cy="141732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44" name="Shape 39"/>
          <p:cNvSpPr/>
          <p:nvPr/>
        </p:nvSpPr>
        <p:spPr>
          <a:xfrm>
            <a:off x="4681728" y="2258568"/>
            <a:ext cx="4279392" cy="54864"/>
          </a:xfrm>
          <a:prstGeom prst="rect">
            <a:avLst/>
          </a:prstGeom>
          <a:solidFill>
            <a:srgbClr val="7C3AED"/>
          </a:solidFill>
          <a:ln w="12700">
            <a:solidFill>
              <a:srgbClr val="7C3AED"/>
            </a:solidFill>
            <a:prstDash val="solid"/>
          </a:ln>
        </p:spPr>
      </p:sp>
      <p:sp>
        <p:nvSpPr>
          <p:cNvPr id="45" name="Shape 40"/>
          <p:cNvSpPr/>
          <p:nvPr/>
        </p:nvSpPr>
        <p:spPr>
          <a:xfrm>
            <a:off x="4791456" y="2368296"/>
            <a:ext cx="256032" cy="256032"/>
          </a:xfrm>
          <a:prstGeom prst="ellipse">
            <a:avLst/>
          </a:prstGeom>
          <a:solidFill>
            <a:srgbClr val="7C3AED"/>
          </a:solidFill>
          <a:ln w="12700">
            <a:solidFill>
              <a:srgbClr val="7C3AED"/>
            </a:solidFill>
            <a:prstDash val="solid"/>
          </a:ln>
        </p:spPr>
      </p:sp>
      <p:sp>
        <p:nvSpPr>
          <p:cNvPr id="46" name="Text 41"/>
          <p:cNvSpPr/>
          <p:nvPr/>
        </p:nvSpPr>
        <p:spPr>
          <a:xfrm>
            <a:off x="4791456" y="236829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rPr>
              <a:t>4</a:t>
            </a:r>
            <a:endParaRPr lang="en-US" sz="900" dirty="0"/>
          </a:p>
        </p:txBody>
      </p:sp>
      <p:pic>
        <p:nvPicPr>
          <p:cNvPr id="47" name="Image 3" descr="preencoded.png"/>
          <p:cNvPicPr>
            <a:picLocks noChangeAspect="1"/>
          </p:cNvPicPr>
          <p:nvPr/>
        </p:nvPicPr>
        <p:blipFill>
          <a:blip r:embed="rId4"/>
          <a:stretch>
            <a:fillRect/>
          </a:stretch>
        </p:blipFill>
        <p:spPr>
          <a:xfrm>
            <a:off x="8613648" y="2350008"/>
            <a:ext cx="237744" cy="237744"/>
          </a:xfrm>
          <a:prstGeom prst="rect">
            <a:avLst/>
          </a:prstGeom>
        </p:spPr>
      </p:pic>
      <p:sp>
        <p:nvSpPr>
          <p:cNvPr id="48" name="Text 42"/>
          <p:cNvSpPr/>
          <p:nvPr/>
        </p:nvSpPr>
        <p:spPr>
          <a:xfrm>
            <a:off x="5120640" y="2368296"/>
            <a:ext cx="3401568" cy="256032"/>
          </a:xfrm>
          <a:prstGeom prst="rect">
            <a:avLst/>
          </a:prstGeom>
          <a:noFill/>
          <a:ln/>
        </p:spPr>
        <p:txBody>
          <a:bodyPr wrap="square" lIns="0" tIns="0" rIns="0" bIns="0" rtlCol="0" anchor="ctr"/>
          <a:lstStyle/>
          <a:p>
            <a:pPr indent="0" marL="0">
              <a:buNone/>
            </a:pPr>
            <a:r>
              <a:rPr lang="en-US" sz="1050" b="1" dirty="0">
                <a:solidFill>
                  <a:srgbClr val="0F2044"/>
                </a:solidFill>
              </a:rPr>
              <a:t>Activation Agent</a:t>
            </a:r>
            <a:endParaRPr lang="en-US" sz="1050" dirty="0"/>
          </a:p>
        </p:txBody>
      </p:sp>
      <p:sp>
        <p:nvSpPr>
          <p:cNvPr id="49" name="Shape 43"/>
          <p:cNvSpPr/>
          <p:nvPr/>
        </p:nvSpPr>
        <p:spPr>
          <a:xfrm>
            <a:off x="5120640" y="2642616"/>
            <a:ext cx="3749040" cy="164592"/>
          </a:xfrm>
          <a:prstGeom prst="rect">
            <a:avLst/>
          </a:prstGeom>
          <a:solidFill>
            <a:srgbClr val="F7F9FC"/>
          </a:solidFill>
          <a:ln w="12700">
            <a:solidFill>
              <a:srgbClr val="E2E8F0"/>
            </a:solidFill>
            <a:prstDash val="solid"/>
          </a:ln>
        </p:spPr>
      </p:sp>
      <p:sp>
        <p:nvSpPr>
          <p:cNvPr id="50" name="Text 44"/>
          <p:cNvSpPr/>
          <p:nvPr/>
        </p:nvSpPr>
        <p:spPr>
          <a:xfrm>
            <a:off x="5175504" y="2642616"/>
            <a:ext cx="3712464" cy="164592"/>
          </a:xfrm>
          <a:prstGeom prst="rect">
            <a:avLst/>
          </a:prstGeom>
          <a:noFill/>
          <a:ln/>
        </p:spPr>
        <p:txBody>
          <a:bodyPr wrap="square" lIns="0" tIns="0" rIns="0" bIns="0" rtlCol="0" anchor="ctr"/>
          <a:lstStyle/>
          <a:p>
            <a:pPr indent="0" marL="0">
              <a:buNone/>
            </a:pPr>
            <a:r>
              <a:rPr lang="en-US" sz="750" b="1" dirty="0">
                <a:solidFill>
                  <a:srgbClr val="334155"/>
                </a:solidFill>
              </a:rPr>
              <a:t xml:space="preserve">Layer: </a:t>
            </a:r>
            <a:pPr indent="0" marL="0">
              <a:buNone/>
            </a:pPr>
            <a:r>
              <a:rPr lang="en-US" sz="750" dirty="0">
                <a:solidFill>
                  <a:srgbClr val="0D7377"/>
                </a:solidFill>
              </a:rPr>
              <a:t>Core engine + Extension containers</a:t>
            </a:r>
            <a:endParaRPr lang="en-US" sz="750" dirty="0"/>
          </a:p>
        </p:txBody>
      </p:sp>
      <p:sp>
        <p:nvSpPr>
          <p:cNvPr id="51" name="Text 45"/>
          <p:cNvSpPr/>
          <p:nvPr/>
        </p:nvSpPr>
        <p:spPr>
          <a:xfrm>
            <a:off x="4791456" y="2843784"/>
            <a:ext cx="1975104" cy="365760"/>
          </a:xfrm>
          <a:prstGeom prst="rect">
            <a:avLst/>
          </a:prstGeom>
          <a:noFill/>
          <a:ln/>
        </p:spPr>
        <p:txBody>
          <a:bodyPr wrap="square" lIns="0" tIns="0" rIns="0" bIns="0" rtlCol="0" anchor="ctr"/>
          <a:lstStyle/>
          <a:p>
            <a:pPr indent="0" marL="0">
              <a:buNone/>
            </a:pPr>
            <a:r>
              <a:rPr lang="en-US" sz="700" b="1" dirty="0">
                <a:solidFill>
                  <a:srgbClr val="334155"/>
                </a:solidFill>
              </a:rPr>
              <a:t xml:space="preserve">INPUTS  </a:t>
            </a:r>
            <a:pPr indent="0" marL="0">
              <a:buNone/>
            </a:pPr>
            <a:r>
              <a:rPr lang="en-US" sz="700" dirty="0">
                <a:solidFill>
                  <a:srgbClr val="64748B"/>
                </a:solidFill>
              </a:rPr>
              <a:t>TenantConfigBundle · base model weights · clustering seed parameters</a:t>
            </a:r>
            <a:endParaRPr lang="en-US" sz="700" dirty="0"/>
          </a:p>
        </p:txBody>
      </p:sp>
      <p:sp>
        <p:nvSpPr>
          <p:cNvPr id="52" name="Text 46"/>
          <p:cNvSpPr/>
          <p:nvPr/>
        </p:nvSpPr>
        <p:spPr>
          <a:xfrm>
            <a:off x="6876288" y="2843784"/>
            <a:ext cx="1975104" cy="365760"/>
          </a:xfrm>
          <a:prstGeom prst="rect">
            <a:avLst/>
          </a:prstGeom>
          <a:noFill/>
          <a:ln/>
        </p:spPr>
        <p:txBody>
          <a:bodyPr wrap="square" lIns="0" tIns="0" rIns="0" bIns="0" rtlCol="0" anchor="ctr"/>
          <a:lstStyle/>
          <a:p>
            <a:pPr indent="0" marL="0">
              <a:buNone/>
            </a:pPr>
            <a:r>
              <a:rPr lang="en-US" sz="700" b="1" dirty="0">
                <a:solidFill>
                  <a:srgbClr val="334155"/>
                </a:solidFill>
              </a:rPr>
              <a:t xml:space="preserve">OUTPUTS  </a:t>
            </a:r>
            <a:pPr indent="0" marL="0">
              <a:buNone/>
            </a:pPr>
            <a:r>
              <a:rPr lang="en-US" sz="700" dirty="0">
                <a:solidFill>
                  <a:srgbClr val="64748B"/>
                </a:solidFill>
              </a:rPr>
              <a:t>ActivationManifest: feature flags flipped, modules live, clustering first-run triggered, base model forked to tenant model slot</a:t>
            </a:r>
            <a:endParaRPr lang="en-US" sz="700" dirty="0"/>
          </a:p>
        </p:txBody>
      </p:sp>
      <p:sp>
        <p:nvSpPr>
          <p:cNvPr id="53" name="Text 47"/>
          <p:cNvSpPr/>
          <p:nvPr/>
        </p:nvSpPr>
        <p:spPr>
          <a:xfrm>
            <a:off x="4791456" y="3246120"/>
            <a:ext cx="1975104" cy="365760"/>
          </a:xfrm>
          <a:prstGeom prst="rect">
            <a:avLst/>
          </a:prstGeom>
          <a:noFill/>
          <a:ln/>
        </p:spPr>
        <p:txBody>
          <a:bodyPr wrap="square" lIns="0" tIns="0" rIns="0" bIns="0" rtlCol="0" anchor="ctr"/>
          <a:lstStyle/>
          <a:p>
            <a:pPr indent="0" marL="0">
              <a:buNone/>
            </a:pPr>
            <a:r>
              <a:rPr lang="en-US" sz="700" b="1" dirty="0">
                <a:solidFill>
                  <a:srgbClr val="334155"/>
                </a:solidFill>
              </a:rPr>
              <a:t xml:space="preserve">OWNS  </a:t>
            </a:r>
            <a:pPr indent="0" marL="0">
              <a:buNone/>
            </a:pPr>
            <a:r>
              <a:rPr lang="en-US" sz="700" dirty="0">
                <a:solidFill>
                  <a:srgbClr val="64748B"/>
                </a:solidFill>
              </a:rPr>
              <a:t>Point of no return — activation is one-way. Rollback from here requires Agent 4 running in reverse (flag disable, seed clear, model slot reset). Multi-tenant plane continues unaffected during activation.</a:t>
            </a:r>
            <a:endParaRPr lang="en-US" sz="700" dirty="0"/>
          </a:p>
        </p:txBody>
      </p:sp>
      <p:sp>
        <p:nvSpPr>
          <p:cNvPr id="54" name="Text 48"/>
          <p:cNvSpPr/>
          <p:nvPr/>
        </p:nvSpPr>
        <p:spPr>
          <a:xfrm>
            <a:off x="6876288" y="3246120"/>
            <a:ext cx="1975104" cy="365760"/>
          </a:xfrm>
          <a:prstGeom prst="rect">
            <a:avLst/>
          </a:prstGeom>
          <a:noFill/>
          <a:ln/>
        </p:spPr>
        <p:txBody>
          <a:bodyPr wrap="square" lIns="0" tIns="0" rIns="0" bIns="0" rtlCol="0" anchor="ctr"/>
          <a:lstStyle/>
          <a:p>
            <a:pPr indent="0" marL="0">
              <a:buNone/>
            </a:pPr>
            <a:r>
              <a:rPr lang="en-US" sz="700" b="1" dirty="0">
                <a:solidFill>
                  <a:srgbClr val="DC2626"/>
                </a:solidFill>
              </a:rPr>
              <a:t xml:space="preserve">ON FAIL  </a:t>
            </a:r>
            <a:pPr indent="0" marL="0">
              <a:buNone/>
            </a:pPr>
            <a:r>
              <a:rPr lang="en-US" sz="700" dirty="0">
                <a:solidFill>
                  <a:srgbClr val="64748B"/>
                </a:solidFill>
              </a:rPr>
              <a:t>Any module activation failure → full reverse sequence triggered automatically before surfacing error. Tenant never left in partially-activated state.</a:t>
            </a:r>
            <a:endParaRPr lang="en-US" sz="700" dirty="0"/>
          </a:p>
        </p:txBody>
      </p:sp>
      <p:sp>
        <p:nvSpPr>
          <p:cNvPr id="55" name="Shape 49"/>
          <p:cNvSpPr/>
          <p:nvPr/>
        </p:nvSpPr>
        <p:spPr>
          <a:xfrm>
            <a:off x="201168" y="3749040"/>
            <a:ext cx="4279392" cy="141732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56" name="Shape 50"/>
          <p:cNvSpPr/>
          <p:nvPr/>
        </p:nvSpPr>
        <p:spPr>
          <a:xfrm>
            <a:off x="201168" y="3749040"/>
            <a:ext cx="4279392" cy="54864"/>
          </a:xfrm>
          <a:prstGeom prst="rect">
            <a:avLst/>
          </a:prstGeom>
          <a:solidFill>
            <a:srgbClr val="0D7377"/>
          </a:solidFill>
          <a:ln w="12700">
            <a:solidFill>
              <a:srgbClr val="0D7377"/>
            </a:solidFill>
            <a:prstDash val="solid"/>
          </a:ln>
        </p:spPr>
      </p:sp>
      <p:sp>
        <p:nvSpPr>
          <p:cNvPr id="57" name="Shape 51"/>
          <p:cNvSpPr/>
          <p:nvPr/>
        </p:nvSpPr>
        <p:spPr>
          <a:xfrm>
            <a:off x="310896" y="3858768"/>
            <a:ext cx="256032" cy="256032"/>
          </a:xfrm>
          <a:prstGeom prst="ellipse">
            <a:avLst/>
          </a:prstGeom>
          <a:solidFill>
            <a:srgbClr val="0D7377"/>
          </a:solidFill>
          <a:ln w="12700">
            <a:solidFill>
              <a:srgbClr val="0D7377"/>
            </a:solidFill>
            <a:prstDash val="solid"/>
          </a:ln>
        </p:spPr>
      </p:sp>
      <p:sp>
        <p:nvSpPr>
          <p:cNvPr id="58" name="Text 52"/>
          <p:cNvSpPr/>
          <p:nvPr/>
        </p:nvSpPr>
        <p:spPr>
          <a:xfrm>
            <a:off x="310896" y="385876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rPr>
              <a:t>5</a:t>
            </a:r>
            <a:endParaRPr lang="en-US" sz="900" dirty="0"/>
          </a:p>
        </p:txBody>
      </p:sp>
      <p:pic>
        <p:nvPicPr>
          <p:cNvPr id="59" name="Image 4" descr="preencoded.png"/>
          <p:cNvPicPr>
            <a:picLocks noChangeAspect="1"/>
          </p:cNvPicPr>
          <p:nvPr/>
        </p:nvPicPr>
        <p:blipFill>
          <a:blip r:embed="rId5"/>
          <a:stretch>
            <a:fillRect/>
          </a:stretch>
        </p:blipFill>
        <p:spPr>
          <a:xfrm>
            <a:off x="4133088" y="3840480"/>
            <a:ext cx="237744" cy="237744"/>
          </a:xfrm>
          <a:prstGeom prst="rect">
            <a:avLst/>
          </a:prstGeom>
        </p:spPr>
      </p:pic>
      <p:sp>
        <p:nvSpPr>
          <p:cNvPr id="60" name="Text 53"/>
          <p:cNvSpPr/>
          <p:nvPr/>
        </p:nvSpPr>
        <p:spPr>
          <a:xfrm>
            <a:off x="640080" y="3858768"/>
            <a:ext cx="3401568" cy="256032"/>
          </a:xfrm>
          <a:prstGeom prst="rect">
            <a:avLst/>
          </a:prstGeom>
          <a:noFill/>
          <a:ln/>
        </p:spPr>
        <p:txBody>
          <a:bodyPr wrap="square" lIns="0" tIns="0" rIns="0" bIns="0" rtlCol="0" anchor="ctr"/>
          <a:lstStyle/>
          <a:p>
            <a:pPr indent="0" marL="0">
              <a:buNone/>
            </a:pPr>
            <a:r>
              <a:rPr lang="en-US" sz="1050" b="1" dirty="0">
                <a:solidFill>
                  <a:srgbClr val="0F2044"/>
                </a:solidFill>
              </a:rPr>
              <a:t>Verification Agent</a:t>
            </a:r>
            <a:endParaRPr lang="en-US" sz="1050" dirty="0"/>
          </a:p>
        </p:txBody>
      </p:sp>
      <p:sp>
        <p:nvSpPr>
          <p:cNvPr id="61" name="Shape 54"/>
          <p:cNvSpPr/>
          <p:nvPr/>
        </p:nvSpPr>
        <p:spPr>
          <a:xfrm>
            <a:off x="640080" y="4133088"/>
            <a:ext cx="3749040" cy="164592"/>
          </a:xfrm>
          <a:prstGeom prst="rect">
            <a:avLst/>
          </a:prstGeom>
          <a:solidFill>
            <a:srgbClr val="F7F9FC"/>
          </a:solidFill>
          <a:ln w="12700">
            <a:solidFill>
              <a:srgbClr val="E2E8F0"/>
            </a:solidFill>
            <a:prstDash val="solid"/>
          </a:ln>
        </p:spPr>
      </p:sp>
      <p:sp>
        <p:nvSpPr>
          <p:cNvPr id="62" name="Text 55"/>
          <p:cNvSpPr/>
          <p:nvPr/>
        </p:nvSpPr>
        <p:spPr>
          <a:xfrm>
            <a:off x="694944" y="4133088"/>
            <a:ext cx="3712464" cy="164592"/>
          </a:xfrm>
          <a:prstGeom prst="rect">
            <a:avLst/>
          </a:prstGeom>
          <a:noFill/>
          <a:ln/>
        </p:spPr>
        <p:txBody>
          <a:bodyPr wrap="square" lIns="0" tIns="0" rIns="0" bIns="0" rtlCol="0" anchor="ctr"/>
          <a:lstStyle/>
          <a:p>
            <a:pPr indent="0" marL="0">
              <a:buNone/>
            </a:pPr>
            <a:r>
              <a:rPr lang="en-US" sz="750" b="1" dirty="0">
                <a:solidFill>
                  <a:srgbClr val="334155"/>
                </a:solidFill>
              </a:rPr>
              <a:t xml:space="preserve">Layer: </a:t>
            </a:r>
            <a:pPr indent="0" marL="0">
              <a:buNone/>
            </a:pPr>
            <a:r>
              <a:rPr lang="en-US" sz="750" dirty="0">
                <a:solidFill>
                  <a:srgbClr val="0D7377"/>
                </a:solidFill>
              </a:rPr>
              <a:t>All layers — cross-cutting</a:t>
            </a:r>
            <a:endParaRPr lang="en-US" sz="750" dirty="0"/>
          </a:p>
        </p:txBody>
      </p:sp>
      <p:sp>
        <p:nvSpPr>
          <p:cNvPr id="63" name="Text 56"/>
          <p:cNvSpPr/>
          <p:nvPr/>
        </p:nvSpPr>
        <p:spPr>
          <a:xfrm>
            <a:off x="310896" y="4334256"/>
            <a:ext cx="1975104" cy="365760"/>
          </a:xfrm>
          <a:prstGeom prst="rect">
            <a:avLst/>
          </a:prstGeom>
          <a:noFill/>
          <a:ln/>
        </p:spPr>
        <p:txBody>
          <a:bodyPr wrap="square" lIns="0" tIns="0" rIns="0" bIns="0" rtlCol="0" anchor="ctr"/>
          <a:lstStyle/>
          <a:p>
            <a:pPr indent="0" marL="0">
              <a:buNone/>
            </a:pPr>
            <a:r>
              <a:rPr lang="en-US" sz="700" b="1" dirty="0">
                <a:solidFill>
                  <a:srgbClr val="334155"/>
                </a:solidFill>
              </a:rPr>
              <a:t xml:space="preserve">INPUTS  </a:t>
            </a:r>
            <a:pPr indent="0" marL="0">
              <a:buNone/>
            </a:pPr>
            <a:r>
              <a:rPr lang="en-US" sz="700" dirty="0">
                <a:solidFill>
                  <a:srgbClr val="64748B"/>
                </a:solidFill>
              </a:rPr>
              <a:t>ActivationManifest · versioned smoke test suite v{n} · pass threshold (24/24)</a:t>
            </a:r>
            <a:endParaRPr lang="en-US" sz="700" dirty="0"/>
          </a:p>
        </p:txBody>
      </p:sp>
      <p:sp>
        <p:nvSpPr>
          <p:cNvPr id="64" name="Text 57"/>
          <p:cNvSpPr/>
          <p:nvPr/>
        </p:nvSpPr>
        <p:spPr>
          <a:xfrm>
            <a:off x="2395728" y="4334256"/>
            <a:ext cx="1975104" cy="365760"/>
          </a:xfrm>
          <a:prstGeom prst="rect">
            <a:avLst/>
          </a:prstGeom>
          <a:noFill/>
          <a:ln/>
        </p:spPr>
        <p:txBody>
          <a:bodyPr wrap="square" lIns="0" tIns="0" rIns="0" bIns="0" rtlCol="0" anchor="ctr"/>
          <a:lstStyle/>
          <a:p>
            <a:pPr indent="0" marL="0">
              <a:buNone/>
            </a:pPr>
            <a:r>
              <a:rPr lang="en-US" sz="700" b="1" dirty="0">
                <a:solidFill>
                  <a:srgbClr val="334155"/>
                </a:solidFill>
              </a:rPr>
              <a:t xml:space="preserve">OUTPUTS  </a:t>
            </a:r>
            <a:pPr indent="0" marL="0">
              <a:buNone/>
            </a:pPr>
            <a:r>
              <a:rPr lang="en-US" sz="700" dirty="0">
                <a:solidFill>
                  <a:srgbClr val="64748B"/>
                </a:solidFill>
              </a:rPr>
              <a:t>SmokeTestReport: per-test result, module coverage map, data path verified, hook invocation confirmed, RBAC boundary test results</a:t>
            </a:r>
            <a:endParaRPr lang="en-US" sz="700" dirty="0"/>
          </a:p>
        </p:txBody>
      </p:sp>
      <p:sp>
        <p:nvSpPr>
          <p:cNvPr id="65" name="Text 58"/>
          <p:cNvSpPr/>
          <p:nvPr/>
        </p:nvSpPr>
        <p:spPr>
          <a:xfrm>
            <a:off x="310896" y="4736592"/>
            <a:ext cx="1975104" cy="365760"/>
          </a:xfrm>
          <a:prstGeom prst="rect">
            <a:avLst/>
          </a:prstGeom>
          <a:noFill/>
          <a:ln/>
        </p:spPr>
        <p:txBody>
          <a:bodyPr wrap="square" lIns="0" tIns="0" rIns="0" bIns="0" rtlCol="0" anchor="ctr"/>
          <a:lstStyle/>
          <a:p>
            <a:pPr indent="0" marL="0">
              <a:buNone/>
            </a:pPr>
            <a:r>
              <a:rPr lang="en-US" sz="700" b="1" dirty="0">
                <a:solidFill>
                  <a:srgbClr val="334155"/>
                </a:solidFill>
              </a:rPr>
              <a:t xml:space="preserve">OWNS  </a:t>
            </a:r>
            <a:pPr indent="0" marL="0">
              <a:buNone/>
            </a:pPr>
            <a:r>
              <a:rPr lang="en-US" sz="700" dirty="0">
                <a:solidFill>
                  <a:srgbClr val="64748B"/>
                </a:solidFill>
              </a:rPr>
              <a:t>Smoke test suite is versioned alongside hook contracts. Each test maps to: module + data path + expected output contract. 100% pass = hard gate. Any fail → Agent 4 reverse triggered before Gate 3.</a:t>
            </a:r>
            <a:endParaRPr lang="en-US" sz="700" dirty="0"/>
          </a:p>
        </p:txBody>
      </p:sp>
      <p:sp>
        <p:nvSpPr>
          <p:cNvPr id="66" name="Text 59"/>
          <p:cNvSpPr/>
          <p:nvPr/>
        </p:nvSpPr>
        <p:spPr>
          <a:xfrm>
            <a:off x="2395728" y="4736592"/>
            <a:ext cx="1975104" cy="365760"/>
          </a:xfrm>
          <a:prstGeom prst="rect">
            <a:avLst/>
          </a:prstGeom>
          <a:noFill/>
          <a:ln/>
        </p:spPr>
        <p:txBody>
          <a:bodyPr wrap="square" lIns="0" tIns="0" rIns="0" bIns="0" rtlCol="0" anchor="ctr"/>
          <a:lstStyle/>
          <a:p>
            <a:pPr indent="0" marL="0">
              <a:buNone/>
            </a:pPr>
            <a:r>
              <a:rPr lang="en-US" sz="700" b="1" dirty="0">
                <a:solidFill>
                  <a:srgbClr val="DC2626"/>
                </a:solidFill>
              </a:rPr>
              <a:t xml:space="preserve">ON FAIL  </a:t>
            </a:r>
            <a:pPr indent="0" marL="0">
              <a:buNone/>
            </a:pPr>
            <a:r>
              <a:rPr lang="en-US" sz="700" dirty="0">
                <a:solidFill>
                  <a:srgbClr val="64748B"/>
                </a:solidFill>
              </a:rPr>
              <a:t>&lt; 24/24 pass → activation reversed automatically. SmokeTestReport with failure detail surfaced. No manual intervention needed to return to clean pre-activation state.</a:t>
            </a:r>
            <a:endParaRPr lang="en-US" sz="700" dirty="0"/>
          </a:p>
        </p:txBody>
      </p:sp>
      <p:sp>
        <p:nvSpPr>
          <p:cNvPr id="67" name="Shape 60"/>
          <p:cNvSpPr/>
          <p:nvPr/>
        </p:nvSpPr>
        <p:spPr>
          <a:xfrm>
            <a:off x="4681728" y="3749040"/>
            <a:ext cx="4279392" cy="141732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68" name="Shape 61"/>
          <p:cNvSpPr/>
          <p:nvPr/>
        </p:nvSpPr>
        <p:spPr>
          <a:xfrm>
            <a:off x="4681728" y="3749040"/>
            <a:ext cx="4279392" cy="54864"/>
          </a:xfrm>
          <a:prstGeom prst="rect">
            <a:avLst/>
          </a:prstGeom>
          <a:solidFill>
            <a:srgbClr val="059669"/>
          </a:solidFill>
          <a:ln w="12700">
            <a:solidFill>
              <a:srgbClr val="059669"/>
            </a:solidFill>
            <a:prstDash val="solid"/>
          </a:ln>
        </p:spPr>
      </p:sp>
      <p:sp>
        <p:nvSpPr>
          <p:cNvPr id="69" name="Shape 62"/>
          <p:cNvSpPr/>
          <p:nvPr/>
        </p:nvSpPr>
        <p:spPr>
          <a:xfrm>
            <a:off x="4791456" y="3858768"/>
            <a:ext cx="256032" cy="256032"/>
          </a:xfrm>
          <a:prstGeom prst="ellipse">
            <a:avLst/>
          </a:prstGeom>
          <a:solidFill>
            <a:srgbClr val="059669"/>
          </a:solidFill>
          <a:ln w="12700">
            <a:solidFill>
              <a:srgbClr val="059669"/>
            </a:solidFill>
            <a:prstDash val="solid"/>
          </a:ln>
        </p:spPr>
      </p:sp>
      <p:sp>
        <p:nvSpPr>
          <p:cNvPr id="70" name="Text 63"/>
          <p:cNvSpPr/>
          <p:nvPr/>
        </p:nvSpPr>
        <p:spPr>
          <a:xfrm>
            <a:off x="4791456" y="385876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rPr>
              <a:t>6</a:t>
            </a:r>
            <a:endParaRPr lang="en-US" sz="900" dirty="0"/>
          </a:p>
        </p:txBody>
      </p:sp>
      <p:pic>
        <p:nvPicPr>
          <p:cNvPr id="71" name="Image 5" descr="preencoded.png"/>
          <p:cNvPicPr>
            <a:picLocks noChangeAspect="1"/>
          </p:cNvPicPr>
          <p:nvPr/>
        </p:nvPicPr>
        <p:blipFill>
          <a:blip r:embed="rId6"/>
          <a:stretch>
            <a:fillRect/>
          </a:stretch>
        </p:blipFill>
        <p:spPr>
          <a:xfrm>
            <a:off x="8613648" y="3840480"/>
            <a:ext cx="237744" cy="237744"/>
          </a:xfrm>
          <a:prstGeom prst="rect">
            <a:avLst/>
          </a:prstGeom>
        </p:spPr>
      </p:pic>
      <p:sp>
        <p:nvSpPr>
          <p:cNvPr id="72" name="Text 64"/>
          <p:cNvSpPr/>
          <p:nvPr/>
        </p:nvSpPr>
        <p:spPr>
          <a:xfrm>
            <a:off x="5120640" y="3858768"/>
            <a:ext cx="3401568" cy="256032"/>
          </a:xfrm>
          <a:prstGeom prst="rect">
            <a:avLst/>
          </a:prstGeom>
          <a:noFill/>
          <a:ln/>
        </p:spPr>
        <p:txBody>
          <a:bodyPr wrap="square" lIns="0" tIns="0" rIns="0" bIns="0" rtlCol="0" anchor="ctr"/>
          <a:lstStyle/>
          <a:p>
            <a:pPr indent="0" marL="0">
              <a:buNone/>
            </a:pPr>
            <a:r>
              <a:rPr lang="en-US" sz="1050" b="1" dirty="0">
                <a:solidFill>
                  <a:srgbClr val="0F2044"/>
                </a:solidFill>
              </a:rPr>
              <a:t>Observability Agent</a:t>
            </a:r>
            <a:endParaRPr lang="en-US" sz="1050" dirty="0"/>
          </a:p>
        </p:txBody>
      </p:sp>
      <p:sp>
        <p:nvSpPr>
          <p:cNvPr id="73" name="Shape 65"/>
          <p:cNvSpPr/>
          <p:nvPr/>
        </p:nvSpPr>
        <p:spPr>
          <a:xfrm>
            <a:off x="5120640" y="4133088"/>
            <a:ext cx="3749040" cy="164592"/>
          </a:xfrm>
          <a:prstGeom prst="rect">
            <a:avLst/>
          </a:prstGeom>
          <a:solidFill>
            <a:srgbClr val="F7F9FC"/>
          </a:solidFill>
          <a:ln w="12700">
            <a:solidFill>
              <a:srgbClr val="E2E8F0"/>
            </a:solidFill>
            <a:prstDash val="solid"/>
          </a:ln>
        </p:spPr>
      </p:sp>
      <p:sp>
        <p:nvSpPr>
          <p:cNvPr id="74" name="Text 66"/>
          <p:cNvSpPr/>
          <p:nvPr/>
        </p:nvSpPr>
        <p:spPr>
          <a:xfrm>
            <a:off x="5175504" y="4133088"/>
            <a:ext cx="3712464" cy="164592"/>
          </a:xfrm>
          <a:prstGeom prst="rect">
            <a:avLst/>
          </a:prstGeom>
          <a:noFill/>
          <a:ln/>
        </p:spPr>
        <p:txBody>
          <a:bodyPr wrap="square" lIns="0" tIns="0" rIns="0" bIns="0" rtlCol="0" anchor="ctr"/>
          <a:lstStyle/>
          <a:p>
            <a:pPr indent="0" marL="0">
              <a:buNone/>
            </a:pPr>
            <a:r>
              <a:rPr lang="en-US" sz="750" b="1" dirty="0">
                <a:solidFill>
                  <a:srgbClr val="334155"/>
                </a:solidFill>
              </a:rPr>
              <a:t xml:space="preserve">Layer: </a:t>
            </a:r>
            <a:pPr indent="0" marL="0">
              <a:buNone/>
            </a:pPr>
            <a:r>
              <a:rPr lang="en-US" sz="750" dirty="0">
                <a:solidFill>
                  <a:srgbClr val="0D7377"/>
                </a:solidFill>
              </a:rPr>
              <a:t>Platform observability layer</a:t>
            </a:r>
            <a:endParaRPr lang="en-US" sz="750" dirty="0"/>
          </a:p>
        </p:txBody>
      </p:sp>
      <p:sp>
        <p:nvSpPr>
          <p:cNvPr id="75" name="Text 67"/>
          <p:cNvSpPr/>
          <p:nvPr/>
        </p:nvSpPr>
        <p:spPr>
          <a:xfrm>
            <a:off x="4791456" y="4334256"/>
            <a:ext cx="1975104" cy="365760"/>
          </a:xfrm>
          <a:prstGeom prst="rect">
            <a:avLst/>
          </a:prstGeom>
          <a:noFill/>
          <a:ln/>
        </p:spPr>
        <p:txBody>
          <a:bodyPr wrap="square" lIns="0" tIns="0" rIns="0" bIns="0" rtlCol="0" anchor="ctr"/>
          <a:lstStyle/>
          <a:p>
            <a:pPr indent="0" marL="0">
              <a:buNone/>
            </a:pPr>
            <a:r>
              <a:rPr lang="en-US" sz="700" b="1" dirty="0">
                <a:solidFill>
                  <a:srgbClr val="334155"/>
                </a:solidFill>
              </a:rPr>
              <a:t xml:space="preserve">INPUTS  </a:t>
            </a:r>
            <a:pPr indent="0" marL="0">
              <a:buNone/>
            </a:pPr>
            <a:r>
              <a:rPr lang="en-US" sz="700" dirty="0">
                <a:solidFill>
                  <a:srgbClr val="64748B"/>
                </a:solidFill>
              </a:rPr>
              <a:t>SmokeTestReport · monitoring config templates · on-call rotation registry · rollback hook contract</a:t>
            </a:r>
            <a:endParaRPr lang="en-US" sz="700" dirty="0"/>
          </a:p>
        </p:txBody>
      </p:sp>
      <p:sp>
        <p:nvSpPr>
          <p:cNvPr id="76" name="Text 68"/>
          <p:cNvSpPr/>
          <p:nvPr/>
        </p:nvSpPr>
        <p:spPr>
          <a:xfrm>
            <a:off x="6876288" y="4334256"/>
            <a:ext cx="1975104" cy="365760"/>
          </a:xfrm>
          <a:prstGeom prst="rect">
            <a:avLst/>
          </a:prstGeom>
          <a:noFill/>
          <a:ln/>
        </p:spPr>
        <p:txBody>
          <a:bodyPr wrap="square" lIns="0" tIns="0" rIns="0" bIns="0" rtlCol="0" anchor="ctr"/>
          <a:lstStyle/>
          <a:p>
            <a:pPr indent="0" marL="0">
              <a:buNone/>
            </a:pPr>
            <a:r>
              <a:rPr lang="en-US" sz="700" b="1" dirty="0">
                <a:solidFill>
                  <a:srgbClr val="334155"/>
                </a:solidFill>
              </a:rPr>
              <a:t xml:space="preserve">OUTPUTS  </a:t>
            </a:r>
            <a:pPr indent="0" marL="0">
              <a:buNone/>
            </a:pPr>
            <a:r>
              <a:rPr lang="en-US" sz="700" dirty="0">
                <a:solidFill>
                  <a:srgbClr val="64748B"/>
                </a:solidFill>
              </a:rPr>
              <a:t>DeploymentReceipt: signed + timestamped record of all config values written, all test results, all state transitions, all gate approvals. Immutable.</a:t>
            </a:r>
            <a:endParaRPr lang="en-US" sz="700" dirty="0"/>
          </a:p>
        </p:txBody>
      </p:sp>
      <p:sp>
        <p:nvSpPr>
          <p:cNvPr id="77" name="Text 69"/>
          <p:cNvSpPr/>
          <p:nvPr/>
        </p:nvSpPr>
        <p:spPr>
          <a:xfrm>
            <a:off x="4791456" y="4736592"/>
            <a:ext cx="1975104" cy="365760"/>
          </a:xfrm>
          <a:prstGeom prst="rect">
            <a:avLst/>
          </a:prstGeom>
          <a:noFill/>
          <a:ln/>
        </p:spPr>
        <p:txBody>
          <a:bodyPr wrap="square" lIns="0" tIns="0" rIns="0" bIns="0" rtlCol="0" anchor="ctr"/>
          <a:lstStyle/>
          <a:p>
            <a:pPr indent="0" marL="0">
              <a:buNone/>
            </a:pPr>
            <a:r>
              <a:rPr lang="en-US" sz="700" b="1" dirty="0">
                <a:solidFill>
                  <a:srgbClr val="334155"/>
                </a:solidFill>
              </a:rPr>
              <a:t xml:space="preserve">OWNS  </a:t>
            </a:r>
            <a:pPr indent="0" marL="0">
              <a:buNone/>
            </a:pPr>
            <a:r>
              <a:rPr lang="en-US" sz="700" dirty="0">
                <a:solidFill>
                  <a:srgbClr val="64748B"/>
                </a:solidFill>
              </a:rPr>
              <a:t>Arms all monitoring dashboards (core health, extension metrics, cube freshness, override telemetry). Registers tenant in on-call rotation. DeploymentReceipt written to immutable audit log — cannot be altered post-issue.</a:t>
            </a:r>
            <a:endParaRPr lang="en-US" sz="700" dirty="0"/>
          </a:p>
        </p:txBody>
      </p:sp>
      <p:sp>
        <p:nvSpPr>
          <p:cNvPr id="78" name="Text 70"/>
          <p:cNvSpPr/>
          <p:nvPr/>
        </p:nvSpPr>
        <p:spPr>
          <a:xfrm>
            <a:off x="6876288" y="4736592"/>
            <a:ext cx="1975104" cy="365760"/>
          </a:xfrm>
          <a:prstGeom prst="rect">
            <a:avLst/>
          </a:prstGeom>
          <a:noFill/>
          <a:ln/>
        </p:spPr>
        <p:txBody>
          <a:bodyPr wrap="square" lIns="0" tIns="0" rIns="0" bIns="0" rtlCol="0" anchor="ctr"/>
          <a:lstStyle/>
          <a:p>
            <a:pPr indent="0" marL="0">
              <a:buNone/>
            </a:pPr>
            <a:r>
              <a:rPr lang="en-US" sz="700" b="1" dirty="0">
                <a:solidFill>
                  <a:srgbClr val="DC2626"/>
                </a:solidFill>
              </a:rPr>
              <a:t xml:space="preserve">ON FAIL  </a:t>
            </a:r>
            <a:pPr indent="0" marL="0">
              <a:buNone/>
            </a:pPr>
            <a:r>
              <a:rPr lang="en-US" sz="700" dirty="0">
                <a:solidFill>
                  <a:srgbClr val="64748B"/>
                </a:solidFill>
              </a:rPr>
              <a:t>Monitoring arm failure = non-blocking warning. Deployment receipt write failure = blocking — tenant not marked go-live-ready until receipt is confirmed written to audit log.</a:t>
            </a:r>
            <a:endParaRPr lang="en-US" sz="700" dirty="0"/>
          </a:p>
        </p:txBody>
      </p:sp>
      <p:sp>
        <p:nvSpPr>
          <p:cNvPr id="79" name="Shape 71"/>
          <p:cNvSpPr/>
          <p:nvPr/>
        </p:nvSpPr>
        <p:spPr>
          <a:xfrm>
            <a:off x="201168" y="5248656"/>
            <a:ext cx="8741664" cy="201168"/>
          </a:xfrm>
          <a:prstGeom prst="rect">
            <a:avLst/>
          </a:prstGeom>
          <a:solidFill>
            <a:srgbClr val="0F2044"/>
          </a:solidFill>
          <a:ln w="12700">
            <a:solidFill>
              <a:srgbClr val="0F2044"/>
            </a:solidFill>
            <a:prstDash val="solid"/>
          </a:ln>
        </p:spPr>
      </p:sp>
      <p:sp>
        <p:nvSpPr>
          <p:cNvPr id="80" name="Text 72"/>
          <p:cNvSpPr/>
          <p:nvPr/>
        </p:nvSpPr>
        <p:spPr>
          <a:xfrm>
            <a:off x="320040" y="5248656"/>
            <a:ext cx="8503920" cy="201168"/>
          </a:xfrm>
          <a:prstGeom prst="rect">
            <a:avLst/>
          </a:prstGeom>
          <a:noFill/>
          <a:ln/>
        </p:spPr>
        <p:txBody>
          <a:bodyPr wrap="square" lIns="0" tIns="0" rIns="0" bIns="0" rtlCol="0" anchor="ctr"/>
          <a:lstStyle/>
          <a:p>
            <a:pPr indent="0" marL="0">
              <a:buNone/>
            </a:pPr>
            <a:r>
              <a:rPr lang="en-US" sz="750" b="1" dirty="0">
                <a:solidFill>
                  <a:srgbClr val="0D7377"/>
                </a:solidFill>
              </a:rPr>
              <a:t xml:space="preserve">MULTI-TENANCY SAFETY:  </a:t>
            </a:r>
            <a:pPr indent="0" marL="0">
              <a:buNone/>
            </a:pPr>
            <a:r>
              <a:rPr lang="en-US" sz="750" dirty="0">
                <a:solidFill>
                  <a:srgbClr val="FFFFFF"/>
                </a:solidFill>
              </a:rPr>
              <a:t xml:space="preserve">All sub-agents operate in complete isolation from the live tenant plane. Provisioning, activation, and verification of a new tenant cannot affect the planning state, model weights, or extension containers of any existing tenant.   </a:t>
            </a:r>
            <a:pPr indent="0" marL="0">
              <a:buNone/>
            </a:pPr>
            <a:r>
              <a:rPr lang="en-US" sz="750" b="1" dirty="0">
                <a:solidFill>
                  <a:srgbClr val="0D7377"/>
                </a:solidFill>
              </a:rPr>
              <a:t xml:space="preserve">ARCH CONNECTION:  </a:t>
            </a:r>
            <a:pPr indent="0" marL="0">
              <a:buNone/>
            </a:pPr>
            <a:r>
              <a:rPr lang="en-US" sz="750" dirty="0">
                <a:solidFill>
                  <a:srgbClr val="FFFFFF"/>
                </a:solidFill>
              </a:rPr>
              <a:t>Agent 3 (Configuration) is the first instantiation of the three-layer architecture for each tenant — it writes Layer 2 (extension framework config) and Layer 3 (retailer extension params) against the platform-defined schema contracts.</a:t>
            </a:r>
            <a:endParaRPr lang="en-US" sz="7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F2044"/>
          </a:solidFill>
          <a:ln w="12700">
            <a:solidFill>
              <a:srgbClr val="0F2044"/>
            </a:solidFill>
            <a:prstDash val="solid"/>
          </a:ln>
        </p:spPr>
      </p:sp>
      <p:sp>
        <p:nvSpPr>
          <p:cNvPr id="3" name="Text 1"/>
          <p:cNvSpPr/>
          <p:nvPr/>
        </p:nvSpPr>
        <p:spPr>
          <a:xfrm>
            <a:off x="365760" y="0"/>
            <a:ext cx="7772400" cy="658368"/>
          </a:xfrm>
          <a:prstGeom prst="rect">
            <a:avLst/>
          </a:prstGeom>
          <a:noFill/>
          <a:ln/>
        </p:spPr>
        <p:txBody>
          <a:bodyPr wrap="square" lIns="0" tIns="0" rIns="0" bIns="0" rtlCol="0" anchor="ctr"/>
          <a:lstStyle/>
          <a:p>
            <a:pPr indent="0" marL="0">
              <a:buNone/>
            </a:pPr>
            <a:r>
              <a:rPr lang="en-US" sz="1000" b="1" spc="300" kern="0" dirty="0">
                <a:solidFill>
                  <a:srgbClr val="FFFFFF"/>
                </a:solidFill>
              </a:rPr>
              <a:t>PLANNING GRID — OVERRIDE MODE</a:t>
            </a:r>
            <a:endParaRPr lang="en-US" sz="1000" dirty="0"/>
          </a:p>
        </p:txBody>
      </p:sp>
      <p:sp>
        <p:nvSpPr>
          <p:cNvPr id="4" name="Text 2"/>
          <p:cNvSpPr/>
          <p:nvPr/>
        </p:nvSpPr>
        <p:spPr>
          <a:xfrm>
            <a:off x="7863840" y="0"/>
            <a:ext cx="1097280" cy="658368"/>
          </a:xfrm>
          <a:prstGeom prst="rect">
            <a:avLst/>
          </a:prstGeom>
          <a:noFill/>
          <a:ln/>
        </p:spPr>
        <p:txBody>
          <a:bodyPr wrap="square" lIns="0" tIns="0" rIns="0" bIns="0" rtlCol="0" anchor="ctr"/>
          <a:lstStyle/>
          <a:p>
            <a:pPr algn="r" indent="0" marL="0">
              <a:buNone/>
            </a:pPr>
            <a:r>
              <a:rPr lang="en-US" sz="900" dirty="0">
                <a:solidFill>
                  <a:srgbClr val="94A3B8"/>
                </a:solidFill>
              </a:rPr>
              <a:t>GRID-00</a:t>
            </a:r>
            <a:endParaRPr lang="en-US" sz="900" dirty="0"/>
          </a:p>
        </p:txBody>
      </p:sp>
      <p:sp>
        <p:nvSpPr>
          <p:cNvPr id="5" name="Shape 3"/>
          <p:cNvSpPr/>
          <p:nvPr/>
        </p:nvSpPr>
        <p:spPr>
          <a:xfrm>
            <a:off x="201168" y="804672"/>
            <a:ext cx="3840480" cy="914400"/>
          </a:xfrm>
          <a:prstGeom prst="rect">
            <a:avLst/>
          </a:prstGeom>
          <a:solidFill>
            <a:srgbClr val="0F2044"/>
          </a:solidFill>
          <a:ln w="12700">
            <a:solidFill>
              <a:srgbClr val="0F2044"/>
            </a:solidFill>
            <a:prstDash val="solid"/>
          </a:ln>
          <a:effectLst>
            <a:outerShdw sx="100000" sy="100000" kx="0" ky="0" algn="bl" rotWithShape="0" blurRad="101600" dist="38100" dir="8100000">
              <a:srgbClr val="000000">
                <a:alpha val="10000"/>
              </a:srgbClr>
            </a:outerShdw>
          </a:effectLst>
        </p:spPr>
      </p:sp>
      <p:sp>
        <p:nvSpPr>
          <p:cNvPr id="6" name="Text 4"/>
          <p:cNvSpPr/>
          <p:nvPr/>
        </p:nvSpPr>
        <p:spPr>
          <a:xfrm>
            <a:off x="347472" y="896112"/>
            <a:ext cx="3566160" cy="292608"/>
          </a:xfrm>
          <a:prstGeom prst="rect">
            <a:avLst/>
          </a:prstGeom>
          <a:noFill/>
          <a:ln/>
        </p:spPr>
        <p:txBody>
          <a:bodyPr wrap="square" lIns="0" tIns="0" rIns="0" bIns="0" rtlCol="0" anchor="ctr"/>
          <a:lstStyle/>
          <a:p>
            <a:pPr indent="0" marL="0">
              <a:buNone/>
            </a:pPr>
            <a:r>
              <a:rPr lang="en-US" sz="1100" b="1" dirty="0">
                <a:solidFill>
                  <a:srgbClr val="FFFFFF"/>
                </a:solidFill>
              </a:rPr>
              <a:t>WHAT IS OVERRIDE MODE</a:t>
            </a:r>
            <a:endParaRPr lang="en-US" sz="1100" dirty="0"/>
          </a:p>
        </p:txBody>
      </p:sp>
      <p:sp>
        <p:nvSpPr>
          <p:cNvPr id="7" name="Text 5"/>
          <p:cNvSpPr/>
          <p:nvPr/>
        </p:nvSpPr>
        <p:spPr>
          <a:xfrm>
            <a:off x="347472" y="1225296"/>
            <a:ext cx="3566160" cy="438912"/>
          </a:xfrm>
          <a:prstGeom prst="rect">
            <a:avLst/>
          </a:prstGeom>
          <a:noFill/>
          <a:ln/>
        </p:spPr>
        <p:txBody>
          <a:bodyPr wrap="square" lIns="0" tIns="0" rIns="0" bIns="0" rtlCol="0" anchor="ctr"/>
          <a:lstStyle/>
          <a:p>
            <a:pPr indent="0" marL="0">
              <a:buNone/>
            </a:pPr>
            <a:r>
              <a:rPr lang="en-US" sz="850" dirty="0">
                <a:solidFill>
                  <a:srgbClr val="94A3B8"/>
                </a:solidFill>
              </a:rPr>
              <a:t>The primary planning workbench. Planners review AI-generated plans, apply human judgement, and submit approved working plans for execution. Behaves as a first-class planning spreadsheet — not a data viewer.</a:t>
            </a:r>
            <a:endParaRPr lang="en-US" sz="850" dirty="0"/>
          </a:p>
        </p:txBody>
      </p:sp>
      <p:sp>
        <p:nvSpPr>
          <p:cNvPr id="8" name="Shape 6"/>
          <p:cNvSpPr/>
          <p:nvPr/>
        </p:nvSpPr>
        <p:spPr>
          <a:xfrm>
            <a:off x="2103120" y="1719072"/>
            <a:ext cx="0" cy="137160"/>
          </a:xfrm>
          <a:prstGeom prst="line">
            <a:avLst/>
          </a:prstGeom>
          <a:noFill/>
          <a:ln w="19050">
            <a:solidFill>
              <a:srgbClr val="94A3B8"/>
            </a:solidFill>
            <a:prstDash val="solid"/>
          </a:ln>
        </p:spPr>
      </p:sp>
      <p:sp>
        <p:nvSpPr>
          <p:cNvPr id="9" name="Shape 7"/>
          <p:cNvSpPr/>
          <p:nvPr/>
        </p:nvSpPr>
        <p:spPr>
          <a:xfrm>
            <a:off x="201168" y="1856232"/>
            <a:ext cx="3840480" cy="914400"/>
          </a:xfrm>
          <a:prstGeom prst="rect">
            <a:avLst/>
          </a:prstGeom>
          <a:solidFill>
            <a:srgbClr val="0D7377"/>
          </a:solidFill>
          <a:ln w="12700">
            <a:solidFill>
              <a:srgbClr val="0D7377"/>
            </a:solidFill>
            <a:prstDash val="solid"/>
          </a:ln>
          <a:effectLst>
            <a:outerShdw sx="100000" sy="100000" kx="0" ky="0" algn="bl" rotWithShape="0" blurRad="101600" dist="38100" dir="8100000">
              <a:srgbClr val="000000">
                <a:alpha val="10000"/>
              </a:srgbClr>
            </a:outerShdw>
          </a:effectLst>
        </p:spPr>
      </p:sp>
      <p:sp>
        <p:nvSpPr>
          <p:cNvPr id="10" name="Text 8"/>
          <p:cNvSpPr/>
          <p:nvPr/>
        </p:nvSpPr>
        <p:spPr>
          <a:xfrm>
            <a:off x="347472" y="1947672"/>
            <a:ext cx="3566160" cy="292608"/>
          </a:xfrm>
          <a:prstGeom prst="rect">
            <a:avLst/>
          </a:prstGeom>
          <a:noFill/>
          <a:ln/>
        </p:spPr>
        <p:txBody>
          <a:bodyPr wrap="square" lIns="0" tIns="0" rIns="0" bIns="0" rtlCol="0" anchor="ctr"/>
          <a:lstStyle/>
          <a:p>
            <a:pPr indent="0" marL="0">
              <a:buNone/>
            </a:pPr>
            <a:r>
              <a:rPr lang="en-US" sz="1100" b="1" dirty="0">
                <a:solidFill>
                  <a:srgbClr val="FFFFFF"/>
                </a:solidFill>
              </a:rPr>
              <a:t>213 REQUIREMENTS</a:t>
            </a:r>
            <a:endParaRPr lang="en-US" sz="1100" dirty="0"/>
          </a:p>
        </p:txBody>
      </p:sp>
      <p:sp>
        <p:nvSpPr>
          <p:cNvPr id="11" name="Text 9"/>
          <p:cNvSpPr/>
          <p:nvPr/>
        </p:nvSpPr>
        <p:spPr>
          <a:xfrm>
            <a:off x="347472" y="2276856"/>
            <a:ext cx="3566160" cy="438912"/>
          </a:xfrm>
          <a:prstGeom prst="rect">
            <a:avLst/>
          </a:prstGeom>
          <a:noFill/>
          <a:ln/>
        </p:spPr>
        <p:txBody>
          <a:bodyPr wrap="square" lIns="0" tIns="0" rIns="0" bIns="0" rtlCol="0" anchor="ctr"/>
          <a:lstStyle/>
          <a:p>
            <a:pPr indent="0" marL="0">
              <a:buNone/>
            </a:pPr>
            <a:r>
              <a:rPr lang="en-US" sz="850" dirty="0">
                <a:solidFill>
                  <a:srgbClr val="94A3B8"/>
                </a:solidFill>
              </a:rPr>
              <a:t>Across 20 functional areas: grid structure, override &amp; edit, aggregation &amp; spreading, heat maps, filters, agent transparency, collaboration, scenarios, sparklines, and more.</a:t>
            </a:r>
            <a:endParaRPr lang="en-US" sz="850" dirty="0"/>
          </a:p>
        </p:txBody>
      </p:sp>
      <p:sp>
        <p:nvSpPr>
          <p:cNvPr id="12" name="Shape 10"/>
          <p:cNvSpPr/>
          <p:nvPr/>
        </p:nvSpPr>
        <p:spPr>
          <a:xfrm>
            <a:off x="2103120" y="2770632"/>
            <a:ext cx="0" cy="137160"/>
          </a:xfrm>
          <a:prstGeom prst="line">
            <a:avLst/>
          </a:prstGeom>
          <a:noFill/>
          <a:ln w="19050">
            <a:solidFill>
              <a:srgbClr val="94A3B8"/>
            </a:solidFill>
            <a:prstDash val="solid"/>
          </a:ln>
        </p:spPr>
      </p:sp>
      <p:sp>
        <p:nvSpPr>
          <p:cNvPr id="13" name="Shape 11"/>
          <p:cNvSpPr/>
          <p:nvPr/>
        </p:nvSpPr>
        <p:spPr>
          <a:xfrm>
            <a:off x="201168" y="2907792"/>
            <a:ext cx="3840480" cy="914400"/>
          </a:xfrm>
          <a:prstGeom prst="rect">
            <a:avLst/>
          </a:prstGeom>
          <a:solidFill>
            <a:srgbClr val="7C3AED"/>
          </a:solidFill>
          <a:ln w="12700">
            <a:solidFill>
              <a:srgbClr val="7C3AED"/>
            </a:solidFill>
            <a:prstDash val="solid"/>
          </a:ln>
          <a:effectLst>
            <a:outerShdw sx="100000" sy="100000" kx="0" ky="0" algn="bl" rotWithShape="0" blurRad="101600" dist="38100" dir="8100000">
              <a:srgbClr val="000000">
                <a:alpha val="10000"/>
              </a:srgbClr>
            </a:outerShdw>
          </a:effectLst>
        </p:spPr>
      </p:sp>
      <p:sp>
        <p:nvSpPr>
          <p:cNvPr id="14" name="Text 12"/>
          <p:cNvSpPr/>
          <p:nvPr/>
        </p:nvSpPr>
        <p:spPr>
          <a:xfrm>
            <a:off x="347472" y="2999232"/>
            <a:ext cx="3566160" cy="292608"/>
          </a:xfrm>
          <a:prstGeom prst="rect">
            <a:avLst/>
          </a:prstGeom>
          <a:noFill/>
          <a:ln/>
        </p:spPr>
        <p:txBody>
          <a:bodyPr wrap="square" lIns="0" tIns="0" rIns="0" bIns="0" rtlCol="0" anchor="ctr"/>
          <a:lstStyle/>
          <a:p>
            <a:pPr indent="0" marL="0">
              <a:buNone/>
            </a:pPr>
            <a:r>
              <a:rPr lang="en-US" sz="1100" b="1" dirty="0">
                <a:solidFill>
                  <a:srgbClr val="FFFFFF"/>
                </a:solidFill>
              </a:rPr>
              <a:t>74 P0 REQUIREMENTS</a:t>
            </a:r>
            <a:endParaRPr lang="en-US" sz="1100" dirty="0"/>
          </a:p>
        </p:txBody>
      </p:sp>
      <p:sp>
        <p:nvSpPr>
          <p:cNvPr id="15" name="Text 13"/>
          <p:cNvSpPr/>
          <p:nvPr/>
        </p:nvSpPr>
        <p:spPr>
          <a:xfrm>
            <a:off x="347472" y="3328416"/>
            <a:ext cx="3566160" cy="438912"/>
          </a:xfrm>
          <a:prstGeom prst="rect">
            <a:avLst/>
          </a:prstGeom>
          <a:noFill/>
          <a:ln/>
        </p:spPr>
        <p:txBody>
          <a:bodyPr wrap="square" lIns="0" tIns="0" rIns="0" bIns="0" rtlCol="0" anchor="ctr"/>
          <a:lstStyle/>
          <a:p>
            <a:pPr indent="0" marL="0">
              <a:buNone/>
            </a:pPr>
            <a:r>
              <a:rPr lang="en-US" sz="850" dirty="0">
                <a:solidFill>
                  <a:srgbClr val="DDD6FE"/>
                </a:solidFill>
              </a:rPr>
              <a:t>Core blocker requirements that must ship in the first production release. Grid cannot function as a planning tool without these.</a:t>
            </a:r>
            <a:endParaRPr lang="en-US" sz="850" dirty="0"/>
          </a:p>
        </p:txBody>
      </p:sp>
      <p:sp>
        <p:nvSpPr>
          <p:cNvPr id="16" name="Shape 14"/>
          <p:cNvSpPr/>
          <p:nvPr/>
        </p:nvSpPr>
        <p:spPr>
          <a:xfrm>
            <a:off x="2103120" y="3822192"/>
            <a:ext cx="0" cy="137160"/>
          </a:xfrm>
          <a:prstGeom prst="line">
            <a:avLst/>
          </a:prstGeom>
          <a:noFill/>
          <a:ln w="19050">
            <a:solidFill>
              <a:srgbClr val="94A3B8"/>
            </a:solidFill>
            <a:prstDash val="solid"/>
          </a:ln>
        </p:spPr>
      </p:sp>
      <p:sp>
        <p:nvSpPr>
          <p:cNvPr id="17" name="Shape 15"/>
          <p:cNvSpPr/>
          <p:nvPr/>
        </p:nvSpPr>
        <p:spPr>
          <a:xfrm>
            <a:off x="201168" y="3959352"/>
            <a:ext cx="3840480" cy="914400"/>
          </a:xfrm>
          <a:prstGeom prst="rect">
            <a:avLst/>
          </a:prstGeom>
          <a:solidFill>
            <a:srgbClr val="334155"/>
          </a:solidFill>
          <a:ln w="12700">
            <a:solidFill>
              <a:srgbClr val="334155"/>
            </a:solidFill>
            <a:prstDash val="solid"/>
          </a:ln>
          <a:effectLst>
            <a:outerShdw sx="100000" sy="100000" kx="0" ky="0" algn="bl" rotWithShape="0" blurRad="101600" dist="38100" dir="8100000">
              <a:srgbClr val="000000">
                <a:alpha val="10000"/>
              </a:srgbClr>
            </a:outerShdw>
          </a:effectLst>
        </p:spPr>
      </p:sp>
      <p:sp>
        <p:nvSpPr>
          <p:cNvPr id="18" name="Text 16"/>
          <p:cNvSpPr/>
          <p:nvPr/>
        </p:nvSpPr>
        <p:spPr>
          <a:xfrm>
            <a:off x="347472" y="4050792"/>
            <a:ext cx="3566160" cy="292608"/>
          </a:xfrm>
          <a:prstGeom prst="rect">
            <a:avLst/>
          </a:prstGeom>
          <a:noFill/>
          <a:ln/>
        </p:spPr>
        <p:txBody>
          <a:bodyPr wrap="square" lIns="0" tIns="0" rIns="0" bIns="0" rtlCol="0" anchor="ctr"/>
          <a:lstStyle/>
          <a:p>
            <a:pPr indent="0" marL="0">
              <a:buNone/>
            </a:pPr>
            <a:r>
              <a:rPr lang="en-US" sz="1100" b="1" dirty="0">
                <a:solidFill>
                  <a:srgbClr val="FFFFFF"/>
                </a:solidFill>
              </a:rPr>
              <a:t>AI + PLANNER MODEL</a:t>
            </a:r>
            <a:endParaRPr lang="en-US" sz="1100" dirty="0"/>
          </a:p>
        </p:txBody>
      </p:sp>
      <p:sp>
        <p:nvSpPr>
          <p:cNvPr id="19" name="Text 17"/>
          <p:cNvSpPr/>
          <p:nvPr/>
        </p:nvSpPr>
        <p:spPr>
          <a:xfrm>
            <a:off x="347472" y="4379976"/>
            <a:ext cx="3566160" cy="438912"/>
          </a:xfrm>
          <a:prstGeom prst="rect">
            <a:avLst/>
          </a:prstGeom>
          <a:noFill/>
          <a:ln/>
        </p:spPr>
        <p:txBody>
          <a:bodyPr wrap="square" lIns="0" tIns="0" rIns="0" bIns="0" rtlCol="0" anchor="ctr"/>
          <a:lstStyle/>
          <a:p>
            <a:pPr indent="0" marL="0">
              <a:buNone/>
            </a:pPr>
            <a:r>
              <a:rPr lang="en-US" sz="850" dirty="0">
                <a:solidFill>
                  <a:srgbClr val="DDD6FE"/>
                </a:solidFill>
              </a:rPr>
              <a:t>Every cell carries the agent Ag value (read-only) and the planner Wp value (editable at leaf level). Override reason required before any commit. Every override feeds back to the learning model.</a:t>
            </a:r>
            <a:endParaRPr lang="en-US" sz="850" dirty="0"/>
          </a:p>
        </p:txBody>
      </p:sp>
      <p:sp>
        <p:nvSpPr>
          <p:cNvPr id="20" name="Shape 18"/>
          <p:cNvSpPr/>
          <p:nvPr/>
        </p:nvSpPr>
        <p:spPr>
          <a:xfrm>
            <a:off x="201168" y="4645152"/>
            <a:ext cx="3840480" cy="365760"/>
          </a:xfrm>
          <a:prstGeom prst="rect">
            <a:avLst/>
          </a:prstGeom>
          <a:solidFill>
            <a:srgbClr val="F7F9FC"/>
          </a:solidFill>
          <a:ln w="12700">
            <a:solidFill>
              <a:srgbClr val="E2E8F0"/>
            </a:solidFill>
            <a:prstDash val="solid"/>
          </a:ln>
        </p:spPr>
      </p:sp>
      <p:sp>
        <p:nvSpPr>
          <p:cNvPr id="21" name="Text 19"/>
          <p:cNvSpPr/>
          <p:nvPr/>
        </p:nvSpPr>
        <p:spPr>
          <a:xfrm>
            <a:off x="274320" y="4645152"/>
            <a:ext cx="3749040" cy="365760"/>
          </a:xfrm>
          <a:prstGeom prst="rect">
            <a:avLst/>
          </a:prstGeom>
          <a:noFill/>
          <a:ln/>
        </p:spPr>
        <p:txBody>
          <a:bodyPr wrap="square" lIns="0" tIns="0" rIns="0" bIns="0" rtlCol="0" anchor="ctr"/>
          <a:lstStyle/>
          <a:p>
            <a:pPr indent="0" marL="0">
              <a:buNone/>
            </a:pPr>
            <a:r>
              <a:rPr lang="en-US" sz="850" b="1" dirty="0">
                <a:solidFill>
                  <a:srgbClr val="0F2044"/>
                </a:solidFill>
              </a:rPr>
              <a:t>FUNCTIONAL AREAS COVERED IN THIS SECTION</a:t>
            </a:r>
            <a:pPr indent="0" marL="0">
              <a:buNone/>
            </a:pPr>
            <a:r>
              <a:rPr lang="en-US" sz="850" dirty="0">
                <a:solidFill>
                  <a:srgbClr val="64748B"/>
                </a:solidFill>
              </a:rPr>
              <a:t/>
            </a:r>
            <a:endParaRPr lang="en-US" sz="850" dirty="0"/>
          </a:p>
        </p:txBody>
      </p:sp>
      <p:sp>
        <p:nvSpPr>
          <p:cNvPr id="22" name="Shape 20"/>
          <p:cNvSpPr/>
          <p:nvPr/>
        </p:nvSpPr>
        <p:spPr>
          <a:xfrm>
            <a:off x="4315968" y="804672"/>
            <a:ext cx="4626864" cy="768096"/>
          </a:xfrm>
          <a:prstGeom prst="rect">
            <a:avLst/>
          </a:prstGeom>
          <a:solidFill>
            <a:srgbClr val="F7F9FC"/>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23" name="Shape 21"/>
          <p:cNvSpPr/>
          <p:nvPr/>
        </p:nvSpPr>
        <p:spPr>
          <a:xfrm>
            <a:off x="4315968" y="804672"/>
            <a:ext cx="54864" cy="768096"/>
          </a:xfrm>
          <a:prstGeom prst="rect">
            <a:avLst/>
          </a:prstGeom>
          <a:solidFill>
            <a:srgbClr val="0D7377"/>
          </a:solidFill>
          <a:ln w="12700">
            <a:solidFill>
              <a:srgbClr val="0D7377"/>
            </a:solidFill>
            <a:prstDash val="solid"/>
          </a:ln>
        </p:spPr>
      </p:sp>
      <p:pic>
        <p:nvPicPr>
          <p:cNvPr id="24" name="Image 0" descr="preencoded.png"/>
          <p:cNvPicPr>
            <a:picLocks noChangeAspect="1"/>
          </p:cNvPicPr>
          <p:nvPr/>
        </p:nvPicPr>
        <p:blipFill>
          <a:blip r:embed="rId1"/>
          <a:stretch>
            <a:fillRect/>
          </a:stretch>
        </p:blipFill>
        <p:spPr>
          <a:xfrm>
            <a:off x="4462272" y="1024128"/>
            <a:ext cx="274320" cy="274320"/>
          </a:xfrm>
          <a:prstGeom prst="rect">
            <a:avLst/>
          </a:prstGeom>
        </p:spPr>
      </p:pic>
      <p:sp>
        <p:nvSpPr>
          <p:cNvPr id="25" name="Text 22"/>
          <p:cNvSpPr/>
          <p:nvPr/>
        </p:nvSpPr>
        <p:spPr>
          <a:xfrm>
            <a:off x="4828032" y="896112"/>
            <a:ext cx="4023360" cy="256032"/>
          </a:xfrm>
          <a:prstGeom prst="rect">
            <a:avLst/>
          </a:prstGeom>
          <a:noFill/>
          <a:ln/>
        </p:spPr>
        <p:txBody>
          <a:bodyPr wrap="square" lIns="0" tIns="0" rIns="0" bIns="0" rtlCol="0" anchor="ctr"/>
          <a:lstStyle/>
          <a:p>
            <a:pPr indent="0" marL="0">
              <a:buNone/>
            </a:pPr>
            <a:r>
              <a:rPr lang="en-US" sz="1000" b="1" dirty="0">
                <a:solidFill>
                  <a:srgbClr val="0F2044"/>
                </a:solidFill>
              </a:rPr>
              <a:t>Grid Structure &amp; Layout</a:t>
            </a:r>
            <a:endParaRPr lang="en-US" sz="1000" dirty="0"/>
          </a:p>
        </p:txBody>
      </p:sp>
      <p:sp>
        <p:nvSpPr>
          <p:cNvPr id="26" name="Text 23"/>
          <p:cNvSpPr/>
          <p:nvPr/>
        </p:nvSpPr>
        <p:spPr>
          <a:xfrm>
            <a:off x="4828032" y="1170432"/>
            <a:ext cx="4023360" cy="365760"/>
          </a:xfrm>
          <a:prstGeom prst="rect">
            <a:avLst/>
          </a:prstGeom>
          <a:noFill/>
          <a:ln/>
        </p:spPr>
        <p:txBody>
          <a:bodyPr wrap="square" lIns="0" tIns="0" rIns="0" bIns="0" rtlCol="0" anchor="ctr"/>
          <a:lstStyle/>
          <a:p>
            <a:pPr indent="0" marL="0">
              <a:buNone/>
            </a:pPr>
            <a:r>
              <a:rPr lang="en-US" sz="800" dirty="0">
                <a:solidFill>
                  <a:srgbClr val="64748B"/>
                </a:solidFill>
              </a:rPr>
              <a:t>Three-axis pivot (Product / Location / Calendar), sticky headers, row hierarchy with expand/collapse, column headers with Ag/Wp pairs. 16 requirements.</a:t>
            </a:r>
            <a:endParaRPr lang="en-US" sz="800" dirty="0"/>
          </a:p>
        </p:txBody>
      </p:sp>
      <p:sp>
        <p:nvSpPr>
          <p:cNvPr id="27" name="Shape 24"/>
          <p:cNvSpPr/>
          <p:nvPr/>
        </p:nvSpPr>
        <p:spPr>
          <a:xfrm>
            <a:off x="4315968" y="1655064"/>
            <a:ext cx="4626864" cy="768096"/>
          </a:xfrm>
          <a:prstGeom prst="rect">
            <a:avLst/>
          </a:prstGeom>
          <a:solidFill>
            <a:srgbClr val="F7F9FC"/>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28" name="Shape 25"/>
          <p:cNvSpPr/>
          <p:nvPr/>
        </p:nvSpPr>
        <p:spPr>
          <a:xfrm>
            <a:off x="4315968" y="1655064"/>
            <a:ext cx="54864" cy="768096"/>
          </a:xfrm>
          <a:prstGeom prst="rect">
            <a:avLst/>
          </a:prstGeom>
          <a:solidFill>
            <a:srgbClr val="0F2044"/>
          </a:solidFill>
          <a:ln w="12700">
            <a:solidFill>
              <a:srgbClr val="0F2044"/>
            </a:solidFill>
            <a:prstDash val="solid"/>
          </a:ln>
        </p:spPr>
      </p:sp>
      <p:pic>
        <p:nvPicPr>
          <p:cNvPr id="29" name="Image 1" descr="preencoded.png"/>
          <p:cNvPicPr>
            <a:picLocks noChangeAspect="1"/>
          </p:cNvPicPr>
          <p:nvPr/>
        </p:nvPicPr>
        <p:blipFill>
          <a:blip r:embed="rId2"/>
          <a:stretch>
            <a:fillRect/>
          </a:stretch>
        </p:blipFill>
        <p:spPr>
          <a:xfrm>
            <a:off x="4462272" y="1874520"/>
            <a:ext cx="274320" cy="274320"/>
          </a:xfrm>
          <a:prstGeom prst="rect">
            <a:avLst/>
          </a:prstGeom>
        </p:spPr>
      </p:pic>
      <p:sp>
        <p:nvSpPr>
          <p:cNvPr id="30" name="Text 26"/>
          <p:cNvSpPr/>
          <p:nvPr/>
        </p:nvSpPr>
        <p:spPr>
          <a:xfrm>
            <a:off x="4828032" y="1746504"/>
            <a:ext cx="4023360" cy="256032"/>
          </a:xfrm>
          <a:prstGeom prst="rect">
            <a:avLst/>
          </a:prstGeom>
          <a:noFill/>
          <a:ln/>
        </p:spPr>
        <p:txBody>
          <a:bodyPr wrap="square" lIns="0" tIns="0" rIns="0" bIns="0" rtlCol="0" anchor="ctr"/>
          <a:lstStyle/>
          <a:p>
            <a:pPr indent="0" marL="0">
              <a:buNone/>
            </a:pPr>
            <a:r>
              <a:rPr lang="en-US" sz="1000" b="1" dirty="0">
                <a:solidFill>
                  <a:srgbClr val="0F2044"/>
                </a:solidFill>
              </a:rPr>
              <a:t>Override &amp; Edit</a:t>
            </a:r>
            <a:endParaRPr lang="en-US" sz="1000" dirty="0"/>
          </a:p>
        </p:txBody>
      </p:sp>
      <p:sp>
        <p:nvSpPr>
          <p:cNvPr id="31" name="Text 27"/>
          <p:cNvSpPr/>
          <p:nvPr/>
        </p:nvSpPr>
        <p:spPr>
          <a:xfrm>
            <a:off x="4828032" y="2020824"/>
            <a:ext cx="4023360" cy="365760"/>
          </a:xfrm>
          <a:prstGeom prst="rect">
            <a:avLst/>
          </a:prstGeom>
          <a:noFill/>
          <a:ln/>
        </p:spPr>
        <p:txBody>
          <a:bodyPr wrap="square" lIns="0" tIns="0" rIns="0" bIns="0" rtlCol="0" anchor="ctr"/>
          <a:lstStyle/>
          <a:p>
            <a:pPr indent="0" marL="0">
              <a:buNone/>
            </a:pPr>
            <a:r>
              <a:rPr lang="en-US" sz="800" dirty="0">
                <a:solidFill>
                  <a:srgbClr val="64748B"/>
                </a:solidFill>
              </a:rPr>
              <a:t>Cell-level override, accept/unaccept, bulk edit, right-click context menu. Inline reason modal before every commit. 21 requirements.</a:t>
            </a:r>
            <a:endParaRPr lang="en-US" sz="800" dirty="0"/>
          </a:p>
        </p:txBody>
      </p:sp>
      <p:sp>
        <p:nvSpPr>
          <p:cNvPr id="32" name="Shape 28"/>
          <p:cNvSpPr/>
          <p:nvPr/>
        </p:nvSpPr>
        <p:spPr>
          <a:xfrm>
            <a:off x="4315968" y="2505456"/>
            <a:ext cx="4626864" cy="768096"/>
          </a:xfrm>
          <a:prstGeom prst="rect">
            <a:avLst/>
          </a:prstGeom>
          <a:solidFill>
            <a:srgbClr val="F7F9FC"/>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33" name="Shape 29"/>
          <p:cNvSpPr/>
          <p:nvPr/>
        </p:nvSpPr>
        <p:spPr>
          <a:xfrm>
            <a:off x="4315968" y="2505456"/>
            <a:ext cx="54864" cy="768096"/>
          </a:xfrm>
          <a:prstGeom prst="rect">
            <a:avLst/>
          </a:prstGeom>
          <a:solidFill>
            <a:srgbClr val="7C3AED"/>
          </a:solidFill>
          <a:ln w="12700">
            <a:solidFill>
              <a:srgbClr val="7C3AED"/>
            </a:solidFill>
            <a:prstDash val="solid"/>
          </a:ln>
        </p:spPr>
      </p:sp>
      <p:pic>
        <p:nvPicPr>
          <p:cNvPr id="34" name="Image 2" descr="preencoded.png"/>
          <p:cNvPicPr>
            <a:picLocks noChangeAspect="1"/>
          </p:cNvPicPr>
          <p:nvPr/>
        </p:nvPicPr>
        <p:blipFill>
          <a:blip r:embed="rId3"/>
          <a:stretch>
            <a:fillRect/>
          </a:stretch>
        </p:blipFill>
        <p:spPr>
          <a:xfrm>
            <a:off x="4462272" y="2724912"/>
            <a:ext cx="274320" cy="274320"/>
          </a:xfrm>
          <a:prstGeom prst="rect">
            <a:avLst/>
          </a:prstGeom>
        </p:spPr>
      </p:pic>
      <p:sp>
        <p:nvSpPr>
          <p:cNvPr id="35" name="Text 30"/>
          <p:cNvSpPr/>
          <p:nvPr/>
        </p:nvSpPr>
        <p:spPr>
          <a:xfrm>
            <a:off x="4828032" y="2596896"/>
            <a:ext cx="4023360" cy="256032"/>
          </a:xfrm>
          <a:prstGeom prst="rect">
            <a:avLst/>
          </a:prstGeom>
          <a:noFill/>
          <a:ln/>
        </p:spPr>
        <p:txBody>
          <a:bodyPr wrap="square" lIns="0" tIns="0" rIns="0" bIns="0" rtlCol="0" anchor="ctr"/>
          <a:lstStyle/>
          <a:p>
            <a:pPr indent="0" marL="0">
              <a:buNone/>
            </a:pPr>
            <a:r>
              <a:rPr lang="en-US" sz="1000" b="1" dirty="0">
                <a:solidFill>
                  <a:srgbClr val="0F2044"/>
                </a:solidFill>
              </a:rPr>
              <a:t>Aggregation &amp; Spreading</a:t>
            </a:r>
            <a:endParaRPr lang="en-US" sz="1000" dirty="0"/>
          </a:p>
        </p:txBody>
      </p:sp>
      <p:sp>
        <p:nvSpPr>
          <p:cNvPr id="36" name="Text 31"/>
          <p:cNvSpPr/>
          <p:nvPr/>
        </p:nvSpPr>
        <p:spPr>
          <a:xfrm>
            <a:off x="4828032" y="2871216"/>
            <a:ext cx="4023360" cy="365760"/>
          </a:xfrm>
          <a:prstGeom prst="rect">
            <a:avLst/>
          </a:prstGeom>
          <a:noFill/>
          <a:ln/>
        </p:spPr>
        <p:txBody>
          <a:bodyPr wrap="square" lIns="0" tIns="0" rIns="0" bIns="0" rtlCol="0" anchor="ctr"/>
          <a:lstStyle/>
          <a:p>
            <a:pPr indent="0" marL="0">
              <a:buNone/>
            </a:pPr>
            <a:r>
              <a:rPr lang="en-US" sz="800" dirty="0">
                <a:solidFill>
                  <a:srgbClr val="64748B"/>
                </a:solidFill>
              </a:rPr>
              <a:t>9 aggregation methods (Sum, Avg, Weighted Avg, Min, Max, Count, Period Start, Period End, Derived). 8 spread methods (Even, Ag, LY, Wp, Seasonal, Trend, Manual, Copy from Metric). 33 requirements.</a:t>
            </a:r>
            <a:endParaRPr lang="en-US" sz="800" dirty="0"/>
          </a:p>
        </p:txBody>
      </p:sp>
      <p:sp>
        <p:nvSpPr>
          <p:cNvPr id="37" name="Shape 32"/>
          <p:cNvSpPr/>
          <p:nvPr/>
        </p:nvSpPr>
        <p:spPr>
          <a:xfrm>
            <a:off x="4315968" y="3355848"/>
            <a:ext cx="4626864" cy="768096"/>
          </a:xfrm>
          <a:prstGeom prst="rect">
            <a:avLst/>
          </a:prstGeom>
          <a:solidFill>
            <a:srgbClr val="F7F9FC"/>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38" name="Shape 33"/>
          <p:cNvSpPr/>
          <p:nvPr/>
        </p:nvSpPr>
        <p:spPr>
          <a:xfrm>
            <a:off x="4315968" y="3355848"/>
            <a:ext cx="54864" cy="768096"/>
          </a:xfrm>
          <a:prstGeom prst="rect">
            <a:avLst/>
          </a:prstGeom>
          <a:solidFill>
            <a:srgbClr val="F59E0B"/>
          </a:solidFill>
          <a:ln w="12700">
            <a:solidFill>
              <a:srgbClr val="F59E0B"/>
            </a:solidFill>
            <a:prstDash val="solid"/>
          </a:ln>
        </p:spPr>
      </p:sp>
      <p:pic>
        <p:nvPicPr>
          <p:cNvPr id="39" name="Image 3" descr="preencoded.png"/>
          <p:cNvPicPr>
            <a:picLocks noChangeAspect="1"/>
          </p:cNvPicPr>
          <p:nvPr/>
        </p:nvPicPr>
        <p:blipFill>
          <a:blip r:embed="rId4"/>
          <a:stretch>
            <a:fillRect/>
          </a:stretch>
        </p:blipFill>
        <p:spPr>
          <a:xfrm>
            <a:off x="4462272" y="3575304"/>
            <a:ext cx="274320" cy="274320"/>
          </a:xfrm>
          <a:prstGeom prst="rect">
            <a:avLst/>
          </a:prstGeom>
        </p:spPr>
      </p:pic>
      <p:sp>
        <p:nvSpPr>
          <p:cNvPr id="40" name="Text 34"/>
          <p:cNvSpPr/>
          <p:nvPr/>
        </p:nvSpPr>
        <p:spPr>
          <a:xfrm>
            <a:off x="4828032" y="3447288"/>
            <a:ext cx="4023360" cy="256032"/>
          </a:xfrm>
          <a:prstGeom prst="rect">
            <a:avLst/>
          </a:prstGeom>
          <a:noFill/>
          <a:ln/>
        </p:spPr>
        <p:txBody>
          <a:bodyPr wrap="square" lIns="0" tIns="0" rIns="0" bIns="0" rtlCol="0" anchor="ctr"/>
          <a:lstStyle/>
          <a:p>
            <a:pPr indent="0" marL="0">
              <a:buNone/>
            </a:pPr>
            <a:r>
              <a:rPr lang="en-US" sz="1000" b="1" dirty="0">
                <a:solidFill>
                  <a:srgbClr val="0F2044"/>
                </a:solidFill>
              </a:rPr>
              <a:t>Scenarios, Collaboration &amp; Real-Time</a:t>
            </a:r>
            <a:endParaRPr lang="en-US" sz="1000" dirty="0"/>
          </a:p>
        </p:txBody>
      </p:sp>
      <p:sp>
        <p:nvSpPr>
          <p:cNvPr id="41" name="Text 35"/>
          <p:cNvSpPr/>
          <p:nvPr/>
        </p:nvSpPr>
        <p:spPr>
          <a:xfrm>
            <a:off x="4828032" y="3721608"/>
            <a:ext cx="4023360" cy="365760"/>
          </a:xfrm>
          <a:prstGeom prst="rect">
            <a:avLst/>
          </a:prstGeom>
          <a:noFill/>
          <a:ln/>
        </p:spPr>
        <p:txBody>
          <a:bodyPr wrap="square" lIns="0" tIns="0" rIns="0" bIns="0" rtlCol="0" anchor="ctr"/>
          <a:lstStyle/>
          <a:p>
            <a:pPr indent="0" marL="0">
              <a:buNone/>
            </a:pPr>
            <a:r>
              <a:rPr lang="en-US" sz="800" dirty="0">
                <a:solidFill>
                  <a:srgbClr val="64748B"/>
                </a:solidFill>
              </a:rPr>
              <a:t>Up to 5 named scenarios per plan. Real-time multi-user editing with presence, cell locking, conflict resolution, and @mention notifications. 17 requirements.</a:t>
            </a:r>
            <a:endParaRPr lang="en-US" sz="800" dirty="0"/>
          </a:p>
        </p:txBody>
      </p:sp>
      <p:sp>
        <p:nvSpPr>
          <p:cNvPr id="42" name="Shape 36"/>
          <p:cNvSpPr/>
          <p:nvPr/>
        </p:nvSpPr>
        <p:spPr>
          <a:xfrm>
            <a:off x="4315968" y="4206240"/>
            <a:ext cx="4626864" cy="768096"/>
          </a:xfrm>
          <a:prstGeom prst="rect">
            <a:avLst/>
          </a:prstGeom>
          <a:solidFill>
            <a:srgbClr val="F7F9FC"/>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43" name="Shape 37"/>
          <p:cNvSpPr/>
          <p:nvPr/>
        </p:nvSpPr>
        <p:spPr>
          <a:xfrm>
            <a:off x="4315968" y="4206240"/>
            <a:ext cx="54864" cy="768096"/>
          </a:xfrm>
          <a:prstGeom prst="rect">
            <a:avLst/>
          </a:prstGeom>
          <a:solidFill>
            <a:srgbClr val="0D7377"/>
          </a:solidFill>
          <a:ln w="12700">
            <a:solidFill>
              <a:srgbClr val="0D7377"/>
            </a:solidFill>
            <a:prstDash val="solid"/>
          </a:ln>
        </p:spPr>
      </p:sp>
      <p:pic>
        <p:nvPicPr>
          <p:cNvPr id="44" name="Image 4" descr="preencoded.png"/>
          <p:cNvPicPr>
            <a:picLocks noChangeAspect="1"/>
          </p:cNvPicPr>
          <p:nvPr/>
        </p:nvPicPr>
        <p:blipFill>
          <a:blip r:embed="rId5"/>
          <a:stretch>
            <a:fillRect/>
          </a:stretch>
        </p:blipFill>
        <p:spPr>
          <a:xfrm>
            <a:off x="4462272" y="4425696"/>
            <a:ext cx="274320" cy="274320"/>
          </a:xfrm>
          <a:prstGeom prst="rect">
            <a:avLst/>
          </a:prstGeom>
        </p:spPr>
      </p:pic>
      <p:sp>
        <p:nvSpPr>
          <p:cNvPr id="45" name="Text 38"/>
          <p:cNvSpPr/>
          <p:nvPr/>
        </p:nvSpPr>
        <p:spPr>
          <a:xfrm>
            <a:off x="4828032" y="4297680"/>
            <a:ext cx="4023360" cy="256032"/>
          </a:xfrm>
          <a:prstGeom prst="rect">
            <a:avLst/>
          </a:prstGeom>
          <a:noFill/>
          <a:ln/>
        </p:spPr>
        <p:txBody>
          <a:bodyPr wrap="square" lIns="0" tIns="0" rIns="0" bIns="0" rtlCol="0" anchor="ctr"/>
          <a:lstStyle/>
          <a:p>
            <a:pPr indent="0" marL="0">
              <a:buNone/>
            </a:pPr>
            <a:r>
              <a:rPr lang="en-US" sz="1000" b="1" dirty="0">
                <a:solidFill>
                  <a:srgbClr val="0F2044"/>
                </a:solidFill>
              </a:rPr>
              <a:t>Productivity &amp; Analytics</a:t>
            </a:r>
            <a:endParaRPr lang="en-US" sz="1000" dirty="0"/>
          </a:p>
        </p:txBody>
      </p:sp>
      <p:sp>
        <p:nvSpPr>
          <p:cNvPr id="46" name="Text 39"/>
          <p:cNvSpPr/>
          <p:nvPr/>
        </p:nvSpPr>
        <p:spPr>
          <a:xfrm>
            <a:off x="4828032" y="4572000"/>
            <a:ext cx="4023360" cy="365760"/>
          </a:xfrm>
          <a:prstGeom prst="rect">
            <a:avLst/>
          </a:prstGeom>
          <a:noFill/>
          <a:ln/>
        </p:spPr>
        <p:txBody>
          <a:bodyPr wrap="square" lIns="0" tIns="0" rIns="0" bIns="0" rtlCol="0" anchor="ctr"/>
          <a:lstStyle/>
          <a:p>
            <a:pPr indent="0" marL="0">
              <a:buNone/>
            </a:pPr>
            <a:r>
              <a:rPr lang="en-US" sz="800" dirty="0">
                <a:solidFill>
                  <a:srgbClr val="64748B"/>
                </a:solidFill>
              </a:rPr>
              <a:t>Variance columns, heat maps, sparklines, undo/redo stack (50 deep), calculated rows, find &amp; replace, number formatting, column/row resizing, and CSV export. 60+ requirements.</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F2044"/>
          </a:solidFill>
          <a:ln w="12700">
            <a:solidFill>
              <a:srgbClr val="0F2044"/>
            </a:solidFill>
            <a:prstDash val="solid"/>
          </a:ln>
        </p:spPr>
      </p:sp>
      <p:sp>
        <p:nvSpPr>
          <p:cNvPr id="3" name="Text 1"/>
          <p:cNvSpPr/>
          <p:nvPr/>
        </p:nvSpPr>
        <p:spPr>
          <a:xfrm>
            <a:off x="365760" y="0"/>
            <a:ext cx="7772400" cy="658368"/>
          </a:xfrm>
          <a:prstGeom prst="rect">
            <a:avLst/>
          </a:prstGeom>
          <a:noFill/>
          <a:ln/>
        </p:spPr>
        <p:txBody>
          <a:bodyPr wrap="square" lIns="0" tIns="0" rIns="0" bIns="0" rtlCol="0" anchor="ctr"/>
          <a:lstStyle/>
          <a:p>
            <a:pPr indent="0" marL="0">
              <a:buNone/>
            </a:pPr>
            <a:r>
              <a:rPr lang="en-US" sz="1000" b="1" spc="300" kern="0" dirty="0">
                <a:solidFill>
                  <a:srgbClr val="FFFFFF"/>
                </a:solidFill>
              </a:rPr>
              <a:t>PLANNING GRID — GRID STRUCTURE &amp; LAYOUT</a:t>
            </a:r>
            <a:endParaRPr lang="en-US" sz="1000" dirty="0"/>
          </a:p>
        </p:txBody>
      </p:sp>
      <p:sp>
        <p:nvSpPr>
          <p:cNvPr id="4" name="Text 2"/>
          <p:cNvSpPr/>
          <p:nvPr/>
        </p:nvSpPr>
        <p:spPr>
          <a:xfrm>
            <a:off x="7863840" y="0"/>
            <a:ext cx="1097280" cy="658368"/>
          </a:xfrm>
          <a:prstGeom prst="rect">
            <a:avLst/>
          </a:prstGeom>
          <a:noFill/>
          <a:ln/>
        </p:spPr>
        <p:txBody>
          <a:bodyPr wrap="square" lIns="0" tIns="0" rIns="0" bIns="0" rtlCol="0" anchor="ctr"/>
          <a:lstStyle/>
          <a:p>
            <a:pPr algn="r" indent="0" marL="0">
              <a:buNone/>
            </a:pPr>
            <a:r>
              <a:rPr lang="en-US" sz="900" dirty="0">
                <a:solidFill>
                  <a:srgbClr val="94A3B8"/>
                </a:solidFill>
              </a:rPr>
              <a:t>GRID-01</a:t>
            </a:r>
            <a:endParaRPr lang="en-US" sz="900" dirty="0"/>
          </a:p>
        </p:txBody>
      </p:sp>
      <p:sp>
        <p:nvSpPr>
          <p:cNvPr id="5" name="Shape 3"/>
          <p:cNvSpPr/>
          <p:nvPr/>
        </p:nvSpPr>
        <p:spPr>
          <a:xfrm>
            <a:off x="201168" y="804672"/>
            <a:ext cx="3840480" cy="914400"/>
          </a:xfrm>
          <a:prstGeom prst="rect">
            <a:avLst/>
          </a:prstGeom>
          <a:solidFill>
            <a:srgbClr val="0F2044"/>
          </a:solidFill>
          <a:ln w="12700">
            <a:solidFill>
              <a:srgbClr val="0F2044"/>
            </a:solidFill>
            <a:prstDash val="solid"/>
          </a:ln>
          <a:effectLst>
            <a:outerShdw sx="100000" sy="100000" kx="0" ky="0" algn="bl" rotWithShape="0" blurRad="101600" dist="38100" dir="8100000">
              <a:srgbClr val="000000">
                <a:alpha val="10000"/>
              </a:srgbClr>
            </a:outerShdw>
          </a:effectLst>
        </p:spPr>
      </p:sp>
      <p:sp>
        <p:nvSpPr>
          <p:cNvPr id="6" name="Text 4"/>
          <p:cNvSpPr/>
          <p:nvPr/>
        </p:nvSpPr>
        <p:spPr>
          <a:xfrm>
            <a:off x="347472" y="896112"/>
            <a:ext cx="3566160" cy="292608"/>
          </a:xfrm>
          <a:prstGeom prst="rect">
            <a:avLst/>
          </a:prstGeom>
          <a:noFill/>
          <a:ln/>
        </p:spPr>
        <p:txBody>
          <a:bodyPr wrap="square" lIns="0" tIns="0" rIns="0" bIns="0" rtlCol="0" anchor="ctr"/>
          <a:lstStyle/>
          <a:p>
            <a:pPr indent="0" marL="0">
              <a:buNone/>
            </a:pPr>
            <a:r>
              <a:rPr lang="en-US" sz="1100" b="1" dirty="0">
                <a:solidFill>
                  <a:srgbClr val="FFFFFF"/>
                </a:solidFill>
              </a:rPr>
              <a:t>THREE-AXIS PIVOT MODEL</a:t>
            </a:r>
            <a:endParaRPr lang="en-US" sz="1100" dirty="0"/>
          </a:p>
        </p:txBody>
      </p:sp>
      <p:sp>
        <p:nvSpPr>
          <p:cNvPr id="7" name="Text 5"/>
          <p:cNvSpPr/>
          <p:nvPr/>
        </p:nvSpPr>
        <p:spPr>
          <a:xfrm>
            <a:off x="347472" y="1225296"/>
            <a:ext cx="3566160" cy="438912"/>
          </a:xfrm>
          <a:prstGeom prst="rect">
            <a:avLst/>
          </a:prstGeom>
          <a:noFill/>
          <a:ln/>
        </p:spPr>
        <p:txBody>
          <a:bodyPr wrap="square" lIns="0" tIns="0" rIns="0" bIns="0" rtlCol="0" anchor="ctr"/>
          <a:lstStyle/>
          <a:p>
            <a:pPr indent="0" marL="0">
              <a:buNone/>
            </a:pPr>
            <a:r>
              <a:rPr lang="en-US" sz="850" dirty="0">
                <a:solidFill>
                  <a:srgbClr val="94A3B8"/>
                </a:solidFill>
              </a:rPr>
              <a:t>Any of the three planning dimensions — Product, Location, Calendar — may be placed on Y (rows), X (columns), or Z (page filter). Tiles are draggable between axes. Z accepts exactly one tile; dropping a new tile removes the previous. G-01 to G-07 · P0.</a:t>
            </a:r>
            <a:endParaRPr lang="en-US" sz="850" dirty="0"/>
          </a:p>
        </p:txBody>
      </p:sp>
      <p:sp>
        <p:nvSpPr>
          <p:cNvPr id="8" name="Shape 6"/>
          <p:cNvSpPr/>
          <p:nvPr/>
        </p:nvSpPr>
        <p:spPr>
          <a:xfrm>
            <a:off x="2103120" y="1719072"/>
            <a:ext cx="0" cy="137160"/>
          </a:xfrm>
          <a:prstGeom prst="line">
            <a:avLst/>
          </a:prstGeom>
          <a:noFill/>
          <a:ln w="19050">
            <a:solidFill>
              <a:srgbClr val="94A3B8"/>
            </a:solidFill>
            <a:prstDash val="solid"/>
          </a:ln>
        </p:spPr>
      </p:sp>
      <p:sp>
        <p:nvSpPr>
          <p:cNvPr id="9" name="Shape 7"/>
          <p:cNvSpPr/>
          <p:nvPr/>
        </p:nvSpPr>
        <p:spPr>
          <a:xfrm>
            <a:off x="201168" y="1856232"/>
            <a:ext cx="3840480" cy="914400"/>
          </a:xfrm>
          <a:prstGeom prst="rect">
            <a:avLst/>
          </a:prstGeom>
          <a:solidFill>
            <a:srgbClr val="0D7377"/>
          </a:solidFill>
          <a:ln w="12700">
            <a:solidFill>
              <a:srgbClr val="0D7377"/>
            </a:solidFill>
            <a:prstDash val="solid"/>
          </a:ln>
          <a:effectLst>
            <a:outerShdw sx="100000" sy="100000" kx="0" ky="0" algn="bl" rotWithShape="0" blurRad="101600" dist="38100" dir="8100000">
              <a:srgbClr val="000000">
                <a:alpha val="10000"/>
              </a:srgbClr>
            </a:outerShdw>
          </a:effectLst>
        </p:spPr>
      </p:sp>
      <p:sp>
        <p:nvSpPr>
          <p:cNvPr id="10" name="Text 8"/>
          <p:cNvSpPr/>
          <p:nvPr/>
        </p:nvSpPr>
        <p:spPr>
          <a:xfrm>
            <a:off x="347472" y="1947672"/>
            <a:ext cx="3566160" cy="292608"/>
          </a:xfrm>
          <a:prstGeom prst="rect">
            <a:avLst/>
          </a:prstGeom>
          <a:noFill/>
          <a:ln/>
        </p:spPr>
        <p:txBody>
          <a:bodyPr wrap="square" lIns="0" tIns="0" rIns="0" bIns="0" rtlCol="0" anchor="ctr"/>
          <a:lstStyle/>
          <a:p>
            <a:pPr indent="0" marL="0">
              <a:buNone/>
            </a:pPr>
            <a:r>
              <a:rPr lang="en-US" sz="1100" b="1" dirty="0">
                <a:solidFill>
                  <a:srgbClr val="FFFFFF"/>
                </a:solidFill>
              </a:rPr>
              <a:t>COLUMN HEADERS</a:t>
            </a:r>
            <a:endParaRPr lang="en-US" sz="1100" dirty="0"/>
          </a:p>
        </p:txBody>
      </p:sp>
      <p:sp>
        <p:nvSpPr>
          <p:cNvPr id="11" name="Text 9"/>
          <p:cNvSpPr/>
          <p:nvPr/>
        </p:nvSpPr>
        <p:spPr>
          <a:xfrm>
            <a:off x="347472" y="2276856"/>
            <a:ext cx="3566160" cy="438912"/>
          </a:xfrm>
          <a:prstGeom prst="rect">
            <a:avLst/>
          </a:prstGeom>
          <a:noFill/>
          <a:ln/>
        </p:spPr>
        <p:txBody>
          <a:bodyPr wrap="square" lIns="0" tIns="0" rIns="0" bIns="0" rtlCol="0" anchor="ctr"/>
          <a:lstStyle/>
          <a:p>
            <a:pPr indent="0" marL="0">
              <a:buNone/>
            </a:pPr>
            <a:r>
              <a:rPr lang="en-US" sz="850" dirty="0">
                <a:solidFill>
                  <a:srgbClr val="94A3B8"/>
                </a:solidFill>
              </a:rPr>
              <a:t>Up to three header rows: parent group, leaf member, metric/version sub-headers. Each metric pair (Ag + Wp) is visually grouped and colour-tinted. All column headers and the row-label column are sticky/frozen on scroll. G-08 to G-11 · P0.</a:t>
            </a:r>
            <a:endParaRPr lang="en-US" sz="850" dirty="0"/>
          </a:p>
        </p:txBody>
      </p:sp>
      <p:sp>
        <p:nvSpPr>
          <p:cNvPr id="12" name="Shape 10"/>
          <p:cNvSpPr/>
          <p:nvPr/>
        </p:nvSpPr>
        <p:spPr>
          <a:xfrm>
            <a:off x="2103120" y="2770632"/>
            <a:ext cx="0" cy="137160"/>
          </a:xfrm>
          <a:prstGeom prst="line">
            <a:avLst/>
          </a:prstGeom>
          <a:noFill/>
          <a:ln w="19050">
            <a:solidFill>
              <a:srgbClr val="94A3B8"/>
            </a:solidFill>
            <a:prstDash val="solid"/>
          </a:ln>
        </p:spPr>
      </p:sp>
      <p:sp>
        <p:nvSpPr>
          <p:cNvPr id="13" name="Shape 11"/>
          <p:cNvSpPr/>
          <p:nvPr/>
        </p:nvSpPr>
        <p:spPr>
          <a:xfrm>
            <a:off x="201168" y="2907792"/>
            <a:ext cx="3840480" cy="914400"/>
          </a:xfrm>
          <a:prstGeom prst="rect">
            <a:avLst/>
          </a:prstGeom>
          <a:solidFill>
            <a:srgbClr val="7C3AED"/>
          </a:solidFill>
          <a:ln w="12700">
            <a:solidFill>
              <a:srgbClr val="7C3AED"/>
            </a:solidFill>
            <a:prstDash val="solid"/>
          </a:ln>
          <a:effectLst>
            <a:outerShdw sx="100000" sy="100000" kx="0" ky="0" algn="bl" rotWithShape="0" blurRad="101600" dist="38100" dir="8100000">
              <a:srgbClr val="000000">
                <a:alpha val="10000"/>
              </a:srgbClr>
            </a:outerShdw>
          </a:effectLst>
        </p:spPr>
      </p:sp>
      <p:sp>
        <p:nvSpPr>
          <p:cNvPr id="14" name="Text 12"/>
          <p:cNvSpPr/>
          <p:nvPr/>
        </p:nvSpPr>
        <p:spPr>
          <a:xfrm>
            <a:off x="347472" y="2999232"/>
            <a:ext cx="3566160" cy="292608"/>
          </a:xfrm>
          <a:prstGeom prst="rect">
            <a:avLst/>
          </a:prstGeom>
          <a:noFill/>
          <a:ln/>
        </p:spPr>
        <p:txBody>
          <a:bodyPr wrap="square" lIns="0" tIns="0" rIns="0" bIns="0" rtlCol="0" anchor="ctr"/>
          <a:lstStyle/>
          <a:p>
            <a:pPr indent="0" marL="0">
              <a:buNone/>
            </a:pPr>
            <a:r>
              <a:rPr lang="en-US" sz="1100" b="1" dirty="0">
                <a:solidFill>
                  <a:srgbClr val="FFFFFF"/>
                </a:solidFill>
              </a:rPr>
              <a:t>ROW HIERARCHY</a:t>
            </a:r>
            <a:endParaRPr lang="en-US" sz="1100" dirty="0"/>
          </a:p>
        </p:txBody>
      </p:sp>
      <p:sp>
        <p:nvSpPr>
          <p:cNvPr id="15" name="Text 13"/>
          <p:cNvSpPr/>
          <p:nvPr/>
        </p:nvSpPr>
        <p:spPr>
          <a:xfrm>
            <a:off x="347472" y="3328416"/>
            <a:ext cx="3566160" cy="438912"/>
          </a:xfrm>
          <a:prstGeom prst="rect">
            <a:avLst/>
          </a:prstGeom>
          <a:noFill/>
          <a:ln/>
        </p:spPr>
        <p:txBody>
          <a:bodyPr wrap="square" lIns="0" tIns="0" rIns="0" bIns="0" rtlCol="0" anchor="ctr"/>
          <a:lstStyle/>
          <a:p>
            <a:pPr indent="0" marL="0">
              <a:buNone/>
            </a:pPr>
            <a:r>
              <a:rPr lang="en-US" sz="850" dirty="0">
                <a:solidFill>
                  <a:srgbClr val="DDD6FE"/>
                </a:solidFill>
              </a:rPr>
              <a:t>Parent rows: expand/collapse toggle, 14 px indentation per level. Leaf rows: editable Wp cells. Parent rows: read-only aggregated values. Style-level rows: 32x42 px product thumbnail beside label (P2). Colour-level rows: filled colour swatch circle (P2). G-12 to G-16.</a:t>
            </a:r>
            <a:endParaRPr lang="en-US" sz="850" dirty="0"/>
          </a:p>
        </p:txBody>
      </p:sp>
      <p:sp>
        <p:nvSpPr>
          <p:cNvPr id="16" name="Shape 14"/>
          <p:cNvSpPr/>
          <p:nvPr/>
        </p:nvSpPr>
        <p:spPr>
          <a:xfrm>
            <a:off x="2103120" y="3822192"/>
            <a:ext cx="0" cy="137160"/>
          </a:xfrm>
          <a:prstGeom prst="line">
            <a:avLst/>
          </a:prstGeom>
          <a:noFill/>
          <a:ln w="19050">
            <a:solidFill>
              <a:srgbClr val="94A3B8"/>
            </a:solidFill>
            <a:prstDash val="solid"/>
          </a:ln>
        </p:spPr>
      </p:sp>
      <p:sp>
        <p:nvSpPr>
          <p:cNvPr id="17" name="Shape 15"/>
          <p:cNvSpPr/>
          <p:nvPr/>
        </p:nvSpPr>
        <p:spPr>
          <a:xfrm>
            <a:off x="201168" y="3959352"/>
            <a:ext cx="3840480" cy="914400"/>
          </a:xfrm>
          <a:prstGeom prst="rect">
            <a:avLst/>
          </a:prstGeom>
          <a:solidFill>
            <a:srgbClr val="334155"/>
          </a:solidFill>
          <a:ln w="12700">
            <a:solidFill>
              <a:srgbClr val="334155"/>
            </a:solidFill>
            <a:prstDash val="solid"/>
          </a:ln>
          <a:effectLst>
            <a:outerShdw sx="100000" sy="100000" kx="0" ky="0" algn="bl" rotWithShape="0" blurRad="101600" dist="38100" dir="8100000">
              <a:srgbClr val="000000">
                <a:alpha val="10000"/>
              </a:srgbClr>
            </a:outerShdw>
          </a:effectLst>
        </p:spPr>
      </p:sp>
      <p:sp>
        <p:nvSpPr>
          <p:cNvPr id="18" name="Text 16"/>
          <p:cNvSpPr/>
          <p:nvPr/>
        </p:nvSpPr>
        <p:spPr>
          <a:xfrm>
            <a:off x="347472" y="4050792"/>
            <a:ext cx="3566160" cy="292608"/>
          </a:xfrm>
          <a:prstGeom prst="rect">
            <a:avLst/>
          </a:prstGeom>
          <a:noFill/>
          <a:ln/>
        </p:spPr>
        <p:txBody>
          <a:bodyPr wrap="square" lIns="0" tIns="0" rIns="0" bIns="0" rtlCol="0" anchor="ctr"/>
          <a:lstStyle/>
          <a:p>
            <a:pPr indent="0" marL="0">
              <a:buNone/>
            </a:pPr>
            <a:r>
              <a:rPr lang="en-US" sz="1100" b="1" dirty="0">
                <a:solidFill>
                  <a:srgbClr val="FFFFFF"/>
                </a:solidFill>
              </a:rPr>
              <a:t>METRIC SELECTION</a:t>
            </a:r>
            <a:endParaRPr lang="en-US" sz="1100" dirty="0"/>
          </a:p>
        </p:txBody>
      </p:sp>
      <p:sp>
        <p:nvSpPr>
          <p:cNvPr id="19" name="Text 17"/>
          <p:cNvSpPr/>
          <p:nvPr/>
        </p:nvSpPr>
        <p:spPr>
          <a:xfrm>
            <a:off x="347472" y="4379976"/>
            <a:ext cx="3566160" cy="438912"/>
          </a:xfrm>
          <a:prstGeom prst="rect">
            <a:avLst/>
          </a:prstGeom>
          <a:noFill/>
          <a:ln/>
        </p:spPr>
        <p:txBody>
          <a:bodyPr wrap="square" lIns="0" tIns="0" rIns="0" bIns="0" rtlCol="0" anchor="ctr"/>
          <a:lstStyle/>
          <a:p>
            <a:pPr indent="0" marL="0">
              <a:buNone/>
            </a:pPr>
            <a:r>
              <a:rPr lang="en-US" sz="850" dirty="0">
                <a:solidFill>
                  <a:srgbClr val="DDD6FE"/>
                </a:solidFill>
              </a:rPr>
              <a:t>6 available metrics as sidebar toggle chips. Active = columns in grid. Deselecting hides columns but preserves all override state. Re-enabling restores overrides. At least one metric must remain active (deselecting the last is blocked). ME-01 to ME-04.</a:t>
            </a:r>
            <a:endParaRPr lang="en-US" sz="850" dirty="0"/>
          </a:p>
        </p:txBody>
      </p:sp>
      <p:sp>
        <p:nvSpPr>
          <p:cNvPr id="20" name="Shape 18"/>
          <p:cNvSpPr/>
          <p:nvPr/>
        </p:nvSpPr>
        <p:spPr>
          <a:xfrm>
            <a:off x="201168" y="4645152"/>
            <a:ext cx="3840480" cy="365760"/>
          </a:xfrm>
          <a:prstGeom prst="rect">
            <a:avLst/>
          </a:prstGeom>
          <a:solidFill>
            <a:srgbClr val="F7F9FC"/>
          </a:solidFill>
          <a:ln w="12700">
            <a:solidFill>
              <a:srgbClr val="E2E8F0"/>
            </a:solidFill>
            <a:prstDash val="solid"/>
          </a:ln>
        </p:spPr>
      </p:sp>
      <p:sp>
        <p:nvSpPr>
          <p:cNvPr id="21" name="Text 19"/>
          <p:cNvSpPr/>
          <p:nvPr/>
        </p:nvSpPr>
        <p:spPr>
          <a:xfrm>
            <a:off x="274320" y="4645152"/>
            <a:ext cx="3749040" cy="365760"/>
          </a:xfrm>
          <a:prstGeom prst="rect">
            <a:avLst/>
          </a:prstGeom>
          <a:noFill/>
          <a:ln/>
        </p:spPr>
        <p:txBody>
          <a:bodyPr wrap="square" lIns="0" tIns="0" rIns="0" bIns="0" rtlCol="0" anchor="ctr"/>
          <a:lstStyle/>
          <a:p>
            <a:pPr indent="0" marL="0">
              <a:buNone/>
            </a:pPr>
            <a:r>
              <a:rPr lang="en-US" sz="850" b="1" dirty="0">
                <a:solidFill>
                  <a:srgbClr val="0F2044"/>
                </a:solidFill>
              </a:rPr>
              <a:t>KEY DESIGN RULES</a:t>
            </a:r>
            <a:pPr indent="0" marL="0">
              <a:buNone/>
            </a:pPr>
            <a:r>
              <a:rPr lang="en-US" sz="850" dirty="0">
                <a:solidFill>
                  <a:srgbClr val="64748B"/>
                </a:solidFill>
              </a:rPr>
              <a:t/>
            </a:r>
            <a:endParaRPr lang="en-US" sz="850" dirty="0"/>
          </a:p>
        </p:txBody>
      </p:sp>
      <p:sp>
        <p:nvSpPr>
          <p:cNvPr id="22" name="Shape 20"/>
          <p:cNvSpPr/>
          <p:nvPr/>
        </p:nvSpPr>
        <p:spPr>
          <a:xfrm>
            <a:off x="4315968" y="804672"/>
            <a:ext cx="4626864" cy="768096"/>
          </a:xfrm>
          <a:prstGeom prst="rect">
            <a:avLst/>
          </a:prstGeom>
          <a:solidFill>
            <a:srgbClr val="F7F9FC"/>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23" name="Shape 21"/>
          <p:cNvSpPr/>
          <p:nvPr/>
        </p:nvSpPr>
        <p:spPr>
          <a:xfrm>
            <a:off x="4315968" y="804672"/>
            <a:ext cx="54864" cy="768096"/>
          </a:xfrm>
          <a:prstGeom prst="rect">
            <a:avLst/>
          </a:prstGeom>
          <a:solidFill>
            <a:srgbClr val="0D7377"/>
          </a:solidFill>
          <a:ln w="12700">
            <a:solidFill>
              <a:srgbClr val="0D7377"/>
            </a:solidFill>
            <a:prstDash val="solid"/>
          </a:ln>
        </p:spPr>
      </p:sp>
      <p:pic>
        <p:nvPicPr>
          <p:cNvPr id="24" name="Image 0" descr="preencoded.png"/>
          <p:cNvPicPr>
            <a:picLocks noChangeAspect="1"/>
          </p:cNvPicPr>
          <p:nvPr/>
        </p:nvPicPr>
        <p:blipFill>
          <a:blip r:embed="rId1"/>
          <a:stretch>
            <a:fillRect/>
          </a:stretch>
        </p:blipFill>
        <p:spPr>
          <a:xfrm>
            <a:off x="4462272" y="1024128"/>
            <a:ext cx="274320" cy="274320"/>
          </a:xfrm>
          <a:prstGeom prst="rect">
            <a:avLst/>
          </a:prstGeom>
        </p:spPr>
      </p:pic>
      <p:sp>
        <p:nvSpPr>
          <p:cNvPr id="25" name="Text 22"/>
          <p:cNvSpPr/>
          <p:nvPr/>
        </p:nvSpPr>
        <p:spPr>
          <a:xfrm>
            <a:off x="4828032" y="896112"/>
            <a:ext cx="4023360" cy="256032"/>
          </a:xfrm>
          <a:prstGeom prst="rect">
            <a:avLst/>
          </a:prstGeom>
          <a:noFill/>
          <a:ln/>
        </p:spPr>
        <p:txBody>
          <a:bodyPr wrap="square" lIns="0" tIns="0" rIns="0" bIns="0" rtlCol="0" anchor="ctr"/>
          <a:lstStyle/>
          <a:p>
            <a:pPr indent="0" marL="0">
              <a:buNone/>
            </a:pPr>
            <a:r>
              <a:rPr lang="en-US" sz="1000" b="1" dirty="0">
                <a:solidFill>
                  <a:srgbClr val="0F2044"/>
                </a:solidFill>
              </a:rPr>
              <a:t>Dual-Value Cell Model</a:t>
            </a:r>
            <a:endParaRPr lang="en-US" sz="1000" dirty="0"/>
          </a:p>
        </p:txBody>
      </p:sp>
      <p:sp>
        <p:nvSpPr>
          <p:cNvPr id="26" name="Text 23"/>
          <p:cNvSpPr/>
          <p:nvPr/>
        </p:nvSpPr>
        <p:spPr>
          <a:xfrm>
            <a:off x="4828032" y="1170432"/>
            <a:ext cx="4023360" cy="365760"/>
          </a:xfrm>
          <a:prstGeom prst="rect">
            <a:avLst/>
          </a:prstGeom>
          <a:noFill/>
          <a:ln/>
        </p:spPr>
        <p:txBody>
          <a:bodyPr wrap="square" lIns="0" tIns="0" rIns="0" bIns="0" rtlCol="0" anchor="ctr"/>
          <a:lstStyle/>
          <a:p>
            <a:pPr indent="0" marL="0">
              <a:buNone/>
            </a:pPr>
            <a:r>
              <a:rPr lang="en-US" sz="800" dirty="0">
                <a:solidFill>
                  <a:srgbClr val="64748B"/>
                </a:solidFill>
              </a:rPr>
              <a:t>Every cell carries Ag (agent, read-only, tinted) and Wp (working plan, editable at leaf level) simultaneously. Parent rows show rolled-up values with Wp vs Ag delta badges. Grand Total row pinned at top; GT-01, GT-02.</a:t>
            </a:r>
            <a:endParaRPr lang="en-US" sz="800" dirty="0"/>
          </a:p>
        </p:txBody>
      </p:sp>
      <p:sp>
        <p:nvSpPr>
          <p:cNvPr id="27" name="Shape 24"/>
          <p:cNvSpPr/>
          <p:nvPr/>
        </p:nvSpPr>
        <p:spPr>
          <a:xfrm>
            <a:off x="4315968" y="1655064"/>
            <a:ext cx="4626864" cy="768096"/>
          </a:xfrm>
          <a:prstGeom prst="rect">
            <a:avLst/>
          </a:prstGeom>
          <a:solidFill>
            <a:srgbClr val="F7F9FC"/>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28" name="Shape 25"/>
          <p:cNvSpPr/>
          <p:nvPr/>
        </p:nvSpPr>
        <p:spPr>
          <a:xfrm>
            <a:off x="4315968" y="1655064"/>
            <a:ext cx="54864" cy="768096"/>
          </a:xfrm>
          <a:prstGeom prst="rect">
            <a:avLst/>
          </a:prstGeom>
          <a:solidFill>
            <a:srgbClr val="0F2044"/>
          </a:solidFill>
          <a:ln w="12700">
            <a:solidFill>
              <a:srgbClr val="0F2044"/>
            </a:solidFill>
            <a:prstDash val="solid"/>
          </a:ln>
        </p:spPr>
      </p:sp>
      <p:pic>
        <p:nvPicPr>
          <p:cNvPr id="29" name="Image 1" descr="preencoded.png"/>
          <p:cNvPicPr>
            <a:picLocks noChangeAspect="1"/>
          </p:cNvPicPr>
          <p:nvPr/>
        </p:nvPicPr>
        <p:blipFill>
          <a:blip r:embed="rId2"/>
          <a:stretch>
            <a:fillRect/>
          </a:stretch>
        </p:blipFill>
        <p:spPr>
          <a:xfrm>
            <a:off x="4462272" y="1874520"/>
            <a:ext cx="274320" cy="274320"/>
          </a:xfrm>
          <a:prstGeom prst="rect">
            <a:avLst/>
          </a:prstGeom>
        </p:spPr>
      </p:pic>
      <p:sp>
        <p:nvSpPr>
          <p:cNvPr id="30" name="Text 26"/>
          <p:cNvSpPr/>
          <p:nvPr/>
        </p:nvSpPr>
        <p:spPr>
          <a:xfrm>
            <a:off x="4828032" y="1746504"/>
            <a:ext cx="4023360" cy="256032"/>
          </a:xfrm>
          <a:prstGeom prst="rect">
            <a:avLst/>
          </a:prstGeom>
          <a:noFill/>
          <a:ln/>
        </p:spPr>
        <p:txBody>
          <a:bodyPr wrap="square" lIns="0" tIns="0" rIns="0" bIns="0" rtlCol="0" anchor="ctr"/>
          <a:lstStyle/>
          <a:p>
            <a:pPr indent="0" marL="0">
              <a:buNone/>
            </a:pPr>
            <a:r>
              <a:rPr lang="en-US" sz="1000" b="1" dirty="0">
                <a:solidFill>
                  <a:srgbClr val="0F2044"/>
                </a:solidFill>
              </a:rPr>
              <a:t>Axis Flexibility</a:t>
            </a:r>
            <a:endParaRPr lang="en-US" sz="1000" dirty="0"/>
          </a:p>
        </p:txBody>
      </p:sp>
      <p:sp>
        <p:nvSpPr>
          <p:cNvPr id="31" name="Text 27"/>
          <p:cNvSpPr/>
          <p:nvPr/>
        </p:nvSpPr>
        <p:spPr>
          <a:xfrm>
            <a:off x="4828032" y="2020824"/>
            <a:ext cx="4023360" cy="365760"/>
          </a:xfrm>
          <a:prstGeom prst="rect">
            <a:avLst/>
          </a:prstGeom>
          <a:noFill/>
          <a:ln/>
        </p:spPr>
        <p:txBody>
          <a:bodyPr wrap="square" lIns="0" tIns="0" rIns="0" bIns="0" rtlCol="0" anchor="ctr"/>
          <a:lstStyle/>
          <a:p>
            <a:pPr indent="0" marL="0">
              <a:buNone/>
            </a:pPr>
            <a:r>
              <a:rPr lang="en-US" sz="800" dirty="0">
                <a:solidFill>
                  <a:srgbClr val="64748B"/>
                </a:solidFill>
              </a:rPr>
              <a:t>Planners can drag any dimension to any axis. Swap X/Y transposes rows and columns in one action. All override state persists across every pivot change — no data loss on axis reconfiguration. Unassigned dimensions sit in a tray. G-04, G-06, G-07.</a:t>
            </a:r>
            <a:endParaRPr lang="en-US" sz="800" dirty="0"/>
          </a:p>
        </p:txBody>
      </p:sp>
      <p:sp>
        <p:nvSpPr>
          <p:cNvPr id="32" name="Shape 28"/>
          <p:cNvSpPr/>
          <p:nvPr/>
        </p:nvSpPr>
        <p:spPr>
          <a:xfrm>
            <a:off x="4315968" y="2505456"/>
            <a:ext cx="4626864" cy="768096"/>
          </a:xfrm>
          <a:prstGeom prst="rect">
            <a:avLst/>
          </a:prstGeom>
          <a:solidFill>
            <a:srgbClr val="F7F9FC"/>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33" name="Shape 29"/>
          <p:cNvSpPr/>
          <p:nvPr/>
        </p:nvSpPr>
        <p:spPr>
          <a:xfrm>
            <a:off x="4315968" y="2505456"/>
            <a:ext cx="54864" cy="768096"/>
          </a:xfrm>
          <a:prstGeom prst="rect">
            <a:avLst/>
          </a:prstGeom>
          <a:solidFill>
            <a:srgbClr val="7C3AED"/>
          </a:solidFill>
          <a:ln w="12700">
            <a:solidFill>
              <a:srgbClr val="7C3AED"/>
            </a:solidFill>
            <a:prstDash val="solid"/>
          </a:ln>
        </p:spPr>
      </p:sp>
      <p:pic>
        <p:nvPicPr>
          <p:cNvPr id="34" name="Image 2" descr="preencoded.png"/>
          <p:cNvPicPr>
            <a:picLocks noChangeAspect="1"/>
          </p:cNvPicPr>
          <p:nvPr/>
        </p:nvPicPr>
        <p:blipFill>
          <a:blip r:embed="rId3"/>
          <a:stretch>
            <a:fillRect/>
          </a:stretch>
        </p:blipFill>
        <p:spPr>
          <a:xfrm>
            <a:off x="4462272" y="2724912"/>
            <a:ext cx="274320" cy="274320"/>
          </a:xfrm>
          <a:prstGeom prst="rect">
            <a:avLst/>
          </a:prstGeom>
        </p:spPr>
      </p:pic>
      <p:sp>
        <p:nvSpPr>
          <p:cNvPr id="35" name="Text 30"/>
          <p:cNvSpPr/>
          <p:nvPr/>
        </p:nvSpPr>
        <p:spPr>
          <a:xfrm>
            <a:off x="4828032" y="2596896"/>
            <a:ext cx="4023360" cy="256032"/>
          </a:xfrm>
          <a:prstGeom prst="rect">
            <a:avLst/>
          </a:prstGeom>
          <a:noFill/>
          <a:ln/>
        </p:spPr>
        <p:txBody>
          <a:bodyPr wrap="square" lIns="0" tIns="0" rIns="0" bIns="0" rtlCol="0" anchor="ctr"/>
          <a:lstStyle/>
          <a:p>
            <a:pPr indent="0" marL="0">
              <a:buNone/>
            </a:pPr>
            <a:r>
              <a:rPr lang="en-US" sz="1000" b="1" dirty="0">
                <a:solidFill>
                  <a:srgbClr val="0F2044"/>
                </a:solidFill>
              </a:rPr>
              <a:t>Sticky Navigation</a:t>
            </a:r>
            <a:endParaRPr lang="en-US" sz="1000" dirty="0"/>
          </a:p>
        </p:txBody>
      </p:sp>
      <p:sp>
        <p:nvSpPr>
          <p:cNvPr id="36" name="Text 31"/>
          <p:cNvSpPr/>
          <p:nvPr/>
        </p:nvSpPr>
        <p:spPr>
          <a:xfrm>
            <a:off x="4828032" y="2871216"/>
            <a:ext cx="4023360" cy="365760"/>
          </a:xfrm>
          <a:prstGeom prst="rect">
            <a:avLst/>
          </a:prstGeom>
          <a:noFill/>
          <a:ln/>
        </p:spPr>
        <p:txBody>
          <a:bodyPr wrap="square" lIns="0" tIns="0" rIns="0" bIns="0" rtlCol="0" anchor="ctr"/>
          <a:lstStyle/>
          <a:p>
            <a:pPr indent="0" marL="0">
              <a:buNone/>
            </a:pPr>
            <a:r>
              <a:rPr lang="en-US" sz="800" dirty="0">
                <a:solidFill>
                  <a:srgbClr val="64748B"/>
                </a:solidFill>
              </a:rPr>
              <a:t>Column headers frozen at top across vertical scroll. Row label column frozen at left across horizontal scroll. Grand Total row pinned at top of the grid body. Subtotal rows togglable. Sidebar fully collapsible to free horizontal space (UX-05 — P0).</a:t>
            </a:r>
            <a:endParaRPr lang="en-US" sz="800" dirty="0"/>
          </a:p>
        </p:txBody>
      </p:sp>
      <p:sp>
        <p:nvSpPr>
          <p:cNvPr id="37" name="Shape 32"/>
          <p:cNvSpPr/>
          <p:nvPr/>
        </p:nvSpPr>
        <p:spPr>
          <a:xfrm>
            <a:off x="4315968" y="3355848"/>
            <a:ext cx="4626864" cy="768096"/>
          </a:xfrm>
          <a:prstGeom prst="rect">
            <a:avLst/>
          </a:prstGeom>
          <a:solidFill>
            <a:srgbClr val="F7F9FC"/>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38" name="Shape 33"/>
          <p:cNvSpPr/>
          <p:nvPr/>
        </p:nvSpPr>
        <p:spPr>
          <a:xfrm>
            <a:off x="4315968" y="3355848"/>
            <a:ext cx="54864" cy="768096"/>
          </a:xfrm>
          <a:prstGeom prst="rect">
            <a:avLst/>
          </a:prstGeom>
          <a:solidFill>
            <a:srgbClr val="F59E0B"/>
          </a:solidFill>
          <a:ln w="12700">
            <a:solidFill>
              <a:srgbClr val="F59E0B"/>
            </a:solidFill>
            <a:prstDash val="solid"/>
          </a:ln>
        </p:spPr>
      </p:sp>
      <p:pic>
        <p:nvPicPr>
          <p:cNvPr id="39" name="Image 3" descr="preencoded.png"/>
          <p:cNvPicPr>
            <a:picLocks noChangeAspect="1"/>
          </p:cNvPicPr>
          <p:nvPr/>
        </p:nvPicPr>
        <p:blipFill>
          <a:blip r:embed="rId4"/>
          <a:stretch>
            <a:fillRect/>
          </a:stretch>
        </p:blipFill>
        <p:spPr>
          <a:xfrm>
            <a:off x="4462272" y="3575304"/>
            <a:ext cx="274320" cy="274320"/>
          </a:xfrm>
          <a:prstGeom prst="rect">
            <a:avLst/>
          </a:prstGeom>
        </p:spPr>
      </p:pic>
      <p:sp>
        <p:nvSpPr>
          <p:cNvPr id="40" name="Text 34"/>
          <p:cNvSpPr/>
          <p:nvPr/>
        </p:nvSpPr>
        <p:spPr>
          <a:xfrm>
            <a:off x="4828032" y="3447288"/>
            <a:ext cx="4023360" cy="256032"/>
          </a:xfrm>
          <a:prstGeom prst="rect">
            <a:avLst/>
          </a:prstGeom>
          <a:noFill/>
          <a:ln/>
        </p:spPr>
        <p:txBody>
          <a:bodyPr wrap="square" lIns="0" tIns="0" rIns="0" bIns="0" rtlCol="0" anchor="ctr"/>
          <a:lstStyle/>
          <a:p>
            <a:pPr indent="0" marL="0">
              <a:buNone/>
            </a:pPr>
            <a:r>
              <a:rPr lang="en-US" sz="1000" b="1" dirty="0">
                <a:solidFill>
                  <a:srgbClr val="0F2044"/>
                </a:solidFill>
              </a:rPr>
              <a:t>Level Selection</a:t>
            </a:r>
            <a:endParaRPr lang="en-US" sz="1000" dirty="0"/>
          </a:p>
        </p:txBody>
      </p:sp>
      <p:sp>
        <p:nvSpPr>
          <p:cNvPr id="41" name="Text 35"/>
          <p:cNvSpPr/>
          <p:nvPr/>
        </p:nvSpPr>
        <p:spPr>
          <a:xfrm>
            <a:off x="4828032" y="3721608"/>
            <a:ext cx="4023360" cy="365760"/>
          </a:xfrm>
          <a:prstGeom prst="rect">
            <a:avLst/>
          </a:prstGeom>
          <a:noFill/>
          <a:ln/>
        </p:spPr>
        <p:txBody>
          <a:bodyPr wrap="square" lIns="0" tIns="0" rIns="0" bIns="0" rtlCol="0" anchor="ctr"/>
          <a:lstStyle/>
          <a:p>
            <a:pPr indent="0" marL="0">
              <a:buNone/>
            </a:pPr>
            <a:r>
              <a:rPr lang="en-US" sz="800" dirty="0">
                <a:solidFill>
                  <a:srgbClr val="64748B"/>
                </a:solidFill>
              </a:rPr>
              <a:t>Each dimension tile exposes a level picker. Multiple levels selectable simultaneously for nested row/column groups (e.g. Department + Class on Y = indented class children). Swap X/Y preserves all override state. G-05, G-06.</a:t>
            </a:r>
            <a:endParaRPr lang="en-US" sz="800" dirty="0"/>
          </a:p>
        </p:txBody>
      </p:sp>
      <p:sp>
        <p:nvSpPr>
          <p:cNvPr id="42" name="Shape 36"/>
          <p:cNvSpPr/>
          <p:nvPr/>
        </p:nvSpPr>
        <p:spPr>
          <a:xfrm>
            <a:off x="4315968" y="4206240"/>
            <a:ext cx="4626864" cy="768096"/>
          </a:xfrm>
          <a:prstGeom prst="rect">
            <a:avLst/>
          </a:prstGeom>
          <a:solidFill>
            <a:srgbClr val="F7F9FC"/>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43" name="Shape 37"/>
          <p:cNvSpPr/>
          <p:nvPr/>
        </p:nvSpPr>
        <p:spPr>
          <a:xfrm>
            <a:off x="4315968" y="4206240"/>
            <a:ext cx="54864" cy="768096"/>
          </a:xfrm>
          <a:prstGeom prst="rect">
            <a:avLst/>
          </a:prstGeom>
          <a:solidFill>
            <a:srgbClr val="0D7377"/>
          </a:solidFill>
          <a:ln w="12700">
            <a:solidFill>
              <a:srgbClr val="0D7377"/>
            </a:solidFill>
            <a:prstDash val="solid"/>
          </a:ln>
        </p:spPr>
      </p:sp>
      <p:pic>
        <p:nvPicPr>
          <p:cNvPr id="44" name="Image 4" descr="preencoded.png"/>
          <p:cNvPicPr>
            <a:picLocks noChangeAspect="1"/>
          </p:cNvPicPr>
          <p:nvPr/>
        </p:nvPicPr>
        <p:blipFill>
          <a:blip r:embed="rId5"/>
          <a:stretch>
            <a:fillRect/>
          </a:stretch>
        </p:blipFill>
        <p:spPr>
          <a:xfrm>
            <a:off x="4462272" y="4425696"/>
            <a:ext cx="274320" cy="274320"/>
          </a:xfrm>
          <a:prstGeom prst="rect">
            <a:avLst/>
          </a:prstGeom>
        </p:spPr>
      </p:pic>
      <p:sp>
        <p:nvSpPr>
          <p:cNvPr id="45" name="Text 38"/>
          <p:cNvSpPr/>
          <p:nvPr/>
        </p:nvSpPr>
        <p:spPr>
          <a:xfrm>
            <a:off x="4828032" y="4297680"/>
            <a:ext cx="4023360" cy="256032"/>
          </a:xfrm>
          <a:prstGeom prst="rect">
            <a:avLst/>
          </a:prstGeom>
          <a:noFill/>
          <a:ln/>
        </p:spPr>
        <p:txBody>
          <a:bodyPr wrap="square" lIns="0" tIns="0" rIns="0" bIns="0" rtlCol="0" anchor="ctr"/>
          <a:lstStyle/>
          <a:p>
            <a:pPr indent="0" marL="0">
              <a:buNone/>
            </a:pPr>
            <a:r>
              <a:rPr lang="en-US" sz="1000" b="1" dirty="0">
                <a:solidFill>
                  <a:srgbClr val="0F2044"/>
                </a:solidFill>
              </a:rPr>
              <a:t>Heat Map Toggle</a:t>
            </a:r>
            <a:endParaRPr lang="en-US" sz="1000" dirty="0"/>
          </a:p>
        </p:txBody>
      </p:sp>
      <p:sp>
        <p:nvSpPr>
          <p:cNvPr id="46" name="Text 39"/>
          <p:cNvSpPr/>
          <p:nvPr/>
        </p:nvSpPr>
        <p:spPr>
          <a:xfrm>
            <a:off x="4828032" y="4572000"/>
            <a:ext cx="4023360" cy="365760"/>
          </a:xfrm>
          <a:prstGeom prst="rect">
            <a:avLst/>
          </a:prstGeom>
          <a:noFill/>
          <a:ln/>
        </p:spPr>
        <p:txBody>
          <a:bodyPr wrap="square" lIns="0" tIns="0" rIns="0" bIns="0" rtlCol="0" anchor="ctr"/>
          <a:lstStyle/>
          <a:p>
            <a:pPr indent="0" marL="0">
              <a:buNone/>
            </a:pPr>
            <a:r>
              <a:rPr lang="en-US" sz="800" dirty="0">
                <a:solidFill>
                  <a:srgbClr val="64748B"/>
                </a:solidFill>
              </a:rPr>
              <a:t>Applies colour-coded backgrounds to Wp cells by per-metric thresholds. GM%: green &gt;= 44%, amber 38-44%, red &lt; 38%. ST%: green &gt;= 70%, amber 55-70%, red &lt; 55%. Ag cells never heat-coloured. Coexists with override styling (violet + heat simultaneously). HM-01 to HM-07.</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F2044"/>
          </a:solidFill>
          <a:ln w="12700">
            <a:solidFill>
              <a:srgbClr val="0F2044"/>
            </a:solidFill>
            <a:prstDash val="solid"/>
          </a:ln>
        </p:spPr>
      </p:sp>
      <p:sp>
        <p:nvSpPr>
          <p:cNvPr id="3" name="Text 1"/>
          <p:cNvSpPr/>
          <p:nvPr/>
        </p:nvSpPr>
        <p:spPr>
          <a:xfrm>
            <a:off x="365760" y="0"/>
            <a:ext cx="7772400" cy="658368"/>
          </a:xfrm>
          <a:prstGeom prst="rect">
            <a:avLst/>
          </a:prstGeom>
          <a:noFill/>
          <a:ln/>
        </p:spPr>
        <p:txBody>
          <a:bodyPr wrap="square" lIns="0" tIns="0" rIns="0" bIns="0" rtlCol="0" anchor="ctr"/>
          <a:lstStyle/>
          <a:p>
            <a:pPr indent="0" marL="0">
              <a:buNone/>
            </a:pPr>
            <a:r>
              <a:rPr lang="en-US" sz="1000" b="1" spc="300" kern="0" dirty="0">
                <a:solidFill>
                  <a:srgbClr val="FFFFFF"/>
                </a:solidFill>
              </a:rPr>
              <a:t>PLANNING GRID — OVERRIDE &amp; EDIT</a:t>
            </a:r>
            <a:endParaRPr lang="en-US" sz="1000" dirty="0"/>
          </a:p>
        </p:txBody>
      </p:sp>
      <p:sp>
        <p:nvSpPr>
          <p:cNvPr id="4" name="Text 2"/>
          <p:cNvSpPr/>
          <p:nvPr/>
        </p:nvSpPr>
        <p:spPr>
          <a:xfrm>
            <a:off x="7863840" y="0"/>
            <a:ext cx="1097280" cy="658368"/>
          </a:xfrm>
          <a:prstGeom prst="rect">
            <a:avLst/>
          </a:prstGeom>
          <a:noFill/>
          <a:ln/>
        </p:spPr>
        <p:txBody>
          <a:bodyPr wrap="square" lIns="0" tIns="0" rIns="0" bIns="0" rtlCol="0" anchor="ctr"/>
          <a:lstStyle/>
          <a:p>
            <a:pPr algn="r" indent="0" marL="0">
              <a:buNone/>
            </a:pPr>
            <a:r>
              <a:rPr lang="en-US" sz="900" dirty="0">
                <a:solidFill>
                  <a:srgbClr val="94A3B8"/>
                </a:solidFill>
              </a:rPr>
              <a:t>GRID-02</a:t>
            </a:r>
            <a:endParaRPr lang="en-US" sz="900" dirty="0"/>
          </a:p>
        </p:txBody>
      </p:sp>
      <p:sp>
        <p:nvSpPr>
          <p:cNvPr id="5" name="Shape 3"/>
          <p:cNvSpPr/>
          <p:nvPr/>
        </p:nvSpPr>
        <p:spPr>
          <a:xfrm>
            <a:off x="201168" y="804672"/>
            <a:ext cx="3840480" cy="914400"/>
          </a:xfrm>
          <a:prstGeom prst="rect">
            <a:avLst/>
          </a:prstGeom>
          <a:solidFill>
            <a:srgbClr val="0F2044"/>
          </a:solidFill>
          <a:ln w="12700">
            <a:solidFill>
              <a:srgbClr val="0F2044"/>
            </a:solidFill>
            <a:prstDash val="solid"/>
          </a:ln>
          <a:effectLst>
            <a:outerShdw sx="100000" sy="100000" kx="0" ky="0" algn="bl" rotWithShape="0" blurRad="101600" dist="38100" dir="8100000">
              <a:srgbClr val="000000">
                <a:alpha val="10000"/>
              </a:srgbClr>
            </a:outerShdw>
          </a:effectLst>
        </p:spPr>
      </p:sp>
      <p:sp>
        <p:nvSpPr>
          <p:cNvPr id="6" name="Text 4"/>
          <p:cNvSpPr/>
          <p:nvPr/>
        </p:nvSpPr>
        <p:spPr>
          <a:xfrm>
            <a:off x="347472" y="896112"/>
            <a:ext cx="3566160" cy="292608"/>
          </a:xfrm>
          <a:prstGeom prst="rect">
            <a:avLst/>
          </a:prstGeom>
          <a:noFill/>
          <a:ln/>
        </p:spPr>
        <p:txBody>
          <a:bodyPr wrap="square" lIns="0" tIns="0" rIns="0" bIns="0" rtlCol="0" anchor="ctr"/>
          <a:lstStyle/>
          <a:p>
            <a:pPr indent="0" marL="0">
              <a:buNone/>
            </a:pPr>
            <a:r>
              <a:rPr lang="en-US" sz="1100" b="1" dirty="0">
                <a:solidFill>
                  <a:srgbClr val="FFFFFF"/>
                </a:solidFill>
              </a:rPr>
              <a:t>CELL-LEVEL OVERRIDE</a:t>
            </a:r>
            <a:endParaRPr lang="en-US" sz="1100" dirty="0"/>
          </a:p>
        </p:txBody>
      </p:sp>
      <p:sp>
        <p:nvSpPr>
          <p:cNvPr id="7" name="Text 5"/>
          <p:cNvSpPr/>
          <p:nvPr/>
        </p:nvSpPr>
        <p:spPr>
          <a:xfrm>
            <a:off x="347472" y="1225296"/>
            <a:ext cx="3566160" cy="438912"/>
          </a:xfrm>
          <a:prstGeom prst="rect">
            <a:avLst/>
          </a:prstGeom>
          <a:noFill/>
          <a:ln/>
        </p:spPr>
        <p:txBody>
          <a:bodyPr wrap="square" lIns="0" tIns="0" rIns="0" bIns="0" rtlCol="0" anchor="ctr"/>
          <a:lstStyle/>
          <a:p>
            <a:pPr indent="0" marL="0">
              <a:buNone/>
            </a:pPr>
            <a:r>
              <a:rPr lang="en-US" sz="850" dirty="0">
                <a:solidFill>
                  <a:srgbClr val="94A3B8"/>
                </a:solidFill>
              </a:rPr>
              <a:t>Double-click enters inline edit. Enter commits; Escape cancels. Changing a value from the Ag triggers the Override Reason modal — Confirm disabled until text entered. Committed overrides show violet border + background + pencil badge. OV-01 to OV-07.</a:t>
            </a:r>
            <a:endParaRPr lang="en-US" sz="850" dirty="0"/>
          </a:p>
        </p:txBody>
      </p:sp>
      <p:sp>
        <p:nvSpPr>
          <p:cNvPr id="8" name="Shape 6"/>
          <p:cNvSpPr/>
          <p:nvPr/>
        </p:nvSpPr>
        <p:spPr>
          <a:xfrm>
            <a:off x="2103120" y="1719072"/>
            <a:ext cx="0" cy="137160"/>
          </a:xfrm>
          <a:prstGeom prst="line">
            <a:avLst/>
          </a:prstGeom>
          <a:noFill/>
          <a:ln w="19050">
            <a:solidFill>
              <a:srgbClr val="94A3B8"/>
            </a:solidFill>
            <a:prstDash val="solid"/>
          </a:ln>
        </p:spPr>
      </p:sp>
      <p:sp>
        <p:nvSpPr>
          <p:cNvPr id="9" name="Shape 7"/>
          <p:cNvSpPr/>
          <p:nvPr/>
        </p:nvSpPr>
        <p:spPr>
          <a:xfrm>
            <a:off x="201168" y="1856232"/>
            <a:ext cx="3840480" cy="914400"/>
          </a:xfrm>
          <a:prstGeom prst="rect">
            <a:avLst/>
          </a:prstGeom>
          <a:solidFill>
            <a:srgbClr val="0D7377"/>
          </a:solidFill>
          <a:ln w="12700">
            <a:solidFill>
              <a:srgbClr val="0D7377"/>
            </a:solidFill>
            <a:prstDash val="solid"/>
          </a:ln>
          <a:effectLst>
            <a:outerShdw sx="100000" sy="100000" kx="0" ky="0" algn="bl" rotWithShape="0" blurRad="101600" dist="38100" dir="8100000">
              <a:srgbClr val="000000">
                <a:alpha val="10000"/>
              </a:srgbClr>
            </a:outerShdw>
          </a:effectLst>
        </p:spPr>
      </p:sp>
      <p:sp>
        <p:nvSpPr>
          <p:cNvPr id="10" name="Text 8"/>
          <p:cNvSpPr/>
          <p:nvPr/>
        </p:nvSpPr>
        <p:spPr>
          <a:xfrm>
            <a:off x="347472" y="1947672"/>
            <a:ext cx="3566160" cy="292608"/>
          </a:xfrm>
          <a:prstGeom prst="rect">
            <a:avLst/>
          </a:prstGeom>
          <a:noFill/>
          <a:ln/>
        </p:spPr>
        <p:txBody>
          <a:bodyPr wrap="square" lIns="0" tIns="0" rIns="0" bIns="0" rtlCol="0" anchor="ctr"/>
          <a:lstStyle/>
          <a:p>
            <a:pPr indent="0" marL="0">
              <a:buNone/>
            </a:pPr>
            <a:r>
              <a:rPr lang="en-US" sz="1100" b="1" dirty="0">
                <a:solidFill>
                  <a:srgbClr val="FFFFFF"/>
                </a:solidFill>
              </a:rPr>
              <a:t>ACCEPT &amp; UNACCEPT</a:t>
            </a:r>
            <a:endParaRPr lang="en-US" sz="1100" dirty="0"/>
          </a:p>
        </p:txBody>
      </p:sp>
      <p:sp>
        <p:nvSpPr>
          <p:cNvPr id="11" name="Text 9"/>
          <p:cNvSpPr/>
          <p:nvPr/>
        </p:nvSpPr>
        <p:spPr>
          <a:xfrm>
            <a:off x="347472" y="2276856"/>
            <a:ext cx="3566160" cy="438912"/>
          </a:xfrm>
          <a:prstGeom prst="rect">
            <a:avLst/>
          </a:prstGeom>
          <a:noFill/>
          <a:ln/>
        </p:spPr>
        <p:txBody>
          <a:bodyPr wrap="square" lIns="0" tIns="0" rIns="0" bIns="0" rtlCol="0" anchor="ctr"/>
          <a:lstStyle/>
          <a:p>
            <a:pPr indent="0" marL="0">
              <a:buNone/>
            </a:pPr>
            <a:r>
              <a:rPr lang="en-US" sz="850" dirty="0">
                <a:solidFill>
                  <a:srgbClr val="94A3B8"/>
                </a:solidFill>
              </a:rPr>
              <a:t>Each leaf row has Accept/Unaccept toggle. Accept All (toolbar) accepts all visible leaf rows in one click — only shown when no overrides exist. Rows with any override cannot be in accepted state. OV-08 to OV-11.</a:t>
            </a:r>
            <a:endParaRPr lang="en-US" sz="850" dirty="0"/>
          </a:p>
        </p:txBody>
      </p:sp>
      <p:sp>
        <p:nvSpPr>
          <p:cNvPr id="12" name="Shape 10"/>
          <p:cNvSpPr/>
          <p:nvPr/>
        </p:nvSpPr>
        <p:spPr>
          <a:xfrm>
            <a:off x="2103120" y="2770632"/>
            <a:ext cx="0" cy="137160"/>
          </a:xfrm>
          <a:prstGeom prst="line">
            <a:avLst/>
          </a:prstGeom>
          <a:noFill/>
          <a:ln w="19050">
            <a:solidFill>
              <a:srgbClr val="94A3B8"/>
            </a:solidFill>
            <a:prstDash val="solid"/>
          </a:ln>
        </p:spPr>
      </p:sp>
      <p:sp>
        <p:nvSpPr>
          <p:cNvPr id="13" name="Shape 11"/>
          <p:cNvSpPr/>
          <p:nvPr/>
        </p:nvSpPr>
        <p:spPr>
          <a:xfrm>
            <a:off x="201168" y="2907792"/>
            <a:ext cx="3840480" cy="914400"/>
          </a:xfrm>
          <a:prstGeom prst="rect">
            <a:avLst/>
          </a:prstGeom>
          <a:solidFill>
            <a:srgbClr val="7C3AED"/>
          </a:solidFill>
          <a:ln w="12700">
            <a:solidFill>
              <a:srgbClr val="7C3AED"/>
            </a:solidFill>
            <a:prstDash val="solid"/>
          </a:ln>
          <a:effectLst>
            <a:outerShdw sx="100000" sy="100000" kx="0" ky="0" algn="bl" rotWithShape="0" blurRad="101600" dist="38100" dir="8100000">
              <a:srgbClr val="000000">
                <a:alpha val="10000"/>
              </a:srgbClr>
            </a:outerShdw>
          </a:effectLst>
        </p:spPr>
      </p:sp>
      <p:sp>
        <p:nvSpPr>
          <p:cNvPr id="14" name="Text 12"/>
          <p:cNvSpPr/>
          <p:nvPr/>
        </p:nvSpPr>
        <p:spPr>
          <a:xfrm>
            <a:off x="347472" y="2999232"/>
            <a:ext cx="3566160" cy="292608"/>
          </a:xfrm>
          <a:prstGeom prst="rect">
            <a:avLst/>
          </a:prstGeom>
          <a:noFill/>
          <a:ln/>
        </p:spPr>
        <p:txBody>
          <a:bodyPr wrap="square" lIns="0" tIns="0" rIns="0" bIns="0" rtlCol="0" anchor="ctr"/>
          <a:lstStyle/>
          <a:p>
            <a:pPr indent="0" marL="0">
              <a:buNone/>
            </a:pPr>
            <a:r>
              <a:rPr lang="en-US" sz="1100" b="1" dirty="0">
                <a:solidFill>
                  <a:srgbClr val="FFFFFF"/>
                </a:solidFill>
              </a:rPr>
              <a:t>BULK EDIT</a:t>
            </a:r>
            <a:endParaRPr lang="en-US" sz="1100" dirty="0"/>
          </a:p>
        </p:txBody>
      </p:sp>
      <p:sp>
        <p:nvSpPr>
          <p:cNvPr id="15" name="Text 13"/>
          <p:cNvSpPr/>
          <p:nvPr/>
        </p:nvSpPr>
        <p:spPr>
          <a:xfrm>
            <a:off x="347472" y="3328416"/>
            <a:ext cx="3566160" cy="438912"/>
          </a:xfrm>
          <a:prstGeom prst="rect">
            <a:avLst/>
          </a:prstGeom>
          <a:noFill/>
          <a:ln/>
        </p:spPr>
        <p:txBody>
          <a:bodyPr wrap="square" lIns="0" tIns="0" rIns="0" bIns="0" rtlCol="0" anchor="ctr"/>
          <a:lstStyle/>
          <a:p>
            <a:pPr indent="0" marL="0">
              <a:buNone/>
            </a:pPr>
            <a:r>
              <a:rPr lang="en-US" sz="850" dirty="0">
                <a:solidFill>
                  <a:srgbClr val="DDD6FE"/>
                </a:solidFill>
              </a:rPr>
              <a:t>Multi-row checkbox selection applies a single value or +/-% adjustment across all selected rows for the same metric. One Override Reason modal for the entire selection. Fill Down, Fill Right, Scale by %, context menu. BE-01 to BE-06.</a:t>
            </a:r>
            <a:endParaRPr lang="en-US" sz="850" dirty="0"/>
          </a:p>
        </p:txBody>
      </p:sp>
      <p:sp>
        <p:nvSpPr>
          <p:cNvPr id="16" name="Shape 14"/>
          <p:cNvSpPr/>
          <p:nvPr/>
        </p:nvSpPr>
        <p:spPr>
          <a:xfrm>
            <a:off x="2103120" y="3822192"/>
            <a:ext cx="0" cy="137160"/>
          </a:xfrm>
          <a:prstGeom prst="line">
            <a:avLst/>
          </a:prstGeom>
          <a:noFill/>
          <a:ln w="19050">
            <a:solidFill>
              <a:srgbClr val="94A3B8"/>
            </a:solidFill>
            <a:prstDash val="solid"/>
          </a:ln>
        </p:spPr>
      </p:sp>
      <p:sp>
        <p:nvSpPr>
          <p:cNvPr id="17" name="Shape 15"/>
          <p:cNvSpPr/>
          <p:nvPr/>
        </p:nvSpPr>
        <p:spPr>
          <a:xfrm>
            <a:off x="201168" y="3959352"/>
            <a:ext cx="3840480" cy="914400"/>
          </a:xfrm>
          <a:prstGeom prst="rect">
            <a:avLst/>
          </a:prstGeom>
          <a:solidFill>
            <a:srgbClr val="334155"/>
          </a:solidFill>
          <a:ln w="12700">
            <a:solidFill>
              <a:srgbClr val="334155"/>
            </a:solidFill>
            <a:prstDash val="solid"/>
          </a:ln>
          <a:effectLst>
            <a:outerShdw sx="100000" sy="100000" kx="0" ky="0" algn="bl" rotWithShape="0" blurRad="101600" dist="38100" dir="8100000">
              <a:srgbClr val="000000">
                <a:alpha val="10000"/>
              </a:srgbClr>
            </a:outerShdw>
          </a:effectLst>
        </p:spPr>
      </p:sp>
      <p:sp>
        <p:nvSpPr>
          <p:cNvPr id="18" name="Text 16"/>
          <p:cNvSpPr/>
          <p:nvPr/>
        </p:nvSpPr>
        <p:spPr>
          <a:xfrm>
            <a:off x="347472" y="4050792"/>
            <a:ext cx="3566160" cy="292608"/>
          </a:xfrm>
          <a:prstGeom prst="rect">
            <a:avLst/>
          </a:prstGeom>
          <a:noFill/>
          <a:ln/>
        </p:spPr>
        <p:txBody>
          <a:bodyPr wrap="square" lIns="0" tIns="0" rIns="0" bIns="0" rtlCol="0" anchor="ctr"/>
          <a:lstStyle/>
          <a:p>
            <a:pPr indent="0" marL="0">
              <a:buNone/>
            </a:pPr>
            <a:r>
              <a:rPr lang="en-US" sz="1100" b="1" dirty="0">
                <a:solidFill>
                  <a:srgbClr val="FFFFFF"/>
                </a:solidFill>
              </a:rPr>
              <a:t>CONTEXT MENU</a:t>
            </a:r>
            <a:endParaRPr lang="en-US" sz="1100" dirty="0"/>
          </a:p>
        </p:txBody>
      </p:sp>
      <p:sp>
        <p:nvSpPr>
          <p:cNvPr id="19" name="Text 17"/>
          <p:cNvSpPr/>
          <p:nvPr/>
        </p:nvSpPr>
        <p:spPr>
          <a:xfrm>
            <a:off x="347472" y="4379976"/>
            <a:ext cx="3566160" cy="438912"/>
          </a:xfrm>
          <a:prstGeom prst="rect">
            <a:avLst/>
          </a:prstGeom>
          <a:noFill/>
          <a:ln/>
        </p:spPr>
        <p:txBody>
          <a:bodyPr wrap="square" lIns="0" tIns="0" rIns="0" bIns="0" rtlCol="0" anchor="ctr"/>
          <a:lstStyle/>
          <a:p>
            <a:pPr indent="0" marL="0">
              <a:buNone/>
            </a:pPr>
            <a:r>
              <a:rPr lang="en-US" sz="850" dirty="0">
                <a:solidFill>
                  <a:srgbClr val="DDD6FE"/>
                </a:solidFill>
              </a:rPr>
              <a:t>Right-click on any Wp cell: View agent reasoning, Remove override, Accept all for row, View override reason. Extensible for Copy, Paste, Lock cell, Add comment, Spread to children. CM-01 to CM-04.</a:t>
            </a:r>
            <a:endParaRPr lang="en-US" sz="850" dirty="0"/>
          </a:p>
        </p:txBody>
      </p:sp>
      <p:sp>
        <p:nvSpPr>
          <p:cNvPr id="20" name="Shape 18"/>
          <p:cNvSpPr/>
          <p:nvPr/>
        </p:nvSpPr>
        <p:spPr>
          <a:xfrm>
            <a:off x="201168" y="4645152"/>
            <a:ext cx="3840480" cy="365760"/>
          </a:xfrm>
          <a:prstGeom prst="rect">
            <a:avLst/>
          </a:prstGeom>
          <a:solidFill>
            <a:srgbClr val="F7F9FC"/>
          </a:solidFill>
          <a:ln w="12700">
            <a:solidFill>
              <a:srgbClr val="E2E8F0"/>
            </a:solidFill>
            <a:prstDash val="solid"/>
          </a:ln>
        </p:spPr>
      </p:sp>
      <p:sp>
        <p:nvSpPr>
          <p:cNvPr id="21" name="Text 19"/>
          <p:cNvSpPr/>
          <p:nvPr/>
        </p:nvSpPr>
        <p:spPr>
          <a:xfrm>
            <a:off x="274320" y="4645152"/>
            <a:ext cx="3749040" cy="365760"/>
          </a:xfrm>
          <a:prstGeom prst="rect">
            <a:avLst/>
          </a:prstGeom>
          <a:noFill/>
          <a:ln/>
        </p:spPr>
        <p:txBody>
          <a:bodyPr wrap="square" lIns="0" tIns="0" rIns="0" bIns="0" rtlCol="0" anchor="ctr"/>
          <a:lstStyle/>
          <a:p>
            <a:pPr indent="0" marL="0">
              <a:buNone/>
            </a:pPr>
            <a:r>
              <a:rPr lang="en-US" sz="850" b="1" dirty="0">
                <a:solidFill>
                  <a:srgbClr val="0F2044"/>
                </a:solidFill>
              </a:rPr>
              <a:t>AUDIT TRAIL — EVERY OVERRIDE IS RECORDED</a:t>
            </a:r>
            <a:pPr indent="0" marL="0">
              <a:buNone/>
            </a:pPr>
            <a:r>
              <a:rPr lang="en-US" sz="850" dirty="0">
                <a:solidFill>
                  <a:srgbClr val="64748B"/>
                </a:solidFill>
              </a:rPr>
              <a:t/>
            </a:r>
            <a:endParaRPr lang="en-US" sz="850" dirty="0"/>
          </a:p>
        </p:txBody>
      </p:sp>
      <p:sp>
        <p:nvSpPr>
          <p:cNvPr id="22" name="Shape 20"/>
          <p:cNvSpPr/>
          <p:nvPr/>
        </p:nvSpPr>
        <p:spPr>
          <a:xfrm>
            <a:off x="4315968" y="804672"/>
            <a:ext cx="4626864" cy="768096"/>
          </a:xfrm>
          <a:prstGeom prst="rect">
            <a:avLst/>
          </a:prstGeom>
          <a:solidFill>
            <a:srgbClr val="F7F9FC"/>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23" name="Shape 21"/>
          <p:cNvSpPr/>
          <p:nvPr/>
        </p:nvSpPr>
        <p:spPr>
          <a:xfrm>
            <a:off x="4315968" y="804672"/>
            <a:ext cx="54864" cy="768096"/>
          </a:xfrm>
          <a:prstGeom prst="rect">
            <a:avLst/>
          </a:prstGeom>
          <a:solidFill>
            <a:srgbClr val="0D7377"/>
          </a:solidFill>
          <a:ln w="12700">
            <a:solidFill>
              <a:srgbClr val="0D7377"/>
            </a:solidFill>
            <a:prstDash val="solid"/>
          </a:ln>
        </p:spPr>
      </p:sp>
      <p:pic>
        <p:nvPicPr>
          <p:cNvPr id="24" name="Image 0" descr="preencoded.png"/>
          <p:cNvPicPr>
            <a:picLocks noChangeAspect="1"/>
          </p:cNvPicPr>
          <p:nvPr/>
        </p:nvPicPr>
        <p:blipFill>
          <a:blip r:embed="rId1"/>
          <a:stretch>
            <a:fillRect/>
          </a:stretch>
        </p:blipFill>
        <p:spPr>
          <a:xfrm>
            <a:off x="4462272" y="1024128"/>
            <a:ext cx="274320" cy="274320"/>
          </a:xfrm>
          <a:prstGeom prst="rect">
            <a:avLst/>
          </a:prstGeom>
        </p:spPr>
      </p:pic>
      <p:sp>
        <p:nvSpPr>
          <p:cNvPr id="25" name="Text 22"/>
          <p:cNvSpPr/>
          <p:nvPr/>
        </p:nvSpPr>
        <p:spPr>
          <a:xfrm>
            <a:off x="4828032" y="896112"/>
            <a:ext cx="4023360" cy="256032"/>
          </a:xfrm>
          <a:prstGeom prst="rect">
            <a:avLst/>
          </a:prstGeom>
          <a:noFill/>
          <a:ln/>
        </p:spPr>
        <p:txBody>
          <a:bodyPr wrap="square" lIns="0" tIns="0" rIns="0" bIns="0" rtlCol="0" anchor="ctr"/>
          <a:lstStyle/>
          <a:p>
            <a:pPr indent="0" marL="0">
              <a:buNone/>
            </a:pPr>
            <a:r>
              <a:rPr lang="en-US" sz="1000" b="1" dirty="0">
                <a:solidFill>
                  <a:srgbClr val="0F2044"/>
                </a:solidFill>
              </a:rPr>
              <a:t>Override Reason Modal</a:t>
            </a:r>
            <a:endParaRPr lang="en-US" sz="1000" dirty="0"/>
          </a:p>
        </p:txBody>
      </p:sp>
      <p:sp>
        <p:nvSpPr>
          <p:cNvPr id="26" name="Text 23"/>
          <p:cNvSpPr/>
          <p:nvPr/>
        </p:nvSpPr>
        <p:spPr>
          <a:xfrm>
            <a:off x="4828032" y="1170432"/>
            <a:ext cx="4023360" cy="365760"/>
          </a:xfrm>
          <a:prstGeom prst="rect">
            <a:avLst/>
          </a:prstGeom>
          <a:noFill/>
          <a:ln/>
        </p:spPr>
        <p:txBody>
          <a:bodyPr wrap="square" lIns="0" tIns="0" rIns="0" bIns="0" rtlCol="0" anchor="ctr"/>
          <a:lstStyle/>
          <a:p>
            <a:pPr indent="0" marL="0">
              <a:buNone/>
            </a:pPr>
            <a:r>
              <a:rPr lang="en-US" sz="800" dirty="0">
                <a:solidFill>
                  <a:srgbClr val="64748B"/>
                </a:solidFill>
              </a:rPr>
              <a:t>Fires before every commit — single cell, bulk edit, or spread. Quick-select presets + free-text field. Confirm disabled until text entered. Pre-populated on re-edit of an already-overridden cell. OV-03, OV-04, OV-08.</a:t>
            </a:r>
            <a:endParaRPr lang="en-US" sz="800" dirty="0"/>
          </a:p>
        </p:txBody>
      </p:sp>
      <p:sp>
        <p:nvSpPr>
          <p:cNvPr id="27" name="Shape 24"/>
          <p:cNvSpPr/>
          <p:nvPr/>
        </p:nvSpPr>
        <p:spPr>
          <a:xfrm>
            <a:off x="4315968" y="1655064"/>
            <a:ext cx="4626864" cy="768096"/>
          </a:xfrm>
          <a:prstGeom prst="rect">
            <a:avLst/>
          </a:prstGeom>
          <a:solidFill>
            <a:srgbClr val="F7F9FC"/>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28" name="Shape 25"/>
          <p:cNvSpPr/>
          <p:nvPr/>
        </p:nvSpPr>
        <p:spPr>
          <a:xfrm>
            <a:off x="4315968" y="1655064"/>
            <a:ext cx="54864" cy="768096"/>
          </a:xfrm>
          <a:prstGeom prst="rect">
            <a:avLst/>
          </a:prstGeom>
          <a:solidFill>
            <a:srgbClr val="0F2044"/>
          </a:solidFill>
          <a:ln w="12700">
            <a:solidFill>
              <a:srgbClr val="0F2044"/>
            </a:solidFill>
            <a:prstDash val="solid"/>
          </a:ln>
        </p:spPr>
      </p:sp>
      <p:pic>
        <p:nvPicPr>
          <p:cNvPr id="29" name="Image 1" descr="preencoded.png"/>
          <p:cNvPicPr>
            <a:picLocks noChangeAspect="1"/>
          </p:cNvPicPr>
          <p:nvPr/>
        </p:nvPicPr>
        <p:blipFill>
          <a:blip r:embed="rId2"/>
          <a:stretch>
            <a:fillRect/>
          </a:stretch>
        </p:blipFill>
        <p:spPr>
          <a:xfrm>
            <a:off x="4462272" y="1874520"/>
            <a:ext cx="274320" cy="274320"/>
          </a:xfrm>
          <a:prstGeom prst="rect">
            <a:avLst/>
          </a:prstGeom>
        </p:spPr>
      </p:pic>
      <p:sp>
        <p:nvSpPr>
          <p:cNvPr id="30" name="Text 26"/>
          <p:cNvSpPr/>
          <p:nvPr/>
        </p:nvSpPr>
        <p:spPr>
          <a:xfrm>
            <a:off x="4828032" y="1746504"/>
            <a:ext cx="4023360" cy="256032"/>
          </a:xfrm>
          <a:prstGeom prst="rect">
            <a:avLst/>
          </a:prstGeom>
          <a:noFill/>
          <a:ln/>
        </p:spPr>
        <p:txBody>
          <a:bodyPr wrap="square" lIns="0" tIns="0" rIns="0" bIns="0" rtlCol="0" anchor="ctr"/>
          <a:lstStyle/>
          <a:p>
            <a:pPr indent="0" marL="0">
              <a:buNone/>
            </a:pPr>
            <a:r>
              <a:rPr lang="en-US" sz="1000" b="1" dirty="0">
                <a:solidFill>
                  <a:srgbClr val="0F2044"/>
                </a:solidFill>
              </a:rPr>
              <a:t>Stored Audit Record</a:t>
            </a:r>
            <a:endParaRPr lang="en-US" sz="1000" dirty="0"/>
          </a:p>
        </p:txBody>
      </p:sp>
      <p:sp>
        <p:nvSpPr>
          <p:cNvPr id="31" name="Text 27"/>
          <p:cNvSpPr/>
          <p:nvPr/>
        </p:nvSpPr>
        <p:spPr>
          <a:xfrm>
            <a:off x="4828032" y="2020824"/>
            <a:ext cx="4023360" cy="365760"/>
          </a:xfrm>
          <a:prstGeom prst="rect">
            <a:avLst/>
          </a:prstGeom>
          <a:noFill/>
          <a:ln/>
        </p:spPr>
        <p:txBody>
          <a:bodyPr wrap="square" lIns="0" tIns="0" rIns="0" bIns="0" rtlCol="0" anchor="ctr"/>
          <a:lstStyle/>
          <a:p>
            <a:pPr indent="0" marL="0">
              <a:buNone/>
            </a:pPr>
            <a:r>
              <a:rPr lang="en-US" sz="800" dirty="0">
                <a:solidFill>
                  <a:srgbClr val="64748B"/>
                </a:solidFill>
              </a:rPr>
              <a:t>Every committed override stores: override value, original agent value, reason text, timestamp, and user identity. Accessible via right-click as truncated label. Included in CSV audit log export. AI-06 to AI-08.</a:t>
            </a:r>
            <a:endParaRPr lang="en-US" sz="800" dirty="0"/>
          </a:p>
        </p:txBody>
      </p:sp>
      <p:sp>
        <p:nvSpPr>
          <p:cNvPr id="32" name="Shape 28"/>
          <p:cNvSpPr/>
          <p:nvPr/>
        </p:nvSpPr>
        <p:spPr>
          <a:xfrm>
            <a:off x="4315968" y="2505456"/>
            <a:ext cx="4626864" cy="768096"/>
          </a:xfrm>
          <a:prstGeom prst="rect">
            <a:avLst/>
          </a:prstGeom>
          <a:solidFill>
            <a:srgbClr val="F7F9FC"/>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33" name="Shape 29"/>
          <p:cNvSpPr/>
          <p:nvPr/>
        </p:nvSpPr>
        <p:spPr>
          <a:xfrm>
            <a:off x="4315968" y="2505456"/>
            <a:ext cx="54864" cy="768096"/>
          </a:xfrm>
          <a:prstGeom prst="rect">
            <a:avLst/>
          </a:prstGeom>
          <a:solidFill>
            <a:srgbClr val="7C3AED"/>
          </a:solidFill>
          <a:ln w="12700">
            <a:solidFill>
              <a:srgbClr val="7C3AED"/>
            </a:solidFill>
            <a:prstDash val="solid"/>
          </a:ln>
        </p:spPr>
      </p:sp>
      <p:pic>
        <p:nvPicPr>
          <p:cNvPr id="34" name="Image 2" descr="preencoded.png"/>
          <p:cNvPicPr>
            <a:picLocks noChangeAspect="1"/>
          </p:cNvPicPr>
          <p:nvPr/>
        </p:nvPicPr>
        <p:blipFill>
          <a:blip r:embed="rId3"/>
          <a:stretch>
            <a:fillRect/>
          </a:stretch>
        </p:blipFill>
        <p:spPr>
          <a:xfrm>
            <a:off x="4462272" y="2724912"/>
            <a:ext cx="274320" cy="274320"/>
          </a:xfrm>
          <a:prstGeom prst="rect">
            <a:avLst/>
          </a:prstGeom>
        </p:spPr>
      </p:pic>
      <p:sp>
        <p:nvSpPr>
          <p:cNvPr id="35" name="Text 30"/>
          <p:cNvSpPr/>
          <p:nvPr/>
        </p:nvSpPr>
        <p:spPr>
          <a:xfrm>
            <a:off x="4828032" y="2596896"/>
            <a:ext cx="4023360" cy="256032"/>
          </a:xfrm>
          <a:prstGeom prst="rect">
            <a:avLst/>
          </a:prstGeom>
          <a:noFill/>
          <a:ln/>
        </p:spPr>
        <p:txBody>
          <a:bodyPr wrap="square" lIns="0" tIns="0" rIns="0" bIns="0" rtlCol="0" anchor="ctr"/>
          <a:lstStyle/>
          <a:p>
            <a:pPr indent="0" marL="0">
              <a:buNone/>
            </a:pPr>
            <a:r>
              <a:rPr lang="en-US" sz="1000" b="1" dirty="0">
                <a:solidFill>
                  <a:srgbClr val="0F2044"/>
                </a:solidFill>
              </a:rPr>
              <a:t>Override Visual States</a:t>
            </a:r>
            <a:endParaRPr lang="en-US" sz="1000" dirty="0"/>
          </a:p>
        </p:txBody>
      </p:sp>
      <p:sp>
        <p:nvSpPr>
          <p:cNvPr id="36" name="Text 31"/>
          <p:cNvSpPr/>
          <p:nvPr/>
        </p:nvSpPr>
        <p:spPr>
          <a:xfrm>
            <a:off x="4828032" y="2871216"/>
            <a:ext cx="4023360" cy="365760"/>
          </a:xfrm>
          <a:prstGeom prst="rect">
            <a:avLst/>
          </a:prstGeom>
          <a:noFill/>
          <a:ln/>
        </p:spPr>
        <p:txBody>
          <a:bodyPr wrap="square" lIns="0" tIns="0" rIns="0" bIns="0" rtlCol="0" anchor="ctr"/>
          <a:lstStyle/>
          <a:p>
            <a:pPr indent="0" marL="0">
              <a:buNone/>
            </a:pPr>
            <a:r>
              <a:rPr lang="en-US" sz="800" dirty="0">
                <a:solidFill>
                  <a:srgbClr val="64748B"/>
                </a:solidFill>
              </a:rPr>
              <a:t>Pending: default. Overridden: violet left border + violet background tint + pencil badge. Accepted: green row + checkmark badges. Override takes visual precedence over accepted state. OV-05, OV-11.</a:t>
            </a:r>
            <a:endParaRPr lang="en-US" sz="800" dirty="0"/>
          </a:p>
        </p:txBody>
      </p:sp>
      <p:sp>
        <p:nvSpPr>
          <p:cNvPr id="37" name="Shape 32"/>
          <p:cNvSpPr/>
          <p:nvPr/>
        </p:nvSpPr>
        <p:spPr>
          <a:xfrm>
            <a:off x="4315968" y="3355848"/>
            <a:ext cx="4626864" cy="768096"/>
          </a:xfrm>
          <a:prstGeom prst="rect">
            <a:avLst/>
          </a:prstGeom>
          <a:solidFill>
            <a:srgbClr val="F7F9FC"/>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38" name="Shape 33"/>
          <p:cNvSpPr/>
          <p:nvPr/>
        </p:nvSpPr>
        <p:spPr>
          <a:xfrm>
            <a:off x="4315968" y="3355848"/>
            <a:ext cx="54864" cy="768096"/>
          </a:xfrm>
          <a:prstGeom prst="rect">
            <a:avLst/>
          </a:prstGeom>
          <a:solidFill>
            <a:srgbClr val="F59E0B"/>
          </a:solidFill>
          <a:ln w="12700">
            <a:solidFill>
              <a:srgbClr val="F59E0B"/>
            </a:solidFill>
            <a:prstDash val="solid"/>
          </a:ln>
        </p:spPr>
      </p:sp>
      <p:pic>
        <p:nvPicPr>
          <p:cNvPr id="39" name="Image 3" descr="preencoded.png"/>
          <p:cNvPicPr>
            <a:picLocks noChangeAspect="1"/>
          </p:cNvPicPr>
          <p:nvPr/>
        </p:nvPicPr>
        <p:blipFill>
          <a:blip r:embed="rId4"/>
          <a:stretch>
            <a:fillRect/>
          </a:stretch>
        </p:blipFill>
        <p:spPr>
          <a:xfrm>
            <a:off x="4462272" y="3575304"/>
            <a:ext cx="274320" cy="274320"/>
          </a:xfrm>
          <a:prstGeom prst="rect">
            <a:avLst/>
          </a:prstGeom>
        </p:spPr>
      </p:pic>
      <p:sp>
        <p:nvSpPr>
          <p:cNvPr id="40" name="Text 34"/>
          <p:cNvSpPr/>
          <p:nvPr/>
        </p:nvSpPr>
        <p:spPr>
          <a:xfrm>
            <a:off x="4828032" y="3447288"/>
            <a:ext cx="4023360" cy="256032"/>
          </a:xfrm>
          <a:prstGeom prst="rect">
            <a:avLst/>
          </a:prstGeom>
          <a:noFill/>
          <a:ln/>
        </p:spPr>
        <p:txBody>
          <a:bodyPr wrap="square" lIns="0" tIns="0" rIns="0" bIns="0" rtlCol="0" anchor="ctr"/>
          <a:lstStyle/>
          <a:p>
            <a:pPr indent="0" marL="0">
              <a:buNone/>
            </a:pPr>
            <a:r>
              <a:rPr lang="en-US" sz="1000" b="1" dirty="0">
                <a:solidFill>
                  <a:srgbClr val="0F2044"/>
                </a:solidFill>
              </a:rPr>
              <a:t>Copy / Paste &amp; Clipboard</a:t>
            </a:r>
            <a:endParaRPr lang="en-US" sz="1000" dirty="0"/>
          </a:p>
        </p:txBody>
      </p:sp>
      <p:sp>
        <p:nvSpPr>
          <p:cNvPr id="41" name="Text 35"/>
          <p:cNvSpPr/>
          <p:nvPr/>
        </p:nvSpPr>
        <p:spPr>
          <a:xfrm>
            <a:off x="4828032" y="3721608"/>
            <a:ext cx="4023360" cy="365760"/>
          </a:xfrm>
          <a:prstGeom prst="rect">
            <a:avLst/>
          </a:prstGeom>
          <a:noFill/>
          <a:ln/>
        </p:spPr>
        <p:txBody>
          <a:bodyPr wrap="square" lIns="0" tIns="0" rIns="0" bIns="0" rtlCol="0" anchor="ctr"/>
          <a:lstStyle/>
          <a:p>
            <a:pPr indent="0" marL="0">
              <a:buNone/>
            </a:pPr>
            <a:r>
              <a:rPr lang="en-US" sz="800" dirty="0">
                <a:solidFill>
                  <a:srgbClr val="64748B"/>
                </a:solidFill>
              </a:rPr>
              <a:t>Excel-compatible copy/paste. Tab and newline delimiters match Excel grid. Multi-cell range paste triggers one reason modal (not per-cell). Paste respects number formats: $4.2M, 4200000, 4,200,000 all parse correctly. CP-01 to CP-10.</a:t>
            </a:r>
            <a:endParaRPr lang="en-US" sz="800" dirty="0"/>
          </a:p>
        </p:txBody>
      </p:sp>
      <p:sp>
        <p:nvSpPr>
          <p:cNvPr id="42" name="Shape 36"/>
          <p:cNvSpPr/>
          <p:nvPr/>
        </p:nvSpPr>
        <p:spPr>
          <a:xfrm>
            <a:off x="4315968" y="4206240"/>
            <a:ext cx="4626864" cy="768096"/>
          </a:xfrm>
          <a:prstGeom prst="rect">
            <a:avLst/>
          </a:prstGeom>
          <a:solidFill>
            <a:srgbClr val="F7F9FC"/>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43" name="Shape 37"/>
          <p:cNvSpPr/>
          <p:nvPr/>
        </p:nvSpPr>
        <p:spPr>
          <a:xfrm>
            <a:off x="4315968" y="4206240"/>
            <a:ext cx="54864" cy="768096"/>
          </a:xfrm>
          <a:prstGeom prst="rect">
            <a:avLst/>
          </a:prstGeom>
          <a:solidFill>
            <a:srgbClr val="0D7377"/>
          </a:solidFill>
          <a:ln w="12700">
            <a:solidFill>
              <a:srgbClr val="0D7377"/>
            </a:solidFill>
            <a:prstDash val="solid"/>
          </a:ln>
        </p:spPr>
      </p:sp>
      <p:pic>
        <p:nvPicPr>
          <p:cNvPr id="44" name="Image 4" descr="preencoded.png"/>
          <p:cNvPicPr>
            <a:picLocks noChangeAspect="1"/>
          </p:cNvPicPr>
          <p:nvPr/>
        </p:nvPicPr>
        <p:blipFill>
          <a:blip r:embed="rId5"/>
          <a:stretch>
            <a:fillRect/>
          </a:stretch>
        </p:blipFill>
        <p:spPr>
          <a:xfrm>
            <a:off x="4462272" y="4425696"/>
            <a:ext cx="274320" cy="274320"/>
          </a:xfrm>
          <a:prstGeom prst="rect">
            <a:avLst/>
          </a:prstGeom>
        </p:spPr>
      </p:pic>
      <p:sp>
        <p:nvSpPr>
          <p:cNvPr id="45" name="Text 38"/>
          <p:cNvSpPr/>
          <p:nvPr/>
        </p:nvSpPr>
        <p:spPr>
          <a:xfrm>
            <a:off x="4828032" y="4297680"/>
            <a:ext cx="4023360" cy="256032"/>
          </a:xfrm>
          <a:prstGeom prst="rect">
            <a:avLst/>
          </a:prstGeom>
          <a:noFill/>
          <a:ln/>
        </p:spPr>
        <p:txBody>
          <a:bodyPr wrap="square" lIns="0" tIns="0" rIns="0" bIns="0" rtlCol="0" anchor="ctr"/>
          <a:lstStyle/>
          <a:p>
            <a:pPr indent="0" marL="0">
              <a:buNone/>
            </a:pPr>
            <a:r>
              <a:rPr lang="en-US" sz="1000" b="1" dirty="0">
                <a:solidFill>
                  <a:srgbClr val="0F2044"/>
                </a:solidFill>
              </a:rPr>
              <a:t>Undo / Redo Stack</a:t>
            </a:r>
            <a:endParaRPr lang="en-US" sz="1000" dirty="0"/>
          </a:p>
        </p:txBody>
      </p:sp>
      <p:sp>
        <p:nvSpPr>
          <p:cNvPr id="46" name="Text 39"/>
          <p:cNvSpPr/>
          <p:nvPr/>
        </p:nvSpPr>
        <p:spPr>
          <a:xfrm>
            <a:off x="4828032" y="4572000"/>
            <a:ext cx="4023360" cy="365760"/>
          </a:xfrm>
          <a:prstGeom prst="rect">
            <a:avLst/>
          </a:prstGeom>
          <a:noFill/>
          <a:ln/>
        </p:spPr>
        <p:txBody>
          <a:bodyPr wrap="square" lIns="0" tIns="0" rIns="0" bIns="0" rtlCol="0" anchor="ctr"/>
          <a:lstStyle/>
          <a:p>
            <a:pPr indent="0" marL="0">
              <a:buNone/>
            </a:pPr>
            <a:r>
              <a:rPr lang="en-US" sz="800" dirty="0">
                <a:solidFill>
                  <a:srgbClr val="64748B"/>
                </a:solidFill>
              </a:rPr>
              <a:t>50-action deep stack. Every compound action (bulk edit, spread, fill) is one undoable step. Undo removes the override reason from audit state; Redo restores it. Stack cleared on plan submission. UR-01 to UR-08.</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F2044"/>
          </a:solidFill>
          <a:ln w="12700">
            <a:solidFill>
              <a:srgbClr val="0F2044"/>
            </a:solidFill>
            <a:prstDash val="solid"/>
          </a:ln>
        </p:spPr>
      </p:sp>
      <p:sp>
        <p:nvSpPr>
          <p:cNvPr id="3" name="Text 1"/>
          <p:cNvSpPr/>
          <p:nvPr/>
        </p:nvSpPr>
        <p:spPr>
          <a:xfrm>
            <a:off x="365760" y="0"/>
            <a:ext cx="7772400" cy="658368"/>
          </a:xfrm>
          <a:prstGeom prst="rect">
            <a:avLst/>
          </a:prstGeom>
          <a:noFill/>
          <a:ln/>
        </p:spPr>
        <p:txBody>
          <a:bodyPr wrap="square" lIns="0" tIns="0" rIns="0" bIns="0" rtlCol="0" anchor="ctr"/>
          <a:lstStyle/>
          <a:p>
            <a:pPr indent="0" marL="0">
              <a:buNone/>
            </a:pPr>
            <a:r>
              <a:rPr lang="en-US" sz="1000" b="1" spc="300" kern="0" dirty="0">
                <a:solidFill>
                  <a:srgbClr val="FFFFFF"/>
                </a:solidFill>
              </a:rPr>
              <a:t>PLANNING GRID — AGGREGATION &amp; VALUE SPREADING</a:t>
            </a:r>
            <a:endParaRPr lang="en-US" sz="1000" dirty="0"/>
          </a:p>
        </p:txBody>
      </p:sp>
      <p:sp>
        <p:nvSpPr>
          <p:cNvPr id="4" name="Text 2"/>
          <p:cNvSpPr/>
          <p:nvPr/>
        </p:nvSpPr>
        <p:spPr>
          <a:xfrm>
            <a:off x="7863840" y="0"/>
            <a:ext cx="1097280" cy="658368"/>
          </a:xfrm>
          <a:prstGeom prst="rect">
            <a:avLst/>
          </a:prstGeom>
          <a:noFill/>
          <a:ln/>
        </p:spPr>
        <p:txBody>
          <a:bodyPr wrap="square" lIns="0" tIns="0" rIns="0" bIns="0" rtlCol="0" anchor="ctr"/>
          <a:lstStyle/>
          <a:p>
            <a:pPr algn="r" indent="0" marL="0">
              <a:buNone/>
            </a:pPr>
            <a:r>
              <a:rPr lang="en-US" sz="900" dirty="0">
                <a:solidFill>
                  <a:srgbClr val="94A3B8"/>
                </a:solidFill>
              </a:rPr>
              <a:t>GRID-03</a:t>
            </a:r>
            <a:endParaRPr lang="en-US" sz="900" dirty="0"/>
          </a:p>
        </p:txBody>
      </p:sp>
      <p:sp>
        <p:nvSpPr>
          <p:cNvPr id="5" name="Shape 3"/>
          <p:cNvSpPr/>
          <p:nvPr/>
        </p:nvSpPr>
        <p:spPr>
          <a:xfrm>
            <a:off x="201168" y="804672"/>
            <a:ext cx="3840480" cy="914400"/>
          </a:xfrm>
          <a:prstGeom prst="rect">
            <a:avLst/>
          </a:prstGeom>
          <a:solidFill>
            <a:srgbClr val="0F2044"/>
          </a:solidFill>
          <a:ln w="12700">
            <a:solidFill>
              <a:srgbClr val="0F2044"/>
            </a:solidFill>
            <a:prstDash val="solid"/>
          </a:ln>
          <a:effectLst>
            <a:outerShdw sx="100000" sy="100000" kx="0" ky="0" algn="bl" rotWithShape="0" blurRad="101600" dist="38100" dir="8100000">
              <a:srgbClr val="000000">
                <a:alpha val="10000"/>
              </a:srgbClr>
            </a:outerShdw>
          </a:effectLst>
        </p:spPr>
      </p:sp>
      <p:sp>
        <p:nvSpPr>
          <p:cNvPr id="6" name="Text 4"/>
          <p:cNvSpPr/>
          <p:nvPr/>
        </p:nvSpPr>
        <p:spPr>
          <a:xfrm>
            <a:off x="347472" y="896112"/>
            <a:ext cx="3566160" cy="292608"/>
          </a:xfrm>
          <a:prstGeom prst="rect">
            <a:avLst/>
          </a:prstGeom>
          <a:noFill/>
          <a:ln/>
        </p:spPr>
        <p:txBody>
          <a:bodyPr wrap="square" lIns="0" tIns="0" rIns="0" bIns="0" rtlCol="0" anchor="ctr"/>
          <a:lstStyle/>
          <a:p>
            <a:pPr indent="0" marL="0">
              <a:buNone/>
            </a:pPr>
            <a:r>
              <a:rPr lang="en-US" sz="1100" b="1" dirty="0">
                <a:solidFill>
                  <a:srgbClr val="FFFFFF"/>
                </a:solidFill>
              </a:rPr>
              <a:t>9 AGGREGATION METHODS</a:t>
            </a:r>
            <a:endParaRPr lang="en-US" sz="1100" dirty="0"/>
          </a:p>
        </p:txBody>
      </p:sp>
      <p:sp>
        <p:nvSpPr>
          <p:cNvPr id="7" name="Text 5"/>
          <p:cNvSpPr/>
          <p:nvPr/>
        </p:nvSpPr>
        <p:spPr>
          <a:xfrm>
            <a:off x="347472" y="1225296"/>
            <a:ext cx="3566160" cy="438912"/>
          </a:xfrm>
          <a:prstGeom prst="rect">
            <a:avLst/>
          </a:prstGeom>
          <a:noFill/>
          <a:ln/>
        </p:spPr>
        <p:txBody>
          <a:bodyPr wrap="square" lIns="0" tIns="0" rIns="0" bIns="0" rtlCol="0" anchor="ctr"/>
          <a:lstStyle/>
          <a:p>
            <a:pPr indent="0" marL="0">
              <a:buNone/>
            </a:pPr>
            <a:r>
              <a:rPr lang="en-US" sz="850" dirty="0">
                <a:solidFill>
                  <a:srgbClr val="94A3B8"/>
                </a:solidFill>
              </a:rPr>
              <a:t>Sum · Arithmetic Mean · Weighted Average · Min · Max · Count · Period Start (BOP) · Period End (EOP) · Formula/Derived. Each metric has a designated method — governs both hierarchy roll-up and time roll-up independently. AG-01 to AG-16.</a:t>
            </a:r>
            <a:endParaRPr lang="en-US" sz="850" dirty="0"/>
          </a:p>
        </p:txBody>
      </p:sp>
      <p:sp>
        <p:nvSpPr>
          <p:cNvPr id="8" name="Shape 6"/>
          <p:cNvSpPr/>
          <p:nvPr/>
        </p:nvSpPr>
        <p:spPr>
          <a:xfrm>
            <a:off x="2103120" y="1719072"/>
            <a:ext cx="0" cy="137160"/>
          </a:xfrm>
          <a:prstGeom prst="line">
            <a:avLst/>
          </a:prstGeom>
          <a:noFill/>
          <a:ln w="19050">
            <a:solidFill>
              <a:srgbClr val="94A3B8"/>
            </a:solidFill>
            <a:prstDash val="solid"/>
          </a:ln>
        </p:spPr>
      </p:sp>
      <p:sp>
        <p:nvSpPr>
          <p:cNvPr id="9" name="Shape 7"/>
          <p:cNvSpPr/>
          <p:nvPr/>
        </p:nvSpPr>
        <p:spPr>
          <a:xfrm>
            <a:off x="201168" y="1856232"/>
            <a:ext cx="3840480" cy="914400"/>
          </a:xfrm>
          <a:prstGeom prst="rect">
            <a:avLst/>
          </a:prstGeom>
          <a:solidFill>
            <a:srgbClr val="0D7377"/>
          </a:solidFill>
          <a:ln w="12700">
            <a:solidFill>
              <a:srgbClr val="0D7377"/>
            </a:solidFill>
            <a:prstDash val="solid"/>
          </a:ln>
          <a:effectLst>
            <a:outerShdw sx="100000" sy="100000" kx="0" ky="0" algn="bl" rotWithShape="0" blurRad="101600" dist="38100" dir="8100000">
              <a:srgbClr val="000000">
                <a:alpha val="10000"/>
              </a:srgbClr>
            </a:outerShdw>
          </a:effectLst>
        </p:spPr>
      </p:sp>
      <p:sp>
        <p:nvSpPr>
          <p:cNvPr id="10" name="Text 8"/>
          <p:cNvSpPr/>
          <p:nvPr/>
        </p:nvSpPr>
        <p:spPr>
          <a:xfrm>
            <a:off x="347472" y="1947672"/>
            <a:ext cx="3566160" cy="292608"/>
          </a:xfrm>
          <a:prstGeom prst="rect">
            <a:avLst/>
          </a:prstGeom>
          <a:noFill/>
          <a:ln/>
        </p:spPr>
        <p:txBody>
          <a:bodyPr wrap="square" lIns="0" tIns="0" rIns="0" bIns="0" rtlCol="0" anchor="ctr"/>
          <a:lstStyle/>
          <a:p>
            <a:pPr indent="0" marL="0">
              <a:buNone/>
            </a:pPr>
            <a:r>
              <a:rPr lang="en-US" sz="1100" b="1" dirty="0">
                <a:solidFill>
                  <a:srgbClr val="FFFFFF"/>
                </a:solidFill>
              </a:rPr>
              <a:t>CRITICAL: BOP &amp; EOP RULES</a:t>
            </a:r>
            <a:endParaRPr lang="en-US" sz="1100" dirty="0"/>
          </a:p>
        </p:txBody>
      </p:sp>
      <p:sp>
        <p:nvSpPr>
          <p:cNvPr id="11" name="Text 9"/>
          <p:cNvSpPr/>
          <p:nvPr/>
        </p:nvSpPr>
        <p:spPr>
          <a:xfrm>
            <a:off x="347472" y="2276856"/>
            <a:ext cx="3566160" cy="438912"/>
          </a:xfrm>
          <a:prstGeom prst="rect">
            <a:avLst/>
          </a:prstGeom>
          <a:noFill/>
          <a:ln/>
        </p:spPr>
        <p:txBody>
          <a:bodyPr wrap="square" lIns="0" tIns="0" rIns="0" bIns="0" rtlCol="0" anchor="ctr"/>
          <a:lstStyle/>
          <a:p>
            <a:pPr indent="0" marL="0">
              <a:buNone/>
            </a:pPr>
            <a:r>
              <a:rPr lang="en-US" sz="850" dirty="0">
                <a:solidFill>
                  <a:srgbClr val="94A3B8"/>
                </a:solidFill>
              </a:rPr>
              <a:t>Period Start (BOP): across time, parent = first child period. Across hierarchy, Sum. Period End (EOP): parent = last child period. NEVER sum BOP or EOP across time — this would overstate inventory. Misconfiguration is a P0 data-integrity defect. AG-14, AG-15.</a:t>
            </a:r>
            <a:endParaRPr lang="en-US" sz="850" dirty="0"/>
          </a:p>
        </p:txBody>
      </p:sp>
      <p:sp>
        <p:nvSpPr>
          <p:cNvPr id="12" name="Shape 10"/>
          <p:cNvSpPr/>
          <p:nvPr/>
        </p:nvSpPr>
        <p:spPr>
          <a:xfrm>
            <a:off x="2103120" y="2770632"/>
            <a:ext cx="0" cy="137160"/>
          </a:xfrm>
          <a:prstGeom prst="line">
            <a:avLst/>
          </a:prstGeom>
          <a:noFill/>
          <a:ln w="19050">
            <a:solidFill>
              <a:srgbClr val="94A3B8"/>
            </a:solidFill>
            <a:prstDash val="solid"/>
          </a:ln>
        </p:spPr>
      </p:sp>
      <p:sp>
        <p:nvSpPr>
          <p:cNvPr id="13" name="Shape 11"/>
          <p:cNvSpPr/>
          <p:nvPr/>
        </p:nvSpPr>
        <p:spPr>
          <a:xfrm>
            <a:off x="201168" y="2907792"/>
            <a:ext cx="3840480" cy="914400"/>
          </a:xfrm>
          <a:prstGeom prst="rect">
            <a:avLst/>
          </a:prstGeom>
          <a:solidFill>
            <a:srgbClr val="7C3AED"/>
          </a:solidFill>
          <a:ln w="12700">
            <a:solidFill>
              <a:srgbClr val="7C3AED"/>
            </a:solidFill>
            <a:prstDash val="solid"/>
          </a:ln>
          <a:effectLst>
            <a:outerShdw sx="100000" sy="100000" kx="0" ky="0" algn="bl" rotWithShape="0" blurRad="101600" dist="38100" dir="8100000">
              <a:srgbClr val="000000">
                <a:alpha val="10000"/>
              </a:srgbClr>
            </a:outerShdw>
          </a:effectLst>
        </p:spPr>
      </p:sp>
      <p:sp>
        <p:nvSpPr>
          <p:cNvPr id="14" name="Text 12"/>
          <p:cNvSpPr/>
          <p:nvPr/>
        </p:nvSpPr>
        <p:spPr>
          <a:xfrm>
            <a:off x="347472" y="2999232"/>
            <a:ext cx="3566160" cy="292608"/>
          </a:xfrm>
          <a:prstGeom prst="rect">
            <a:avLst/>
          </a:prstGeom>
          <a:noFill/>
          <a:ln/>
        </p:spPr>
        <p:txBody>
          <a:bodyPr wrap="square" lIns="0" tIns="0" rIns="0" bIns="0" rtlCol="0" anchor="ctr"/>
          <a:lstStyle/>
          <a:p>
            <a:pPr indent="0" marL="0">
              <a:buNone/>
            </a:pPr>
            <a:r>
              <a:rPr lang="en-US" sz="1100" b="1" dirty="0">
                <a:solidFill>
                  <a:srgbClr val="FFFFFF"/>
                </a:solidFill>
              </a:rPr>
              <a:t>DERIVED / FORMULA METRICS</a:t>
            </a:r>
            <a:endParaRPr lang="en-US" sz="1100" dirty="0"/>
          </a:p>
        </p:txBody>
      </p:sp>
      <p:sp>
        <p:nvSpPr>
          <p:cNvPr id="15" name="Text 13"/>
          <p:cNvSpPr/>
          <p:nvPr/>
        </p:nvSpPr>
        <p:spPr>
          <a:xfrm>
            <a:off x="347472" y="3328416"/>
            <a:ext cx="3566160" cy="438912"/>
          </a:xfrm>
          <a:prstGeom prst="rect">
            <a:avLst/>
          </a:prstGeom>
          <a:noFill/>
          <a:ln/>
        </p:spPr>
        <p:txBody>
          <a:bodyPr wrap="square" lIns="0" tIns="0" rIns="0" bIns="0" rtlCol="0" anchor="ctr"/>
          <a:lstStyle/>
          <a:p>
            <a:pPr indent="0" marL="0">
              <a:buNone/>
            </a:pPr>
            <a:r>
              <a:rPr lang="en-US" sz="850" dirty="0">
                <a:solidFill>
                  <a:srgbClr val="DDD6FE"/>
                </a:solidFill>
              </a:rPr>
              <a:t>Computed from already-aggregated metrics at each level — not rolled up from leaves. Examples: EOP = BOP + Receipts - Sales; Sell-Through% = Sales Units / (BOP + Receipts); OTB = Receipt Plan - Committed. AG-08, CR-01 to CR-07.</a:t>
            </a:r>
            <a:endParaRPr lang="en-US" sz="850" dirty="0"/>
          </a:p>
        </p:txBody>
      </p:sp>
      <p:sp>
        <p:nvSpPr>
          <p:cNvPr id="16" name="Shape 14"/>
          <p:cNvSpPr/>
          <p:nvPr/>
        </p:nvSpPr>
        <p:spPr>
          <a:xfrm>
            <a:off x="2103120" y="3822192"/>
            <a:ext cx="0" cy="137160"/>
          </a:xfrm>
          <a:prstGeom prst="line">
            <a:avLst/>
          </a:prstGeom>
          <a:noFill/>
          <a:ln w="19050">
            <a:solidFill>
              <a:srgbClr val="94A3B8"/>
            </a:solidFill>
            <a:prstDash val="solid"/>
          </a:ln>
        </p:spPr>
      </p:sp>
      <p:sp>
        <p:nvSpPr>
          <p:cNvPr id="17" name="Shape 15"/>
          <p:cNvSpPr/>
          <p:nvPr/>
        </p:nvSpPr>
        <p:spPr>
          <a:xfrm>
            <a:off x="201168" y="3959352"/>
            <a:ext cx="3840480" cy="914400"/>
          </a:xfrm>
          <a:prstGeom prst="rect">
            <a:avLst/>
          </a:prstGeom>
          <a:solidFill>
            <a:srgbClr val="334155"/>
          </a:solidFill>
          <a:ln w="12700">
            <a:solidFill>
              <a:srgbClr val="334155"/>
            </a:solidFill>
            <a:prstDash val="solid"/>
          </a:ln>
          <a:effectLst>
            <a:outerShdw sx="100000" sy="100000" kx="0" ky="0" algn="bl" rotWithShape="0" blurRad="101600" dist="38100" dir="8100000">
              <a:srgbClr val="000000">
                <a:alpha val="10000"/>
              </a:srgbClr>
            </a:outerShdw>
          </a:effectLst>
        </p:spPr>
      </p:sp>
      <p:sp>
        <p:nvSpPr>
          <p:cNvPr id="18" name="Text 16"/>
          <p:cNvSpPr/>
          <p:nvPr/>
        </p:nvSpPr>
        <p:spPr>
          <a:xfrm>
            <a:off x="347472" y="4050792"/>
            <a:ext cx="3566160" cy="292608"/>
          </a:xfrm>
          <a:prstGeom prst="rect">
            <a:avLst/>
          </a:prstGeom>
          <a:noFill/>
          <a:ln/>
        </p:spPr>
        <p:txBody>
          <a:bodyPr wrap="square" lIns="0" tIns="0" rIns="0" bIns="0" rtlCol="0" anchor="ctr"/>
          <a:lstStyle/>
          <a:p>
            <a:pPr indent="0" marL="0">
              <a:buNone/>
            </a:pPr>
            <a:r>
              <a:rPr lang="en-US" sz="1100" b="1" dirty="0">
                <a:solidFill>
                  <a:srgbClr val="FFFFFF"/>
                </a:solidFill>
              </a:rPr>
              <a:t>8 SPREAD METHODS</a:t>
            </a:r>
            <a:endParaRPr lang="en-US" sz="1100" dirty="0"/>
          </a:p>
        </p:txBody>
      </p:sp>
      <p:sp>
        <p:nvSpPr>
          <p:cNvPr id="19" name="Text 17"/>
          <p:cNvSpPr/>
          <p:nvPr/>
        </p:nvSpPr>
        <p:spPr>
          <a:xfrm>
            <a:off x="347472" y="4379976"/>
            <a:ext cx="3566160" cy="438912"/>
          </a:xfrm>
          <a:prstGeom prst="rect">
            <a:avLst/>
          </a:prstGeom>
          <a:noFill/>
          <a:ln/>
        </p:spPr>
        <p:txBody>
          <a:bodyPr wrap="square" lIns="0" tIns="0" rIns="0" bIns="0" rtlCol="0" anchor="ctr"/>
          <a:lstStyle/>
          <a:p>
            <a:pPr indent="0" marL="0">
              <a:buNone/>
            </a:pPr>
            <a:r>
              <a:rPr lang="en-US" sz="850" dirty="0">
                <a:solidFill>
                  <a:srgbClr val="DDD6FE"/>
                </a:solidFill>
              </a:rPr>
              <a:t>Even · Proportional to Agent · Proportional to LY · Proportional to current Wp · Seasonal/Period Curve · Trend-Based · Manual Weights · Copy from Metric. Spread always writes to Wp only. Ag values are never modified. SP-01 to SP-12.</a:t>
            </a:r>
            <a:endParaRPr lang="en-US" sz="850" dirty="0"/>
          </a:p>
        </p:txBody>
      </p:sp>
      <p:sp>
        <p:nvSpPr>
          <p:cNvPr id="20" name="Shape 18"/>
          <p:cNvSpPr/>
          <p:nvPr/>
        </p:nvSpPr>
        <p:spPr>
          <a:xfrm>
            <a:off x="201168" y="4645152"/>
            <a:ext cx="3840480" cy="365760"/>
          </a:xfrm>
          <a:prstGeom prst="rect">
            <a:avLst/>
          </a:prstGeom>
          <a:solidFill>
            <a:srgbClr val="F7F9FC"/>
          </a:solidFill>
          <a:ln w="12700">
            <a:solidFill>
              <a:srgbClr val="E2E8F0"/>
            </a:solidFill>
            <a:prstDash val="solid"/>
          </a:ln>
        </p:spPr>
      </p:sp>
      <p:sp>
        <p:nvSpPr>
          <p:cNvPr id="21" name="Text 19"/>
          <p:cNvSpPr/>
          <p:nvPr/>
        </p:nvSpPr>
        <p:spPr>
          <a:xfrm>
            <a:off x="274320" y="4645152"/>
            <a:ext cx="3749040" cy="365760"/>
          </a:xfrm>
          <a:prstGeom prst="rect">
            <a:avLst/>
          </a:prstGeom>
          <a:noFill/>
          <a:ln/>
        </p:spPr>
        <p:txBody>
          <a:bodyPr wrap="square" lIns="0" tIns="0" rIns="0" bIns="0" rtlCol="0" anchor="ctr"/>
          <a:lstStyle/>
          <a:p>
            <a:pPr indent="0" marL="0">
              <a:buNone/>
            </a:pPr>
            <a:r>
              <a:rPr lang="en-US" sz="850" b="1" dirty="0">
                <a:solidFill>
                  <a:srgbClr val="0F2044"/>
                </a:solidFill>
              </a:rPr>
              <a:t>SPREADING RULES &amp; SAFEGUARDS</a:t>
            </a:r>
            <a:pPr indent="0" marL="0">
              <a:buNone/>
            </a:pPr>
            <a:r>
              <a:rPr lang="en-US" sz="850" dirty="0">
                <a:solidFill>
                  <a:srgbClr val="64748B"/>
                </a:solidFill>
              </a:rPr>
              <a:t/>
            </a:r>
            <a:endParaRPr lang="en-US" sz="850" dirty="0"/>
          </a:p>
        </p:txBody>
      </p:sp>
      <p:sp>
        <p:nvSpPr>
          <p:cNvPr id="22" name="Shape 20"/>
          <p:cNvSpPr/>
          <p:nvPr/>
        </p:nvSpPr>
        <p:spPr>
          <a:xfrm>
            <a:off x="4315968" y="804672"/>
            <a:ext cx="4626864" cy="768096"/>
          </a:xfrm>
          <a:prstGeom prst="rect">
            <a:avLst/>
          </a:prstGeom>
          <a:solidFill>
            <a:srgbClr val="F7F9FC"/>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23" name="Shape 21"/>
          <p:cNvSpPr/>
          <p:nvPr/>
        </p:nvSpPr>
        <p:spPr>
          <a:xfrm>
            <a:off x="4315968" y="804672"/>
            <a:ext cx="54864" cy="768096"/>
          </a:xfrm>
          <a:prstGeom prst="rect">
            <a:avLst/>
          </a:prstGeom>
          <a:solidFill>
            <a:srgbClr val="0D7377"/>
          </a:solidFill>
          <a:ln w="12700">
            <a:solidFill>
              <a:srgbClr val="0D7377"/>
            </a:solidFill>
            <a:prstDash val="solid"/>
          </a:ln>
        </p:spPr>
      </p:sp>
      <p:pic>
        <p:nvPicPr>
          <p:cNvPr id="24" name="Image 0" descr="preencoded.png"/>
          <p:cNvPicPr>
            <a:picLocks noChangeAspect="1"/>
          </p:cNvPicPr>
          <p:nvPr/>
        </p:nvPicPr>
        <p:blipFill>
          <a:blip r:embed="rId1"/>
          <a:stretch>
            <a:fillRect/>
          </a:stretch>
        </p:blipFill>
        <p:spPr>
          <a:xfrm>
            <a:off x="4462272" y="1024128"/>
            <a:ext cx="274320" cy="274320"/>
          </a:xfrm>
          <a:prstGeom prst="rect">
            <a:avLst/>
          </a:prstGeom>
        </p:spPr>
      </p:pic>
      <p:sp>
        <p:nvSpPr>
          <p:cNvPr id="25" name="Text 22"/>
          <p:cNvSpPr/>
          <p:nvPr/>
        </p:nvSpPr>
        <p:spPr>
          <a:xfrm>
            <a:off x="4828032" y="896112"/>
            <a:ext cx="4023360" cy="256032"/>
          </a:xfrm>
          <a:prstGeom prst="rect">
            <a:avLst/>
          </a:prstGeom>
          <a:noFill/>
          <a:ln/>
        </p:spPr>
        <p:txBody>
          <a:bodyPr wrap="square" lIns="0" tIns="0" rIns="0" bIns="0" rtlCol="0" anchor="ctr"/>
          <a:lstStyle/>
          <a:p>
            <a:pPr indent="0" marL="0">
              <a:buNone/>
            </a:pPr>
            <a:r>
              <a:rPr lang="en-US" sz="1000" b="1" dirty="0">
                <a:solidFill>
                  <a:srgbClr val="0F2044"/>
                </a:solidFill>
              </a:rPr>
              <a:t>Spread Modal</a:t>
            </a:r>
            <a:endParaRPr lang="en-US" sz="1000" dirty="0"/>
          </a:p>
        </p:txBody>
      </p:sp>
      <p:sp>
        <p:nvSpPr>
          <p:cNvPr id="26" name="Text 23"/>
          <p:cNvSpPr/>
          <p:nvPr/>
        </p:nvSpPr>
        <p:spPr>
          <a:xfrm>
            <a:off x="4828032" y="1170432"/>
            <a:ext cx="4023360" cy="365760"/>
          </a:xfrm>
          <a:prstGeom prst="rect">
            <a:avLst/>
          </a:prstGeom>
          <a:noFill/>
          <a:ln/>
        </p:spPr>
        <p:txBody>
          <a:bodyPr wrap="square" lIns="0" tIns="0" rIns="0" bIns="0" rtlCol="0" anchor="ctr"/>
          <a:lstStyle/>
          <a:p>
            <a:pPr indent="0" marL="0">
              <a:buNone/>
            </a:pPr>
            <a:r>
              <a:rPr lang="en-US" sz="800" dirty="0">
                <a:solidFill>
                  <a:srgbClr val="64748B"/>
                </a:solidFill>
              </a:rPr>
              <a:t>Right-click parent Wp cell &gt; Spread to children. Modal shows all 8 methods with descriptions. Live preview table: leaf name, current Ag, current Wp, new Wp, and delta to Ag — updates as planner types target value. SP-02, SP-07.</a:t>
            </a:r>
            <a:endParaRPr lang="en-US" sz="800" dirty="0"/>
          </a:p>
        </p:txBody>
      </p:sp>
      <p:sp>
        <p:nvSpPr>
          <p:cNvPr id="27" name="Shape 24"/>
          <p:cNvSpPr/>
          <p:nvPr/>
        </p:nvSpPr>
        <p:spPr>
          <a:xfrm>
            <a:off x="4315968" y="1655064"/>
            <a:ext cx="4626864" cy="768096"/>
          </a:xfrm>
          <a:prstGeom prst="rect">
            <a:avLst/>
          </a:prstGeom>
          <a:solidFill>
            <a:srgbClr val="F7F9FC"/>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28" name="Shape 25"/>
          <p:cNvSpPr/>
          <p:nvPr/>
        </p:nvSpPr>
        <p:spPr>
          <a:xfrm>
            <a:off x="4315968" y="1655064"/>
            <a:ext cx="54864" cy="768096"/>
          </a:xfrm>
          <a:prstGeom prst="rect">
            <a:avLst/>
          </a:prstGeom>
          <a:solidFill>
            <a:srgbClr val="0F2044"/>
          </a:solidFill>
          <a:ln w="12700">
            <a:solidFill>
              <a:srgbClr val="0F2044"/>
            </a:solidFill>
            <a:prstDash val="solid"/>
          </a:ln>
        </p:spPr>
      </p:sp>
      <p:pic>
        <p:nvPicPr>
          <p:cNvPr id="29" name="Image 1" descr="preencoded.png"/>
          <p:cNvPicPr>
            <a:picLocks noChangeAspect="1"/>
          </p:cNvPicPr>
          <p:nvPr/>
        </p:nvPicPr>
        <p:blipFill>
          <a:blip r:embed="rId2"/>
          <a:stretch>
            <a:fillRect/>
          </a:stretch>
        </p:blipFill>
        <p:spPr>
          <a:xfrm>
            <a:off x="4462272" y="1874520"/>
            <a:ext cx="274320" cy="274320"/>
          </a:xfrm>
          <a:prstGeom prst="rect">
            <a:avLst/>
          </a:prstGeom>
        </p:spPr>
      </p:pic>
      <p:sp>
        <p:nvSpPr>
          <p:cNvPr id="30" name="Text 26"/>
          <p:cNvSpPr/>
          <p:nvPr/>
        </p:nvSpPr>
        <p:spPr>
          <a:xfrm>
            <a:off x="4828032" y="1746504"/>
            <a:ext cx="4023360" cy="256032"/>
          </a:xfrm>
          <a:prstGeom prst="rect">
            <a:avLst/>
          </a:prstGeom>
          <a:noFill/>
          <a:ln/>
        </p:spPr>
        <p:txBody>
          <a:bodyPr wrap="square" lIns="0" tIns="0" rIns="0" bIns="0" rtlCol="0" anchor="ctr"/>
          <a:lstStyle/>
          <a:p>
            <a:pPr indent="0" marL="0">
              <a:buNone/>
            </a:pPr>
            <a:r>
              <a:rPr lang="en-US" sz="1000" b="1" dirty="0">
                <a:solidFill>
                  <a:srgbClr val="0F2044"/>
                </a:solidFill>
              </a:rPr>
              <a:t>Locked Cells</a:t>
            </a:r>
            <a:endParaRPr lang="en-US" sz="1000" dirty="0"/>
          </a:p>
        </p:txBody>
      </p:sp>
      <p:sp>
        <p:nvSpPr>
          <p:cNvPr id="31" name="Text 27"/>
          <p:cNvSpPr/>
          <p:nvPr/>
        </p:nvSpPr>
        <p:spPr>
          <a:xfrm>
            <a:off x="4828032" y="2020824"/>
            <a:ext cx="4023360" cy="365760"/>
          </a:xfrm>
          <a:prstGeom prst="rect">
            <a:avLst/>
          </a:prstGeom>
          <a:noFill/>
          <a:ln/>
        </p:spPr>
        <p:txBody>
          <a:bodyPr wrap="square" lIns="0" tIns="0" rIns="0" bIns="0" rtlCol="0" anchor="ctr"/>
          <a:lstStyle/>
          <a:p>
            <a:pPr indent="0" marL="0">
              <a:buNone/>
            </a:pPr>
            <a:r>
              <a:rPr lang="en-US" sz="800" dirty="0">
                <a:solidFill>
                  <a:srgbClr val="64748B"/>
                </a:solidFill>
              </a:rPr>
              <a:t>Planners can lock individual Wp cells via right-click. Locked cells show lock icon and resist all spread and bulk-edit writes. Spread redistributes target across unlocked cells only — locked count and retained value shown in preview. SP-09, SP-10.</a:t>
            </a:r>
            <a:endParaRPr lang="en-US" sz="800" dirty="0"/>
          </a:p>
        </p:txBody>
      </p:sp>
      <p:sp>
        <p:nvSpPr>
          <p:cNvPr id="32" name="Shape 28"/>
          <p:cNvSpPr/>
          <p:nvPr/>
        </p:nvSpPr>
        <p:spPr>
          <a:xfrm>
            <a:off x="4315968" y="2505456"/>
            <a:ext cx="4626864" cy="768096"/>
          </a:xfrm>
          <a:prstGeom prst="rect">
            <a:avLst/>
          </a:prstGeom>
          <a:solidFill>
            <a:srgbClr val="F7F9FC"/>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33" name="Shape 29"/>
          <p:cNvSpPr/>
          <p:nvPr/>
        </p:nvSpPr>
        <p:spPr>
          <a:xfrm>
            <a:off x="4315968" y="2505456"/>
            <a:ext cx="54864" cy="768096"/>
          </a:xfrm>
          <a:prstGeom prst="rect">
            <a:avLst/>
          </a:prstGeom>
          <a:solidFill>
            <a:srgbClr val="7C3AED"/>
          </a:solidFill>
          <a:ln w="12700">
            <a:solidFill>
              <a:srgbClr val="7C3AED"/>
            </a:solidFill>
            <a:prstDash val="solid"/>
          </a:ln>
        </p:spPr>
      </p:sp>
      <p:pic>
        <p:nvPicPr>
          <p:cNvPr id="34" name="Image 2" descr="preencoded.png"/>
          <p:cNvPicPr>
            <a:picLocks noChangeAspect="1"/>
          </p:cNvPicPr>
          <p:nvPr/>
        </p:nvPicPr>
        <p:blipFill>
          <a:blip r:embed="rId3"/>
          <a:stretch>
            <a:fillRect/>
          </a:stretch>
        </p:blipFill>
        <p:spPr>
          <a:xfrm>
            <a:off x="4462272" y="2724912"/>
            <a:ext cx="274320" cy="274320"/>
          </a:xfrm>
          <a:prstGeom prst="rect">
            <a:avLst/>
          </a:prstGeom>
        </p:spPr>
      </p:pic>
      <p:sp>
        <p:nvSpPr>
          <p:cNvPr id="35" name="Text 30"/>
          <p:cNvSpPr/>
          <p:nvPr/>
        </p:nvSpPr>
        <p:spPr>
          <a:xfrm>
            <a:off x="4828032" y="2596896"/>
            <a:ext cx="4023360" cy="256032"/>
          </a:xfrm>
          <a:prstGeom prst="rect">
            <a:avLst/>
          </a:prstGeom>
          <a:noFill/>
          <a:ln/>
        </p:spPr>
        <p:txBody>
          <a:bodyPr wrap="square" lIns="0" tIns="0" rIns="0" bIns="0" rtlCol="0" anchor="ctr"/>
          <a:lstStyle/>
          <a:p>
            <a:pPr indent="0" marL="0">
              <a:buNone/>
            </a:pPr>
            <a:r>
              <a:rPr lang="en-US" sz="1000" b="1" dirty="0">
                <a:solidFill>
                  <a:srgbClr val="0F2044"/>
                </a:solidFill>
              </a:rPr>
              <a:t>Seasonal Curve Method</a:t>
            </a:r>
            <a:endParaRPr lang="en-US" sz="1000" dirty="0"/>
          </a:p>
        </p:txBody>
      </p:sp>
      <p:sp>
        <p:nvSpPr>
          <p:cNvPr id="36" name="Text 31"/>
          <p:cNvSpPr/>
          <p:nvPr/>
        </p:nvSpPr>
        <p:spPr>
          <a:xfrm>
            <a:off x="4828032" y="2871216"/>
            <a:ext cx="4023360" cy="365760"/>
          </a:xfrm>
          <a:prstGeom prst="rect">
            <a:avLst/>
          </a:prstGeom>
          <a:noFill/>
          <a:ln/>
        </p:spPr>
        <p:txBody>
          <a:bodyPr wrap="square" lIns="0" tIns="0" rIns="0" bIns="0" rtlCol="0" anchor="ctr"/>
          <a:lstStyle/>
          <a:p>
            <a:pPr indent="0" marL="0">
              <a:buNone/>
            </a:pPr>
            <a:r>
              <a:rPr lang="en-US" sz="800" dirty="0">
                <a:solidFill>
                  <a:srgbClr val="64748B"/>
                </a:solidFill>
              </a:rPr>
              <a:t>Modal shows selectable index tables by category x calendar level. Curve preview renders as a bar chart before confirming. Example: Summer SS26 Tops curve distributes a receipt total across weeks by index weights. SP-03.</a:t>
            </a:r>
            <a:endParaRPr lang="en-US" sz="800" dirty="0"/>
          </a:p>
        </p:txBody>
      </p:sp>
      <p:sp>
        <p:nvSpPr>
          <p:cNvPr id="37" name="Shape 32"/>
          <p:cNvSpPr/>
          <p:nvPr/>
        </p:nvSpPr>
        <p:spPr>
          <a:xfrm>
            <a:off x="4315968" y="3355848"/>
            <a:ext cx="4626864" cy="768096"/>
          </a:xfrm>
          <a:prstGeom prst="rect">
            <a:avLst/>
          </a:prstGeom>
          <a:solidFill>
            <a:srgbClr val="F7F9FC"/>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38" name="Shape 33"/>
          <p:cNvSpPr/>
          <p:nvPr/>
        </p:nvSpPr>
        <p:spPr>
          <a:xfrm>
            <a:off x="4315968" y="3355848"/>
            <a:ext cx="54864" cy="768096"/>
          </a:xfrm>
          <a:prstGeom prst="rect">
            <a:avLst/>
          </a:prstGeom>
          <a:solidFill>
            <a:srgbClr val="F59E0B"/>
          </a:solidFill>
          <a:ln w="12700">
            <a:solidFill>
              <a:srgbClr val="F59E0B"/>
            </a:solidFill>
            <a:prstDash val="solid"/>
          </a:ln>
        </p:spPr>
      </p:sp>
      <p:pic>
        <p:nvPicPr>
          <p:cNvPr id="39" name="Image 3" descr="preencoded.png"/>
          <p:cNvPicPr>
            <a:picLocks noChangeAspect="1"/>
          </p:cNvPicPr>
          <p:nvPr/>
        </p:nvPicPr>
        <p:blipFill>
          <a:blip r:embed="rId4"/>
          <a:stretch>
            <a:fillRect/>
          </a:stretch>
        </p:blipFill>
        <p:spPr>
          <a:xfrm>
            <a:off x="4462272" y="3575304"/>
            <a:ext cx="274320" cy="274320"/>
          </a:xfrm>
          <a:prstGeom prst="rect">
            <a:avLst/>
          </a:prstGeom>
        </p:spPr>
      </p:pic>
      <p:sp>
        <p:nvSpPr>
          <p:cNvPr id="40" name="Text 34"/>
          <p:cNvSpPr/>
          <p:nvPr/>
        </p:nvSpPr>
        <p:spPr>
          <a:xfrm>
            <a:off x="4828032" y="3447288"/>
            <a:ext cx="4023360" cy="256032"/>
          </a:xfrm>
          <a:prstGeom prst="rect">
            <a:avLst/>
          </a:prstGeom>
          <a:noFill/>
          <a:ln/>
        </p:spPr>
        <p:txBody>
          <a:bodyPr wrap="square" lIns="0" tIns="0" rIns="0" bIns="0" rtlCol="0" anchor="ctr"/>
          <a:lstStyle/>
          <a:p>
            <a:pPr indent="0" marL="0">
              <a:buNone/>
            </a:pPr>
            <a:r>
              <a:rPr lang="en-US" sz="1000" b="1" dirty="0">
                <a:solidFill>
                  <a:srgbClr val="0F2044"/>
                </a:solidFill>
              </a:rPr>
              <a:t>Subtotals</a:t>
            </a:r>
            <a:endParaRPr lang="en-US" sz="1000" dirty="0"/>
          </a:p>
        </p:txBody>
      </p:sp>
      <p:sp>
        <p:nvSpPr>
          <p:cNvPr id="41" name="Text 35"/>
          <p:cNvSpPr/>
          <p:nvPr/>
        </p:nvSpPr>
        <p:spPr>
          <a:xfrm>
            <a:off x="4828032" y="3721608"/>
            <a:ext cx="4023360" cy="365760"/>
          </a:xfrm>
          <a:prstGeom prst="rect">
            <a:avLst/>
          </a:prstGeom>
          <a:noFill/>
          <a:ln/>
        </p:spPr>
        <p:txBody>
          <a:bodyPr wrap="square" lIns="0" tIns="0" rIns="0" bIns="0" rtlCol="0" anchor="ctr"/>
          <a:lstStyle/>
          <a:p>
            <a:pPr indent="0" marL="0">
              <a:buNone/>
            </a:pPr>
            <a:r>
              <a:rPr lang="en-US" sz="800" dirty="0">
                <a:solidFill>
                  <a:srgbClr val="64748B"/>
                </a:solidFill>
              </a:rPr>
              <a:t>Toggling Subtotals ON inserts a subtotal row below each expanded parent: grey border + grey background + bold + sum symbol prefix. Subtotals are non-editable, update live on override commit/remove, and respect per-metric aggregation methods. ST-01 to ST-05.</a:t>
            </a:r>
            <a:endParaRPr lang="en-US" sz="800" dirty="0"/>
          </a:p>
        </p:txBody>
      </p:sp>
      <p:sp>
        <p:nvSpPr>
          <p:cNvPr id="42" name="Shape 36"/>
          <p:cNvSpPr/>
          <p:nvPr/>
        </p:nvSpPr>
        <p:spPr>
          <a:xfrm>
            <a:off x="4315968" y="4206240"/>
            <a:ext cx="4626864" cy="768096"/>
          </a:xfrm>
          <a:prstGeom prst="rect">
            <a:avLst/>
          </a:prstGeom>
          <a:solidFill>
            <a:srgbClr val="F7F9FC"/>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43" name="Shape 37"/>
          <p:cNvSpPr/>
          <p:nvPr/>
        </p:nvSpPr>
        <p:spPr>
          <a:xfrm>
            <a:off x="4315968" y="4206240"/>
            <a:ext cx="54864" cy="768096"/>
          </a:xfrm>
          <a:prstGeom prst="rect">
            <a:avLst/>
          </a:prstGeom>
          <a:solidFill>
            <a:srgbClr val="0D7377"/>
          </a:solidFill>
          <a:ln w="12700">
            <a:solidFill>
              <a:srgbClr val="0D7377"/>
            </a:solidFill>
            <a:prstDash val="solid"/>
          </a:ln>
        </p:spPr>
      </p:sp>
      <p:pic>
        <p:nvPicPr>
          <p:cNvPr id="44" name="Image 4" descr="preencoded.png"/>
          <p:cNvPicPr>
            <a:picLocks noChangeAspect="1"/>
          </p:cNvPicPr>
          <p:nvPr/>
        </p:nvPicPr>
        <p:blipFill>
          <a:blip r:embed="rId5"/>
          <a:stretch>
            <a:fillRect/>
          </a:stretch>
        </p:blipFill>
        <p:spPr>
          <a:xfrm>
            <a:off x="4462272" y="4425696"/>
            <a:ext cx="274320" cy="274320"/>
          </a:xfrm>
          <a:prstGeom prst="rect">
            <a:avLst/>
          </a:prstGeom>
        </p:spPr>
      </p:pic>
      <p:sp>
        <p:nvSpPr>
          <p:cNvPr id="45" name="Text 38"/>
          <p:cNvSpPr/>
          <p:nvPr/>
        </p:nvSpPr>
        <p:spPr>
          <a:xfrm>
            <a:off x="4828032" y="4297680"/>
            <a:ext cx="4023360" cy="256032"/>
          </a:xfrm>
          <a:prstGeom prst="rect">
            <a:avLst/>
          </a:prstGeom>
          <a:noFill/>
          <a:ln/>
        </p:spPr>
        <p:txBody>
          <a:bodyPr wrap="square" lIns="0" tIns="0" rIns="0" bIns="0" rtlCol="0" anchor="ctr"/>
          <a:lstStyle/>
          <a:p>
            <a:pPr indent="0" marL="0">
              <a:buNone/>
            </a:pPr>
            <a:r>
              <a:rPr lang="en-US" sz="1000" b="1" dirty="0">
                <a:solidFill>
                  <a:srgbClr val="0F2044"/>
                </a:solidFill>
              </a:rPr>
              <a:t>Aggregation Integrity Rules</a:t>
            </a:r>
            <a:endParaRPr lang="en-US" sz="1000" dirty="0"/>
          </a:p>
        </p:txBody>
      </p:sp>
      <p:sp>
        <p:nvSpPr>
          <p:cNvPr id="46" name="Text 39"/>
          <p:cNvSpPr/>
          <p:nvPr/>
        </p:nvSpPr>
        <p:spPr>
          <a:xfrm>
            <a:off x="4828032" y="4572000"/>
            <a:ext cx="4023360" cy="365760"/>
          </a:xfrm>
          <a:prstGeom prst="rect">
            <a:avLst/>
          </a:prstGeom>
          <a:noFill/>
          <a:ln/>
        </p:spPr>
        <p:txBody>
          <a:bodyPr wrap="square" lIns="0" tIns="0" rIns="0" bIns="0" rtlCol="0" anchor="ctr"/>
          <a:lstStyle/>
          <a:p>
            <a:pPr indent="0" marL="0">
              <a:buNone/>
            </a:pPr>
            <a:r>
              <a:rPr lang="en-US" sz="800" dirty="0">
                <a:solidFill>
                  <a:srgbClr val="64748B"/>
                </a:solidFill>
              </a:rPr>
              <a:t>All aggregation uses override values for Wp where present, agent values otherwise. Ag roll-ups always use agent values only. Null/missing leaf values excluded from averages and counts. Parent Wp cells are read-only with delta badges. AG-11, AG-12, AG-13.</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F2044"/>
          </a:solidFill>
          <a:ln w="12700">
            <a:solidFill>
              <a:srgbClr val="0F2044"/>
            </a:solidFill>
            <a:prstDash val="solid"/>
          </a:ln>
        </p:spPr>
      </p:sp>
      <p:sp>
        <p:nvSpPr>
          <p:cNvPr id="3" name="Text 1"/>
          <p:cNvSpPr/>
          <p:nvPr/>
        </p:nvSpPr>
        <p:spPr>
          <a:xfrm>
            <a:off x="365760" y="0"/>
            <a:ext cx="7772400" cy="658368"/>
          </a:xfrm>
          <a:prstGeom prst="rect">
            <a:avLst/>
          </a:prstGeom>
          <a:noFill/>
          <a:ln/>
        </p:spPr>
        <p:txBody>
          <a:bodyPr wrap="square" lIns="0" tIns="0" rIns="0" bIns="0" rtlCol="0" anchor="ctr"/>
          <a:lstStyle/>
          <a:p>
            <a:pPr indent="0" marL="0">
              <a:buNone/>
            </a:pPr>
            <a:r>
              <a:rPr lang="en-US" sz="1000" b="1" spc="300" kern="0" dirty="0">
                <a:solidFill>
                  <a:srgbClr val="FFFFFF"/>
                </a:solidFill>
              </a:rPr>
              <a:t>PLANNING GRID — AGENT TRANSPARENCY &amp; ANALYTICS</a:t>
            </a:r>
            <a:endParaRPr lang="en-US" sz="1000" dirty="0"/>
          </a:p>
        </p:txBody>
      </p:sp>
      <p:sp>
        <p:nvSpPr>
          <p:cNvPr id="4" name="Text 2"/>
          <p:cNvSpPr/>
          <p:nvPr/>
        </p:nvSpPr>
        <p:spPr>
          <a:xfrm>
            <a:off x="7863840" y="0"/>
            <a:ext cx="1097280" cy="658368"/>
          </a:xfrm>
          <a:prstGeom prst="rect">
            <a:avLst/>
          </a:prstGeom>
          <a:noFill/>
          <a:ln/>
        </p:spPr>
        <p:txBody>
          <a:bodyPr wrap="square" lIns="0" tIns="0" rIns="0" bIns="0" rtlCol="0" anchor="ctr"/>
          <a:lstStyle/>
          <a:p>
            <a:pPr algn="r" indent="0" marL="0">
              <a:buNone/>
            </a:pPr>
            <a:r>
              <a:rPr lang="en-US" sz="900" dirty="0">
                <a:solidFill>
                  <a:srgbClr val="94A3B8"/>
                </a:solidFill>
              </a:rPr>
              <a:t>GRID-04</a:t>
            </a:r>
            <a:endParaRPr lang="en-US" sz="900" dirty="0"/>
          </a:p>
        </p:txBody>
      </p:sp>
      <p:sp>
        <p:nvSpPr>
          <p:cNvPr id="5" name="Shape 3"/>
          <p:cNvSpPr/>
          <p:nvPr/>
        </p:nvSpPr>
        <p:spPr>
          <a:xfrm>
            <a:off x="201168" y="804672"/>
            <a:ext cx="3840480" cy="914400"/>
          </a:xfrm>
          <a:prstGeom prst="rect">
            <a:avLst/>
          </a:prstGeom>
          <a:solidFill>
            <a:srgbClr val="0F2044"/>
          </a:solidFill>
          <a:ln w="12700">
            <a:solidFill>
              <a:srgbClr val="0F2044"/>
            </a:solidFill>
            <a:prstDash val="solid"/>
          </a:ln>
          <a:effectLst>
            <a:outerShdw sx="100000" sy="100000" kx="0" ky="0" algn="bl" rotWithShape="0" blurRad="101600" dist="38100" dir="8100000">
              <a:srgbClr val="000000">
                <a:alpha val="10000"/>
              </a:srgbClr>
            </a:outerShdw>
          </a:effectLst>
        </p:spPr>
      </p:sp>
      <p:sp>
        <p:nvSpPr>
          <p:cNvPr id="6" name="Text 4"/>
          <p:cNvSpPr/>
          <p:nvPr/>
        </p:nvSpPr>
        <p:spPr>
          <a:xfrm>
            <a:off x="347472" y="896112"/>
            <a:ext cx="3566160" cy="292608"/>
          </a:xfrm>
          <a:prstGeom prst="rect">
            <a:avLst/>
          </a:prstGeom>
          <a:noFill/>
          <a:ln/>
        </p:spPr>
        <p:txBody>
          <a:bodyPr wrap="square" lIns="0" tIns="0" rIns="0" bIns="0" rtlCol="0" anchor="ctr"/>
          <a:lstStyle/>
          <a:p>
            <a:pPr indent="0" marL="0">
              <a:buNone/>
            </a:pPr>
            <a:r>
              <a:rPr lang="en-US" sz="1100" b="1" dirty="0">
                <a:solidFill>
                  <a:srgbClr val="FFFFFF"/>
                </a:solidFill>
              </a:rPr>
              <a:t>AGENT REASONING DRAWER</a:t>
            </a:r>
            <a:endParaRPr lang="en-US" sz="1100" dirty="0"/>
          </a:p>
        </p:txBody>
      </p:sp>
      <p:sp>
        <p:nvSpPr>
          <p:cNvPr id="7" name="Text 5"/>
          <p:cNvSpPr/>
          <p:nvPr/>
        </p:nvSpPr>
        <p:spPr>
          <a:xfrm>
            <a:off x="347472" y="1225296"/>
            <a:ext cx="3566160" cy="438912"/>
          </a:xfrm>
          <a:prstGeom prst="rect">
            <a:avLst/>
          </a:prstGeom>
          <a:noFill/>
          <a:ln/>
        </p:spPr>
        <p:txBody>
          <a:bodyPr wrap="square" lIns="0" tIns="0" rIns="0" bIns="0" rtlCol="0" anchor="ctr"/>
          <a:lstStyle/>
          <a:p>
            <a:pPr indent="0" marL="0">
              <a:buNone/>
            </a:pPr>
            <a:r>
              <a:rPr lang="en-US" sz="850" dirty="0">
                <a:solidFill>
                  <a:srgbClr val="94A3B8"/>
                </a:solidFill>
              </a:rPr>
              <a:t>Robot button on each leaf row opens a 440 px right-side drawer. Shows: member name, confidence level (High/Med/Low, colour-coded), % vs LY, signal strength, and per-metric reasoning narratives. Accept all for row button inside drawer. AI-01 to AI-05.</a:t>
            </a:r>
            <a:endParaRPr lang="en-US" sz="850" dirty="0"/>
          </a:p>
        </p:txBody>
      </p:sp>
      <p:sp>
        <p:nvSpPr>
          <p:cNvPr id="8" name="Shape 6"/>
          <p:cNvSpPr/>
          <p:nvPr/>
        </p:nvSpPr>
        <p:spPr>
          <a:xfrm>
            <a:off x="2103120" y="1719072"/>
            <a:ext cx="0" cy="137160"/>
          </a:xfrm>
          <a:prstGeom prst="line">
            <a:avLst/>
          </a:prstGeom>
          <a:noFill/>
          <a:ln w="19050">
            <a:solidFill>
              <a:srgbClr val="94A3B8"/>
            </a:solidFill>
            <a:prstDash val="solid"/>
          </a:ln>
        </p:spPr>
      </p:sp>
      <p:sp>
        <p:nvSpPr>
          <p:cNvPr id="9" name="Shape 7"/>
          <p:cNvSpPr/>
          <p:nvPr/>
        </p:nvSpPr>
        <p:spPr>
          <a:xfrm>
            <a:off x="201168" y="1856232"/>
            <a:ext cx="3840480" cy="914400"/>
          </a:xfrm>
          <a:prstGeom prst="rect">
            <a:avLst/>
          </a:prstGeom>
          <a:solidFill>
            <a:srgbClr val="0D7377"/>
          </a:solidFill>
          <a:ln w="12700">
            <a:solidFill>
              <a:srgbClr val="0D7377"/>
            </a:solidFill>
            <a:prstDash val="solid"/>
          </a:ln>
          <a:effectLst>
            <a:outerShdw sx="100000" sy="100000" kx="0" ky="0" algn="bl" rotWithShape="0" blurRad="101600" dist="38100" dir="8100000">
              <a:srgbClr val="000000">
                <a:alpha val="10000"/>
              </a:srgbClr>
            </a:outerShdw>
          </a:effectLst>
        </p:spPr>
      </p:sp>
      <p:sp>
        <p:nvSpPr>
          <p:cNvPr id="10" name="Text 8"/>
          <p:cNvSpPr/>
          <p:nvPr/>
        </p:nvSpPr>
        <p:spPr>
          <a:xfrm>
            <a:off x="347472" y="1947672"/>
            <a:ext cx="3566160" cy="292608"/>
          </a:xfrm>
          <a:prstGeom prst="rect">
            <a:avLst/>
          </a:prstGeom>
          <a:noFill/>
          <a:ln/>
        </p:spPr>
        <p:txBody>
          <a:bodyPr wrap="square" lIns="0" tIns="0" rIns="0" bIns="0" rtlCol="0" anchor="ctr"/>
          <a:lstStyle/>
          <a:p>
            <a:pPr indent="0" marL="0">
              <a:buNone/>
            </a:pPr>
            <a:r>
              <a:rPr lang="en-US" sz="1100" b="1" dirty="0">
                <a:solidFill>
                  <a:srgbClr val="FFFFFF"/>
                </a:solidFill>
              </a:rPr>
              <a:t>VARIANCE COLUMNS</a:t>
            </a:r>
            <a:endParaRPr lang="en-US" sz="1100" dirty="0"/>
          </a:p>
        </p:txBody>
      </p:sp>
      <p:sp>
        <p:nvSpPr>
          <p:cNvPr id="11" name="Text 9"/>
          <p:cNvSpPr/>
          <p:nvPr/>
        </p:nvSpPr>
        <p:spPr>
          <a:xfrm>
            <a:off x="347472" y="2276856"/>
            <a:ext cx="3566160" cy="438912"/>
          </a:xfrm>
          <a:prstGeom prst="rect">
            <a:avLst/>
          </a:prstGeom>
          <a:noFill/>
          <a:ln/>
        </p:spPr>
        <p:txBody>
          <a:bodyPr wrap="square" lIns="0" tIns="0" rIns="0" bIns="0" rtlCol="0" anchor="ctr"/>
          <a:lstStyle/>
          <a:p>
            <a:pPr indent="0" marL="0">
              <a:buNone/>
            </a:pPr>
            <a:r>
              <a:rPr lang="en-US" sz="850" dirty="0">
                <a:solidFill>
                  <a:srgbClr val="94A3B8"/>
                </a:solidFill>
              </a:rPr>
              <a:t>Each metric auto-generates adjacent Var $ and Var % columns (Wp vs Ag, Wp vs LY, Wp vs Original Plan). Read-only, live-updating. Positive variances green, negative red. Participate in aggregation using the same method as their parent metric. VC-01 to VC-10.</a:t>
            </a:r>
            <a:endParaRPr lang="en-US" sz="850" dirty="0"/>
          </a:p>
        </p:txBody>
      </p:sp>
      <p:sp>
        <p:nvSpPr>
          <p:cNvPr id="12" name="Shape 10"/>
          <p:cNvSpPr/>
          <p:nvPr/>
        </p:nvSpPr>
        <p:spPr>
          <a:xfrm>
            <a:off x="2103120" y="2770632"/>
            <a:ext cx="0" cy="137160"/>
          </a:xfrm>
          <a:prstGeom prst="line">
            <a:avLst/>
          </a:prstGeom>
          <a:noFill/>
          <a:ln w="19050">
            <a:solidFill>
              <a:srgbClr val="94A3B8"/>
            </a:solidFill>
            <a:prstDash val="solid"/>
          </a:ln>
        </p:spPr>
      </p:sp>
      <p:sp>
        <p:nvSpPr>
          <p:cNvPr id="13" name="Shape 11"/>
          <p:cNvSpPr/>
          <p:nvPr/>
        </p:nvSpPr>
        <p:spPr>
          <a:xfrm>
            <a:off x="201168" y="2907792"/>
            <a:ext cx="3840480" cy="914400"/>
          </a:xfrm>
          <a:prstGeom prst="rect">
            <a:avLst/>
          </a:prstGeom>
          <a:solidFill>
            <a:srgbClr val="7C3AED"/>
          </a:solidFill>
          <a:ln w="12700">
            <a:solidFill>
              <a:srgbClr val="7C3AED"/>
            </a:solidFill>
            <a:prstDash val="solid"/>
          </a:ln>
          <a:effectLst>
            <a:outerShdw sx="100000" sy="100000" kx="0" ky="0" algn="bl" rotWithShape="0" blurRad="101600" dist="38100" dir="8100000">
              <a:srgbClr val="000000">
                <a:alpha val="10000"/>
              </a:srgbClr>
            </a:outerShdw>
          </a:effectLst>
        </p:spPr>
      </p:sp>
      <p:sp>
        <p:nvSpPr>
          <p:cNvPr id="14" name="Text 12"/>
          <p:cNvSpPr/>
          <p:nvPr/>
        </p:nvSpPr>
        <p:spPr>
          <a:xfrm>
            <a:off x="347472" y="2999232"/>
            <a:ext cx="3566160" cy="292608"/>
          </a:xfrm>
          <a:prstGeom prst="rect">
            <a:avLst/>
          </a:prstGeom>
          <a:noFill/>
          <a:ln/>
        </p:spPr>
        <p:txBody>
          <a:bodyPr wrap="square" lIns="0" tIns="0" rIns="0" bIns="0" rtlCol="0" anchor="ctr"/>
          <a:lstStyle/>
          <a:p>
            <a:pPr indent="0" marL="0">
              <a:buNone/>
            </a:pPr>
            <a:r>
              <a:rPr lang="en-US" sz="1100" b="1" dirty="0">
                <a:solidFill>
                  <a:srgbClr val="FFFFFF"/>
                </a:solidFill>
              </a:rPr>
              <a:t>SPARKLINES</a:t>
            </a:r>
            <a:endParaRPr lang="en-US" sz="1100" dirty="0"/>
          </a:p>
        </p:txBody>
      </p:sp>
      <p:sp>
        <p:nvSpPr>
          <p:cNvPr id="15" name="Text 13"/>
          <p:cNvSpPr/>
          <p:nvPr/>
        </p:nvSpPr>
        <p:spPr>
          <a:xfrm>
            <a:off x="347472" y="3328416"/>
            <a:ext cx="3566160" cy="438912"/>
          </a:xfrm>
          <a:prstGeom prst="rect">
            <a:avLst/>
          </a:prstGeom>
          <a:noFill/>
          <a:ln/>
        </p:spPr>
        <p:txBody>
          <a:bodyPr wrap="square" lIns="0" tIns="0" rIns="0" bIns="0" rtlCol="0" anchor="ctr"/>
          <a:lstStyle/>
          <a:p>
            <a:pPr indent="0" marL="0">
              <a:buNone/>
            </a:pPr>
            <a:r>
              <a:rPr lang="en-US" sz="850" dirty="0">
                <a:solidFill>
                  <a:srgbClr val="DDD6FE"/>
                </a:solidFill>
              </a:rPr>
              <a:t>120x28 px bar/line chart per row showing Wp values across all time periods. Overlays both Ag (grey) and Wp (blue) values. Hovering expands to 280x120 px with period labels and exact values. Toggle on/off globally. SL-01 to SL-09.</a:t>
            </a:r>
            <a:endParaRPr lang="en-US" sz="850" dirty="0"/>
          </a:p>
        </p:txBody>
      </p:sp>
      <p:sp>
        <p:nvSpPr>
          <p:cNvPr id="16" name="Shape 14"/>
          <p:cNvSpPr/>
          <p:nvPr/>
        </p:nvSpPr>
        <p:spPr>
          <a:xfrm>
            <a:off x="2103120" y="3822192"/>
            <a:ext cx="0" cy="137160"/>
          </a:xfrm>
          <a:prstGeom prst="line">
            <a:avLst/>
          </a:prstGeom>
          <a:noFill/>
          <a:ln w="19050">
            <a:solidFill>
              <a:srgbClr val="94A3B8"/>
            </a:solidFill>
            <a:prstDash val="solid"/>
          </a:ln>
        </p:spPr>
      </p:sp>
      <p:sp>
        <p:nvSpPr>
          <p:cNvPr id="17" name="Shape 15"/>
          <p:cNvSpPr/>
          <p:nvPr/>
        </p:nvSpPr>
        <p:spPr>
          <a:xfrm>
            <a:off x="201168" y="3959352"/>
            <a:ext cx="3840480" cy="914400"/>
          </a:xfrm>
          <a:prstGeom prst="rect">
            <a:avLst/>
          </a:prstGeom>
          <a:solidFill>
            <a:srgbClr val="334155"/>
          </a:solidFill>
          <a:ln w="12700">
            <a:solidFill>
              <a:srgbClr val="334155"/>
            </a:solidFill>
            <a:prstDash val="solid"/>
          </a:ln>
          <a:effectLst>
            <a:outerShdw sx="100000" sy="100000" kx="0" ky="0" algn="bl" rotWithShape="0" blurRad="101600" dist="38100" dir="8100000">
              <a:srgbClr val="000000">
                <a:alpha val="10000"/>
              </a:srgbClr>
            </a:outerShdw>
          </a:effectLst>
        </p:spPr>
      </p:sp>
      <p:sp>
        <p:nvSpPr>
          <p:cNvPr id="18" name="Text 16"/>
          <p:cNvSpPr/>
          <p:nvPr/>
        </p:nvSpPr>
        <p:spPr>
          <a:xfrm>
            <a:off x="347472" y="4050792"/>
            <a:ext cx="3566160" cy="292608"/>
          </a:xfrm>
          <a:prstGeom prst="rect">
            <a:avLst/>
          </a:prstGeom>
          <a:noFill/>
          <a:ln/>
        </p:spPr>
        <p:txBody>
          <a:bodyPr wrap="square" lIns="0" tIns="0" rIns="0" bIns="0" rtlCol="0" anchor="ctr"/>
          <a:lstStyle/>
          <a:p>
            <a:pPr indent="0" marL="0">
              <a:buNone/>
            </a:pPr>
            <a:r>
              <a:rPr lang="en-US" sz="1100" b="1" dirty="0">
                <a:solidFill>
                  <a:srgbClr val="FFFFFF"/>
                </a:solidFill>
              </a:rPr>
              <a:t>CALCULATED ROWS</a:t>
            </a:r>
            <a:endParaRPr lang="en-US" sz="1100" dirty="0"/>
          </a:p>
        </p:txBody>
      </p:sp>
      <p:sp>
        <p:nvSpPr>
          <p:cNvPr id="19" name="Text 17"/>
          <p:cNvSpPr/>
          <p:nvPr/>
        </p:nvSpPr>
        <p:spPr>
          <a:xfrm>
            <a:off x="347472" y="4379976"/>
            <a:ext cx="3566160" cy="438912"/>
          </a:xfrm>
          <a:prstGeom prst="rect">
            <a:avLst/>
          </a:prstGeom>
          <a:noFill/>
          <a:ln/>
        </p:spPr>
        <p:txBody>
          <a:bodyPr wrap="square" lIns="0" tIns="0" rIns="0" bIns="0" rtlCol="0" anchor="ctr"/>
          <a:lstStyle/>
          <a:p>
            <a:pPr indent="0" marL="0">
              <a:buNone/>
            </a:pPr>
            <a:r>
              <a:rPr lang="en-US" sz="850" dirty="0">
                <a:solidFill>
                  <a:srgbClr val="DDD6FE"/>
                </a:solidFill>
              </a:rPr>
              <a:t>System-defined derived rows (e.g. Sell-Through%, OTB). Displayed in italic + light blue + formula symbol. Not editable. Update live when source metrics change. Division by zero renders as em dash with tooltip. CR-01 to CR-07.</a:t>
            </a:r>
            <a:endParaRPr lang="en-US" sz="850" dirty="0"/>
          </a:p>
        </p:txBody>
      </p:sp>
      <p:sp>
        <p:nvSpPr>
          <p:cNvPr id="20" name="Shape 18"/>
          <p:cNvSpPr/>
          <p:nvPr/>
        </p:nvSpPr>
        <p:spPr>
          <a:xfrm>
            <a:off x="201168" y="4645152"/>
            <a:ext cx="3840480" cy="365760"/>
          </a:xfrm>
          <a:prstGeom prst="rect">
            <a:avLst/>
          </a:prstGeom>
          <a:solidFill>
            <a:srgbClr val="F7F9FC"/>
          </a:solidFill>
          <a:ln w="12700">
            <a:solidFill>
              <a:srgbClr val="E2E8F0"/>
            </a:solidFill>
            <a:prstDash val="solid"/>
          </a:ln>
        </p:spPr>
      </p:sp>
      <p:sp>
        <p:nvSpPr>
          <p:cNvPr id="21" name="Text 19"/>
          <p:cNvSpPr/>
          <p:nvPr/>
        </p:nvSpPr>
        <p:spPr>
          <a:xfrm>
            <a:off x="274320" y="4645152"/>
            <a:ext cx="3749040" cy="365760"/>
          </a:xfrm>
          <a:prstGeom prst="rect">
            <a:avLst/>
          </a:prstGeom>
          <a:noFill/>
          <a:ln/>
        </p:spPr>
        <p:txBody>
          <a:bodyPr wrap="square" lIns="0" tIns="0" rIns="0" bIns="0" rtlCol="0" anchor="ctr"/>
          <a:lstStyle/>
          <a:p>
            <a:pPr indent="0" marL="0">
              <a:buNone/>
            </a:pPr>
            <a:r>
              <a:rPr lang="en-US" sz="850" b="1" dirty="0">
                <a:solidFill>
                  <a:srgbClr val="0F2044"/>
                </a:solidFill>
              </a:rPr>
              <a:t>AI TRANSPARENCY DETAILS</a:t>
            </a:r>
            <a:pPr indent="0" marL="0">
              <a:buNone/>
            </a:pPr>
            <a:r>
              <a:rPr lang="en-US" sz="850" dirty="0">
                <a:solidFill>
                  <a:srgbClr val="64748B"/>
                </a:solidFill>
              </a:rPr>
              <a:t/>
            </a:r>
            <a:endParaRPr lang="en-US" sz="850" dirty="0"/>
          </a:p>
        </p:txBody>
      </p:sp>
      <p:sp>
        <p:nvSpPr>
          <p:cNvPr id="22" name="Shape 20"/>
          <p:cNvSpPr/>
          <p:nvPr/>
        </p:nvSpPr>
        <p:spPr>
          <a:xfrm>
            <a:off x="4315968" y="804672"/>
            <a:ext cx="4626864" cy="768096"/>
          </a:xfrm>
          <a:prstGeom prst="rect">
            <a:avLst/>
          </a:prstGeom>
          <a:solidFill>
            <a:srgbClr val="F7F9FC"/>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23" name="Shape 21"/>
          <p:cNvSpPr/>
          <p:nvPr/>
        </p:nvSpPr>
        <p:spPr>
          <a:xfrm>
            <a:off x="4315968" y="804672"/>
            <a:ext cx="54864" cy="768096"/>
          </a:xfrm>
          <a:prstGeom prst="rect">
            <a:avLst/>
          </a:prstGeom>
          <a:solidFill>
            <a:srgbClr val="0D7377"/>
          </a:solidFill>
          <a:ln w="12700">
            <a:solidFill>
              <a:srgbClr val="0D7377"/>
            </a:solidFill>
            <a:prstDash val="solid"/>
          </a:ln>
        </p:spPr>
      </p:sp>
      <p:pic>
        <p:nvPicPr>
          <p:cNvPr id="24" name="Image 0" descr="preencoded.png"/>
          <p:cNvPicPr>
            <a:picLocks noChangeAspect="1"/>
          </p:cNvPicPr>
          <p:nvPr/>
        </p:nvPicPr>
        <p:blipFill>
          <a:blip r:embed="rId1"/>
          <a:stretch>
            <a:fillRect/>
          </a:stretch>
        </p:blipFill>
        <p:spPr>
          <a:xfrm>
            <a:off x="4462272" y="1024128"/>
            <a:ext cx="274320" cy="274320"/>
          </a:xfrm>
          <a:prstGeom prst="rect">
            <a:avLst/>
          </a:prstGeom>
        </p:spPr>
      </p:pic>
      <p:sp>
        <p:nvSpPr>
          <p:cNvPr id="25" name="Text 22"/>
          <p:cNvSpPr/>
          <p:nvPr/>
        </p:nvSpPr>
        <p:spPr>
          <a:xfrm>
            <a:off x="4828032" y="896112"/>
            <a:ext cx="4023360" cy="256032"/>
          </a:xfrm>
          <a:prstGeom prst="rect">
            <a:avLst/>
          </a:prstGeom>
          <a:noFill/>
          <a:ln/>
        </p:spPr>
        <p:txBody>
          <a:bodyPr wrap="square" lIns="0" tIns="0" rIns="0" bIns="0" rtlCol="0" anchor="ctr"/>
          <a:lstStyle/>
          <a:p>
            <a:pPr indent="0" marL="0">
              <a:buNone/>
            </a:pPr>
            <a:r>
              <a:rPr lang="en-US" sz="1000" b="1" dirty="0">
                <a:solidFill>
                  <a:srgbClr val="0F2044"/>
                </a:solidFill>
              </a:rPr>
              <a:t>Confidence Scoring</a:t>
            </a:r>
            <a:endParaRPr lang="en-US" sz="1000" dirty="0"/>
          </a:p>
        </p:txBody>
      </p:sp>
      <p:sp>
        <p:nvSpPr>
          <p:cNvPr id="26" name="Text 23"/>
          <p:cNvSpPr/>
          <p:nvPr/>
        </p:nvSpPr>
        <p:spPr>
          <a:xfrm>
            <a:off x="4828032" y="1170432"/>
            <a:ext cx="4023360" cy="365760"/>
          </a:xfrm>
          <a:prstGeom prst="rect">
            <a:avLst/>
          </a:prstGeom>
          <a:noFill/>
          <a:ln/>
        </p:spPr>
        <p:txBody>
          <a:bodyPr wrap="square" lIns="0" tIns="0" rIns="0" bIns="0" rtlCol="0" anchor="ctr"/>
          <a:lstStyle/>
          <a:p>
            <a:pPr indent="0" marL="0">
              <a:buNone/>
            </a:pPr>
            <a:r>
              <a:rPr lang="en-US" sz="800" dirty="0">
                <a:solidFill>
                  <a:srgbClr val="64748B"/>
                </a:solidFill>
              </a:rPr>
              <a:t>High (green) / Medium (amber) / Low (red) confidence badges on the agent reasoning drawer. Drives planner attention to rows where the model is less certain and human judgement is most valuable. AI-05.</a:t>
            </a:r>
            <a:endParaRPr lang="en-US" sz="800" dirty="0"/>
          </a:p>
        </p:txBody>
      </p:sp>
      <p:sp>
        <p:nvSpPr>
          <p:cNvPr id="27" name="Shape 24"/>
          <p:cNvSpPr/>
          <p:nvPr/>
        </p:nvSpPr>
        <p:spPr>
          <a:xfrm>
            <a:off x="4315968" y="1655064"/>
            <a:ext cx="4626864" cy="768096"/>
          </a:xfrm>
          <a:prstGeom prst="rect">
            <a:avLst/>
          </a:prstGeom>
          <a:solidFill>
            <a:srgbClr val="F7F9FC"/>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28" name="Shape 25"/>
          <p:cNvSpPr/>
          <p:nvPr/>
        </p:nvSpPr>
        <p:spPr>
          <a:xfrm>
            <a:off x="4315968" y="1655064"/>
            <a:ext cx="54864" cy="768096"/>
          </a:xfrm>
          <a:prstGeom prst="rect">
            <a:avLst/>
          </a:prstGeom>
          <a:solidFill>
            <a:srgbClr val="0F2044"/>
          </a:solidFill>
          <a:ln w="12700">
            <a:solidFill>
              <a:srgbClr val="0F2044"/>
            </a:solidFill>
            <a:prstDash val="solid"/>
          </a:ln>
        </p:spPr>
      </p:sp>
      <p:pic>
        <p:nvPicPr>
          <p:cNvPr id="29" name="Image 1" descr="preencoded.png"/>
          <p:cNvPicPr>
            <a:picLocks noChangeAspect="1"/>
          </p:cNvPicPr>
          <p:nvPr/>
        </p:nvPicPr>
        <p:blipFill>
          <a:blip r:embed="rId2"/>
          <a:stretch>
            <a:fillRect/>
          </a:stretch>
        </p:blipFill>
        <p:spPr>
          <a:xfrm>
            <a:off x="4462272" y="1874520"/>
            <a:ext cx="274320" cy="274320"/>
          </a:xfrm>
          <a:prstGeom prst="rect">
            <a:avLst/>
          </a:prstGeom>
        </p:spPr>
      </p:pic>
      <p:sp>
        <p:nvSpPr>
          <p:cNvPr id="30" name="Text 26"/>
          <p:cNvSpPr/>
          <p:nvPr/>
        </p:nvSpPr>
        <p:spPr>
          <a:xfrm>
            <a:off x="4828032" y="1746504"/>
            <a:ext cx="4023360" cy="256032"/>
          </a:xfrm>
          <a:prstGeom prst="rect">
            <a:avLst/>
          </a:prstGeom>
          <a:noFill/>
          <a:ln/>
        </p:spPr>
        <p:txBody>
          <a:bodyPr wrap="square" lIns="0" tIns="0" rIns="0" bIns="0" rtlCol="0" anchor="ctr"/>
          <a:lstStyle/>
          <a:p>
            <a:pPr indent="0" marL="0">
              <a:buNone/>
            </a:pPr>
            <a:r>
              <a:rPr lang="en-US" sz="1000" b="1" dirty="0">
                <a:solidFill>
                  <a:srgbClr val="0F2044"/>
                </a:solidFill>
              </a:rPr>
              <a:t>Override to Learning Loop</a:t>
            </a:r>
            <a:endParaRPr lang="en-US" sz="1000" dirty="0"/>
          </a:p>
        </p:txBody>
      </p:sp>
      <p:sp>
        <p:nvSpPr>
          <p:cNvPr id="31" name="Text 27"/>
          <p:cNvSpPr/>
          <p:nvPr/>
        </p:nvSpPr>
        <p:spPr>
          <a:xfrm>
            <a:off x="4828032" y="2020824"/>
            <a:ext cx="4023360" cy="365760"/>
          </a:xfrm>
          <a:prstGeom prst="rect">
            <a:avLst/>
          </a:prstGeom>
          <a:noFill/>
          <a:ln/>
        </p:spPr>
        <p:txBody>
          <a:bodyPr wrap="square" lIns="0" tIns="0" rIns="0" bIns="0" rtlCol="0" anchor="ctr"/>
          <a:lstStyle/>
          <a:p>
            <a:pPr indent="0" marL="0">
              <a:buNone/>
            </a:pPr>
            <a:r>
              <a:rPr lang="en-US" sz="800" dirty="0">
                <a:solidFill>
                  <a:srgbClr val="64748B"/>
                </a:solidFill>
              </a:rPr>
              <a:t>Every override event is structured: tenant_id + category + cluster + planner_id + field + old_value + new_value. After 3+ overrides in the same direction, agent surfaces a proposed permanent threshold update for planner approval. ARCH-07.</a:t>
            </a:r>
            <a:endParaRPr lang="en-US" sz="800" dirty="0"/>
          </a:p>
        </p:txBody>
      </p:sp>
      <p:sp>
        <p:nvSpPr>
          <p:cNvPr id="32" name="Shape 28"/>
          <p:cNvSpPr/>
          <p:nvPr/>
        </p:nvSpPr>
        <p:spPr>
          <a:xfrm>
            <a:off x="4315968" y="2505456"/>
            <a:ext cx="4626864" cy="768096"/>
          </a:xfrm>
          <a:prstGeom prst="rect">
            <a:avLst/>
          </a:prstGeom>
          <a:solidFill>
            <a:srgbClr val="F7F9FC"/>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33" name="Shape 29"/>
          <p:cNvSpPr/>
          <p:nvPr/>
        </p:nvSpPr>
        <p:spPr>
          <a:xfrm>
            <a:off x="4315968" y="2505456"/>
            <a:ext cx="54864" cy="768096"/>
          </a:xfrm>
          <a:prstGeom prst="rect">
            <a:avLst/>
          </a:prstGeom>
          <a:solidFill>
            <a:srgbClr val="7C3AED"/>
          </a:solidFill>
          <a:ln w="12700">
            <a:solidFill>
              <a:srgbClr val="7C3AED"/>
            </a:solidFill>
            <a:prstDash val="solid"/>
          </a:ln>
        </p:spPr>
      </p:sp>
      <p:pic>
        <p:nvPicPr>
          <p:cNvPr id="34" name="Image 2" descr="preencoded.png"/>
          <p:cNvPicPr>
            <a:picLocks noChangeAspect="1"/>
          </p:cNvPicPr>
          <p:nvPr/>
        </p:nvPicPr>
        <p:blipFill>
          <a:blip r:embed="rId3"/>
          <a:stretch>
            <a:fillRect/>
          </a:stretch>
        </p:blipFill>
        <p:spPr>
          <a:xfrm>
            <a:off x="4462272" y="2724912"/>
            <a:ext cx="274320" cy="274320"/>
          </a:xfrm>
          <a:prstGeom prst="rect">
            <a:avLst/>
          </a:prstGeom>
        </p:spPr>
      </p:pic>
      <p:sp>
        <p:nvSpPr>
          <p:cNvPr id="35" name="Text 30"/>
          <p:cNvSpPr/>
          <p:nvPr/>
        </p:nvSpPr>
        <p:spPr>
          <a:xfrm>
            <a:off x="4828032" y="2596896"/>
            <a:ext cx="4023360" cy="256032"/>
          </a:xfrm>
          <a:prstGeom prst="rect">
            <a:avLst/>
          </a:prstGeom>
          <a:noFill/>
          <a:ln/>
        </p:spPr>
        <p:txBody>
          <a:bodyPr wrap="square" lIns="0" tIns="0" rIns="0" bIns="0" rtlCol="0" anchor="ctr"/>
          <a:lstStyle/>
          <a:p>
            <a:pPr indent="0" marL="0">
              <a:buNone/>
            </a:pPr>
            <a:r>
              <a:rPr lang="en-US" sz="1000" b="1" dirty="0">
                <a:solidFill>
                  <a:srgbClr val="0F2044"/>
                </a:solidFill>
              </a:rPr>
              <a:t>Sparkline Exception Flags</a:t>
            </a:r>
            <a:endParaRPr lang="en-US" sz="1000" dirty="0"/>
          </a:p>
        </p:txBody>
      </p:sp>
      <p:sp>
        <p:nvSpPr>
          <p:cNvPr id="36" name="Text 31"/>
          <p:cNvSpPr/>
          <p:nvPr/>
        </p:nvSpPr>
        <p:spPr>
          <a:xfrm>
            <a:off x="4828032" y="2871216"/>
            <a:ext cx="4023360" cy="365760"/>
          </a:xfrm>
          <a:prstGeom prst="rect">
            <a:avLst/>
          </a:prstGeom>
          <a:noFill/>
          <a:ln/>
        </p:spPr>
        <p:txBody>
          <a:bodyPr wrap="square" lIns="0" tIns="0" rIns="0" bIns="0" rtlCol="0" anchor="ctr"/>
          <a:lstStyle/>
          <a:p>
            <a:pPr indent="0" marL="0">
              <a:buNone/>
            </a:pPr>
            <a:r>
              <a:rPr lang="en-US" sz="800" dirty="0">
                <a:solidFill>
                  <a:srgbClr val="64748B"/>
                </a:solidFill>
              </a:rPr>
              <a:t>Rows where the Wp curve shape deviates more than 20% from the Ag curve in any single period show an amber warning icon on the sparkline thumbnail — prompting the planner to review before submission. SL-09.</a:t>
            </a:r>
            <a:endParaRPr lang="en-US" sz="800" dirty="0"/>
          </a:p>
        </p:txBody>
      </p:sp>
      <p:sp>
        <p:nvSpPr>
          <p:cNvPr id="37" name="Shape 32"/>
          <p:cNvSpPr/>
          <p:nvPr/>
        </p:nvSpPr>
        <p:spPr>
          <a:xfrm>
            <a:off x="4315968" y="3355848"/>
            <a:ext cx="4626864" cy="768096"/>
          </a:xfrm>
          <a:prstGeom prst="rect">
            <a:avLst/>
          </a:prstGeom>
          <a:solidFill>
            <a:srgbClr val="F7F9FC"/>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38" name="Shape 33"/>
          <p:cNvSpPr/>
          <p:nvPr/>
        </p:nvSpPr>
        <p:spPr>
          <a:xfrm>
            <a:off x="4315968" y="3355848"/>
            <a:ext cx="54864" cy="768096"/>
          </a:xfrm>
          <a:prstGeom prst="rect">
            <a:avLst/>
          </a:prstGeom>
          <a:solidFill>
            <a:srgbClr val="F59E0B"/>
          </a:solidFill>
          <a:ln w="12700">
            <a:solidFill>
              <a:srgbClr val="F59E0B"/>
            </a:solidFill>
            <a:prstDash val="solid"/>
          </a:ln>
        </p:spPr>
      </p:sp>
      <p:pic>
        <p:nvPicPr>
          <p:cNvPr id="39" name="Image 3" descr="preencoded.png"/>
          <p:cNvPicPr>
            <a:picLocks noChangeAspect="1"/>
          </p:cNvPicPr>
          <p:nvPr/>
        </p:nvPicPr>
        <p:blipFill>
          <a:blip r:embed="rId4"/>
          <a:stretch>
            <a:fillRect/>
          </a:stretch>
        </p:blipFill>
        <p:spPr>
          <a:xfrm>
            <a:off x="4462272" y="3575304"/>
            <a:ext cx="274320" cy="274320"/>
          </a:xfrm>
          <a:prstGeom prst="rect">
            <a:avLst/>
          </a:prstGeom>
        </p:spPr>
      </p:pic>
      <p:sp>
        <p:nvSpPr>
          <p:cNvPr id="40" name="Text 34"/>
          <p:cNvSpPr/>
          <p:nvPr/>
        </p:nvSpPr>
        <p:spPr>
          <a:xfrm>
            <a:off x="4828032" y="3447288"/>
            <a:ext cx="4023360" cy="256032"/>
          </a:xfrm>
          <a:prstGeom prst="rect">
            <a:avLst/>
          </a:prstGeom>
          <a:noFill/>
          <a:ln/>
        </p:spPr>
        <p:txBody>
          <a:bodyPr wrap="square" lIns="0" tIns="0" rIns="0" bIns="0" rtlCol="0" anchor="ctr"/>
          <a:lstStyle/>
          <a:p>
            <a:pPr indent="0" marL="0">
              <a:buNone/>
            </a:pPr>
            <a:r>
              <a:rPr lang="en-US" sz="1000" b="1" dirty="0">
                <a:solidFill>
                  <a:srgbClr val="0F2044"/>
                </a:solidFill>
              </a:rPr>
              <a:t>LY Sparkline Overlay</a:t>
            </a:r>
            <a:endParaRPr lang="en-US" sz="1000" dirty="0"/>
          </a:p>
        </p:txBody>
      </p:sp>
      <p:sp>
        <p:nvSpPr>
          <p:cNvPr id="41" name="Text 35"/>
          <p:cNvSpPr/>
          <p:nvPr/>
        </p:nvSpPr>
        <p:spPr>
          <a:xfrm>
            <a:off x="4828032" y="3721608"/>
            <a:ext cx="4023360" cy="365760"/>
          </a:xfrm>
          <a:prstGeom prst="rect">
            <a:avLst/>
          </a:prstGeom>
          <a:noFill/>
          <a:ln/>
        </p:spPr>
        <p:txBody>
          <a:bodyPr wrap="square" lIns="0" tIns="0" rIns="0" bIns="0" rtlCol="0" anchor="ctr"/>
          <a:lstStyle/>
          <a:p>
            <a:pPr indent="0" marL="0">
              <a:buNone/>
            </a:pPr>
            <a:r>
              <a:rPr lang="en-US" sz="800" dirty="0">
                <a:solidFill>
                  <a:srgbClr val="64748B"/>
                </a:solidFill>
              </a:rPr>
              <a:t>When Wp vs LY variance is active, sparklines render a third dotted-line series showing LY values on the same chart alongside Ag bars (grey) and Wp bars (blue). Clicking opens a full 600x300 px chart modal with zoom and download. SL-07, SL-08.</a:t>
            </a:r>
            <a:endParaRPr lang="en-US" sz="800" dirty="0"/>
          </a:p>
        </p:txBody>
      </p:sp>
      <p:sp>
        <p:nvSpPr>
          <p:cNvPr id="42" name="Shape 36"/>
          <p:cNvSpPr/>
          <p:nvPr/>
        </p:nvSpPr>
        <p:spPr>
          <a:xfrm>
            <a:off x="4315968" y="4206240"/>
            <a:ext cx="4626864" cy="768096"/>
          </a:xfrm>
          <a:prstGeom prst="rect">
            <a:avLst/>
          </a:prstGeom>
          <a:solidFill>
            <a:srgbClr val="F7F9FC"/>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43" name="Shape 37"/>
          <p:cNvSpPr/>
          <p:nvPr/>
        </p:nvSpPr>
        <p:spPr>
          <a:xfrm>
            <a:off x="4315968" y="4206240"/>
            <a:ext cx="54864" cy="768096"/>
          </a:xfrm>
          <a:prstGeom prst="rect">
            <a:avLst/>
          </a:prstGeom>
          <a:solidFill>
            <a:srgbClr val="0D7377"/>
          </a:solidFill>
          <a:ln w="12700">
            <a:solidFill>
              <a:srgbClr val="0D7377"/>
            </a:solidFill>
            <a:prstDash val="solid"/>
          </a:ln>
        </p:spPr>
      </p:sp>
      <p:pic>
        <p:nvPicPr>
          <p:cNvPr id="44" name="Image 4" descr="preencoded.png"/>
          <p:cNvPicPr>
            <a:picLocks noChangeAspect="1"/>
          </p:cNvPicPr>
          <p:nvPr/>
        </p:nvPicPr>
        <p:blipFill>
          <a:blip r:embed="rId5"/>
          <a:stretch>
            <a:fillRect/>
          </a:stretch>
        </p:blipFill>
        <p:spPr>
          <a:xfrm>
            <a:off x="4462272" y="4425696"/>
            <a:ext cx="274320" cy="274320"/>
          </a:xfrm>
          <a:prstGeom prst="rect">
            <a:avLst/>
          </a:prstGeom>
        </p:spPr>
      </p:pic>
      <p:sp>
        <p:nvSpPr>
          <p:cNvPr id="45" name="Text 38"/>
          <p:cNvSpPr/>
          <p:nvPr/>
        </p:nvSpPr>
        <p:spPr>
          <a:xfrm>
            <a:off x="4828032" y="4297680"/>
            <a:ext cx="4023360" cy="256032"/>
          </a:xfrm>
          <a:prstGeom prst="rect">
            <a:avLst/>
          </a:prstGeom>
          <a:noFill/>
          <a:ln/>
        </p:spPr>
        <p:txBody>
          <a:bodyPr wrap="square" lIns="0" tIns="0" rIns="0" bIns="0" rtlCol="0" anchor="ctr"/>
          <a:lstStyle/>
          <a:p>
            <a:pPr indent="0" marL="0">
              <a:buNone/>
            </a:pPr>
            <a:r>
              <a:rPr lang="en-US" sz="1000" b="1" dirty="0">
                <a:solidFill>
                  <a:srgbClr val="0F2044"/>
                </a:solidFill>
              </a:rPr>
              <a:t>Notes &amp; Comments</a:t>
            </a:r>
            <a:endParaRPr lang="en-US" sz="1000" dirty="0"/>
          </a:p>
        </p:txBody>
      </p:sp>
      <p:sp>
        <p:nvSpPr>
          <p:cNvPr id="46" name="Text 39"/>
          <p:cNvSpPr/>
          <p:nvPr/>
        </p:nvSpPr>
        <p:spPr>
          <a:xfrm>
            <a:off x="4828032" y="4572000"/>
            <a:ext cx="4023360" cy="365760"/>
          </a:xfrm>
          <a:prstGeom prst="rect">
            <a:avLst/>
          </a:prstGeom>
          <a:noFill/>
          <a:ln/>
        </p:spPr>
        <p:txBody>
          <a:bodyPr wrap="square" lIns="0" tIns="0" rIns="0" bIns="0" rtlCol="0" anchor="ctr"/>
          <a:lstStyle/>
          <a:p>
            <a:pPr indent="0" marL="0">
              <a:buNone/>
            </a:pPr>
            <a:r>
              <a:rPr lang="en-US" sz="800" dirty="0">
                <a:solidFill>
                  <a:srgbClr val="64748B"/>
                </a:solidFill>
              </a:rPr>
              <a:t>Cell-level comments (corner triangle indicator, hover tooltip, reply threads). Row-level notes (separate text area per row). Plan-level notes in submission modal. @mention notifies colleagues with deep link. Separate from override reason. NC-01 to NC-11.</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F2044"/>
          </a:solidFill>
          <a:ln w="12700">
            <a:solidFill>
              <a:srgbClr val="0F2044"/>
            </a:solidFill>
            <a:prstDash val="solid"/>
          </a:ln>
        </p:spPr>
      </p:sp>
      <p:sp>
        <p:nvSpPr>
          <p:cNvPr id="3" name="Text 1"/>
          <p:cNvSpPr/>
          <p:nvPr/>
        </p:nvSpPr>
        <p:spPr>
          <a:xfrm>
            <a:off x="365760" y="0"/>
            <a:ext cx="7772400" cy="658368"/>
          </a:xfrm>
          <a:prstGeom prst="rect">
            <a:avLst/>
          </a:prstGeom>
          <a:noFill/>
          <a:ln/>
        </p:spPr>
        <p:txBody>
          <a:bodyPr wrap="square" lIns="0" tIns="0" rIns="0" bIns="0" rtlCol="0" anchor="ctr"/>
          <a:lstStyle/>
          <a:p>
            <a:pPr indent="0" marL="0">
              <a:buNone/>
            </a:pPr>
            <a:r>
              <a:rPr lang="en-US" sz="1000" b="1" spc="300" kern="0" dirty="0">
                <a:solidFill>
                  <a:srgbClr val="FFFFFF"/>
                </a:solidFill>
              </a:rPr>
              <a:t>PLANNING GRID — SCENARIOS &amp; REAL-TIME COLLABORATION</a:t>
            </a:r>
            <a:endParaRPr lang="en-US" sz="1000" dirty="0"/>
          </a:p>
        </p:txBody>
      </p:sp>
      <p:sp>
        <p:nvSpPr>
          <p:cNvPr id="4" name="Text 2"/>
          <p:cNvSpPr/>
          <p:nvPr/>
        </p:nvSpPr>
        <p:spPr>
          <a:xfrm>
            <a:off x="7863840" y="0"/>
            <a:ext cx="1097280" cy="658368"/>
          </a:xfrm>
          <a:prstGeom prst="rect">
            <a:avLst/>
          </a:prstGeom>
          <a:noFill/>
          <a:ln/>
        </p:spPr>
        <p:txBody>
          <a:bodyPr wrap="square" lIns="0" tIns="0" rIns="0" bIns="0" rtlCol="0" anchor="ctr"/>
          <a:lstStyle/>
          <a:p>
            <a:pPr algn="r" indent="0" marL="0">
              <a:buNone/>
            </a:pPr>
            <a:r>
              <a:rPr lang="en-US" sz="900" dirty="0">
                <a:solidFill>
                  <a:srgbClr val="94A3B8"/>
                </a:solidFill>
              </a:rPr>
              <a:t>GRID-05</a:t>
            </a:r>
            <a:endParaRPr lang="en-US" sz="900" dirty="0"/>
          </a:p>
        </p:txBody>
      </p:sp>
      <p:sp>
        <p:nvSpPr>
          <p:cNvPr id="5" name="Shape 3"/>
          <p:cNvSpPr/>
          <p:nvPr/>
        </p:nvSpPr>
        <p:spPr>
          <a:xfrm>
            <a:off x="201168" y="804672"/>
            <a:ext cx="3840480" cy="914400"/>
          </a:xfrm>
          <a:prstGeom prst="rect">
            <a:avLst/>
          </a:prstGeom>
          <a:solidFill>
            <a:srgbClr val="0F2044"/>
          </a:solidFill>
          <a:ln w="12700">
            <a:solidFill>
              <a:srgbClr val="0F2044"/>
            </a:solidFill>
            <a:prstDash val="solid"/>
          </a:ln>
          <a:effectLst>
            <a:outerShdw sx="100000" sy="100000" kx="0" ky="0" algn="bl" rotWithShape="0" blurRad="101600" dist="38100" dir="8100000">
              <a:srgbClr val="000000">
                <a:alpha val="10000"/>
              </a:srgbClr>
            </a:outerShdw>
          </a:effectLst>
        </p:spPr>
      </p:sp>
      <p:sp>
        <p:nvSpPr>
          <p:cNvPr id="6" name="Text 4"/>
          <p:cNvSpPr/>
          <p:nvPr/>
        </p:nvSpPr>
        <p:spPr>
          <a:xfrm>
            <a:off x="347472" y="896112"/>
            <a:ext cx="3566160" cy="292608"/>
          </a:xfrm>
          <a:prstGeom prst="rect">
            <a:avLst/>
          </a:prstGeom>
          <a:noFill/>
          <a:ln/>
        </p:spPr>
        <p:txBody>
          <a:bodyPr wrap="square" lIns="0" tIns="0" rIns="0" bIns="0" rtlCol="0" anchor="ctr"/>
          <a:lstStyle/>
          <a:p>
            <a:pPr indent="0" marL="0">
              <a:buNone/>
            </a:pPr>
            <a:r>
              <a:rPr lang="en-US" sz="1100" b="1" dirty="0">
                <a:solidFill>
                  <a:srgbClr val="FFFFFF"/>
                </a:solidFill>
              </a:rPr>
              <a:t>SCENARIO MANAGEMENT</a:t>
            </a:r>
            <a:endParaRPr lang="en-US" sz="1100" dirty="0"/>
          </a:p>
        </p:txBody>
      </p:sp>
      <p:sp>
        <p:nvSpPr>
          <p:cNvPr id="7" name="Text 5"/>
          <p:cNvSpPr/>
          <p:nvPr/>
        </p:nvSpPr>
        <p:spPr>
          <a:xfrm>
            <a:off x="347472" y="1225296"/>
            <a:ext cx="3566160" cy="438912"/>
          </a:xfrm>
          <a:prstGeom prst="rect">
            <a:avLst/>
          </a:prstGeom>
          <a:noFill/>
          <a:ln/>
        </p:spPr>
        <p:txBody>
          <a:bodyPr wrap="square" lIns="0" tIns="0" rIns="0" bIns="0" rtlCol="0" anchor="ctr"/>
          <a:lstStyle/>
          <a:p>
            <a:pPr indent="0" marL="0">
              <a:buNone/>
            </a:pPr>
            <a:r>
              <a:rPr lang="en-US" sz="850" dirty="0">
                <a:solidFill>
                  <a:srgbClr val="94A3B8"/>
                </a:solidFill>
              </a:rPr>
              <a:t>Up to 5 named scenarios per plan (max 30-char names). Each is an independent copy of all current Wp values and overrides. Active scenario shown in toolbar dropdown. Scenarios are server-side, persist across sessions. SC-01 to SC-08.</a:t>
            </a:r>
            <a:endParaRPr lang="en-US" sz="850" dirty="0"/>
          </a:p>
        </p:txBody>
      </p:sp>
      <p:sp>
        <p:nvSpPr>
          <p:cNvPr id="8" name="Shape 6"/>
          <p:cNvSpPr/>
          <p:nvPr/>
        </p:nvSpPr>
        <p:spPr>
          <a:xfrm>
            <a:off x="2103120" y="1719072"/>
            <a:ext cx="0" cy="137160"/>
          </a:xfrm>
          <a:prstGeom prst="line">
            <a:avLst/>
          </a:prstGeom>
          <a:noFill/>
          <a:ln w="19050">
            <a:solidFill>
              <a:srgbClr val="94A3B8"/>
            </a:solidFill>
            <a:prstDash val="solid"/>
          </a:ln>
        </p:spPr>
      </p:sp>
      <p:sp>
        <p:nvSpPr>
          <p:cNvPr id="9" name="Shape 7"/>
          <p:cNvSpPr/>
          <p:nvPr/>
        </p:nvSpPr>
        <p:spPr>
          <a:xfrm>
            <a:off x="201168" y="1856232"/>
            <a:ext cx="3840480" cy="914400"/>
          </a:xfrm>
          <a:prstGeom prst="rect">
            <a:avLst/>
          </a:prstGeom>
          <a:solidFill>
            <a:srgbClr val="0D7377"/>
          </a:solidFill>
          <a:ln w="12700">
            <a:solidFill>
              <a:srgbClr val="0D7377"/>
            </a:solidFill>
            <a:prstDash val="solid"/>
          </a:ln>
          <a:effectLst>
            <a:outerShdw sx="100000" sy="100000" kx="0" ky="0" algn="bl" rotWithShape="0" blurRad="101600" dist="38100" dir="8100000">
              <a:srgbClr val="000000">
                <a:alpha val="10000"/>
              </a:srgbClr>
            </a:outerShdw>
          </a:effectLst>
        </p:spPr>
      </p:sp>
      <p:sp>
        <p:nvSpPr>
          <p:cNvPr id="10" name="Text 8"/>
          <p:cNvSpPr/>
          <p:nvPr/>
        </p:nvSpPr>
        <p:spPr>
          <a:xfrm>
            <a:off x="347472" y="1947672"/>
            <a:ext cx="3566160" cy="292608"/>
          </a:xfrm>
          <a:prstGeom prst="rect">
            <a:avLst/>
          </a:prstGeom>
          <a:noFill/>
          <a:ln/>
        </p:spPr>
        <p:txBody>
          <a:bodyPr wrap="square" lIns="0" tIns="0" rIns="0" bIns="0" rtlCol="0" anchor="ctr"/>
          <a:lstStyle/>
          <a:p>
            <a:pPr indent="0" marL="0">
              <a:buNone/>
            </a:pPr>
            <a:r>
              <a:rPr lang="en-US" sz="1100" b="1" dirty="0">
                <a:solidFill>
                  <a:srgbClr val="FFFFFF"/>
                </a:solidFill>
              </a:rPr>
              <a:t>SCENARIO COMPARISON</a:t>
            </a:r>
            <a:endParaRPr lang="en-US" sz="1100" dirty="0"/>
          </a:p>
        </p:txBody>
      </p:sp>
      <p:sp>
        <p:nvSpPr>
          <p:cNvPr id="11" name="Text 9"/>
          <p:cNvSpPr/>
          <p:nvPr/>
        </p:nvSpPr>
        <p:spPr>
          <a:xfrm>
            <a:off x="347472" y="2276856"/>
            <a:ext cx="3566160" cy="438912"/>
          </a:xfrm>
          <a:prstGeom prst="rect">
            <a:avLst/>
          </a:prstGeom>
          <a:noFill/>
          <a:ln/>
        </p:spPr>
        <p:txBody>
          <a:bodyPr wrap="square" lIns="0" tIns="0" rIns="0" bIns="0" rtlCol="0" anchor="ctr"/>
          <a:lstStyle/>
          <a:p>
            <a:pPr indent="0" marL="0">
              <a:buNone/>
            </a:pPr>
            <a:r>
              <a:rPr lang="en-US" sz="850" dirty="0">
                <a:solidFill>
                  <a:srgbClr val="94A3B8"/>
                </a:solidFill>
              </a:rPr>
              <a:t>Side-by-side comparison mode renders a diff column set showing Scenario A minus Scenario B (absolute + %) per metric per period. One scenario can be promoted to submission scenario — only that scenario submits. SC-04, SC-06.</a:t>
            </a:r>
            <a:endParaRPr lang="en-US" sz="850" dirty="0"/>
          </a:p>
        </p:txBody>
      </p:sp>
      <p:sp>
        <p:nvSpPr>
          <p:cNvPr id="12" name="Shape 10"/>
          <p:cNvSpPr/>
          <p:nvPr/>
        </p:nvSpPr>
        <p:spPr>
          <a:xfrm>
            <a:off x="2103120" y="2770632"/>
            <a:ext cx="0" cy="137160"/>
          </a:xfrm>
          <a:prstGeom prst="line">
            <a:avLst/>
          </a:prstGeom>
          <a:noFill/>
          <a:ln w="19050">
            <a:solidFill>
              <a:srgbClr val="94A3B8"/>
            </a:solidFill>
            <a:prstDash val="solid"/>
          </a:ln>
        </p:spPr>
      </p:sp>
      <p:sp>
        <p:nvSpPr>
          <p:cNvPr id="13" name="Shape 11"/>
          <p:cNvSpPr/>
          <p:nvPr/>
        </p:nvSpPr>
        <p:spPr>
          <a:xfrm>
            <a:off x="201168" y="2907792"/>
            <a:ext cx="3840480" cy="914400"/>
          </a:xfrm>
          <a:prstGeom prst="rect">
            <a:avLst/>
          </a:prstGeom>
          <a:solidFill>
            <a:srgbClr val="7C3AED"/>
          </a:solidFill>
          <a:ln w="12700">
            <a:solidFill>
              <a:srgbClr val="7C3AED"/>
            </a:solidFill>
            <a:prstDash val="solid"/>
          </a:ln>
          <a:effectLst>
            <a:outerShdw sx="100000" sy="100000" kx="0" ky="0" algn="bl" rotWithShape="0" blurRad="101600" dist="38100" dir="8100000">
              <a:srgbClr val="000000">
                <a:alpha val="10000"/>
              </a:srgbClr>
            </a:outerShdw>
          </a:effectLst>
        </p:spPr>
      </p:sp>
      <p:sp>
        <p:nvSpPr>
          <p:cNvPr id="14" name="Text 12"/>
          <p:cNvSpPr/>
          <p:nvPr/>
        </p:nvSpPr>
        <p:spPr>
          <a:xfrm>
            <a:off x="347472" y="2999232"/>
            <a:ext cx="3566160" cy="292608"/>
          </a:xfrm>
          <a:prstGeom prst="rect">
            <a:avLst/>
          </a:prstGeom>
          <a:noFill/>
          <a:ln/>
        </p:spPr>
        <p:txBody>
          <a:bodyPr wrap="square" lIns="0" tIns="0" rIns="0" bIns="0" rtlCol="0" anchor="ctr"/>
          <a:lstStyle/>
          <a:p>
            <a:pPr indent="0" marL="0">
              <a:buNone/>
            </a:pPr>
            <a:r>
              <a:rPr lang="en-US" sz="1100" b="1" dirty="0">
                <a:solidFill>
                  <a:srgbClr val="FFFFFF"/>
                </a:solidFill>
              </a:rPr>
              <a:t>REAL-TIME MULTI-USER</a:t>
            </a:r>
            <a:endParaRPr lang="en-US" sz="1100" dirty="0"/>
          </a:p>
        </p:txBody>
      </p:sp>
      <p:sp>
        <p:nvSpPr>
          <p:cNvPr id="15" name="Text 13"/>
          <p:cNvSpPr/>
          <p:nvPr/>
        </p:nvSpPr>
        <p:spPr>
          <a:xfrm>
            <a:off x="347472" y="3328416"/>
            <a:ext cx="3566160" cy="438912"/>
          </a:xfrm>
          <a:prstGeom prst="rect">
            <a:avLst/>
          </a:prstGeom>
          <a:noFill/>
          <a:ln/>
        </p:spPr>
        <p:txBody>
          <a:bodyPr wrap="square" lIns="0" tIns="0" rIns="0" bIns="0" rtlCol="0" anchor="ctr"/>
          <a:lstStyle/>
          <a:p>
            <a:pPr indent="0" marL="0">
              <a:buNone/>
            </a:pPr>
            <a:r>
              <a:rPr lang="en-US" sz="850" dirty="0">
                <a:solidFill>
                  <a:srgbClr val="DDD6FE"/>
                </a:solidFill>
              </a:rPr>
              <a:t>Multiple users on the same plan simultaneously. Each user sees others cursor positions as coloured borders with name badges. Changes broadcast to all users in &lt; 500 ms. Cell-level locking during editing. Conflict resolution modal for simultaneous edits. CO-01 to CO-09.</a:t>
            </a:r>
            <a:endParaRPr lang="en-US" sz="850" dirty="0"/>
          </a:p>
        </p:txBody>
      </p:sp>
      <p:sp>
        <p:nvSpPr>
          <p:cNvPr id="16" name="Shape 14"/>
          <p:cNvSpPr/>
          <p:nvPr/>
        </p:nvSpPr>
        <p:spPr>
          <a:xfrm>
            <a:off x="2103120" y="3822192"/>
            <a:ext cx="0" cy="137160"/>
          </a:xfrm>
          <a:prstGeom prst="line">
            <a:avLst/>
          </a:prstGeom>
          <a:noFill/>
          <a:ln w="19050">
            <a:solidFill>
              <a:srgbClr val="94A3B8"/>
            </a:solidFill>
            <a:prstDash val="solid"/>
          </a:ln>
        </p:spPr>
      </p:sp>
      <p:sp>
        <p:nvSpPr>
          <p:cNvPr id="17" name="Shape 15"/>
          <p:cNvSpPr/>
          <p:nvPr/>
        </p:nvSpPr>
        <p:spPr>
          <a:xfrm>
            <a:off x="201168" y="3959352"/>
            <a:ext cx="3840480" cy="914400"/>
          </a:xfrm>
          <a:prstGeom prst="rect">
            <a:avLst/>
          </a:prstGeom>
          <a:solidFill>
            <a:srgbClr val="334155"/>
          </a:solidFill>
          <a:ln w="12700">
            <a:solidFill>
              <a:srgbClr val="334155"/>
            </a:solidFill>
            <a:prstDash val="solid"/>
          </a:ln>
          <a:effectLst>
            <a:outerShdw sx="100000" sy="100000" kx="0" ky="0" algn="bl" rotWithShape="0" blurRad="101600" dist="38100" dir="8100000">
              <a:srgbClr val="000000">
                <a:alpha val="10000"/>
              </a:srgbClr>
            </a:outerShdw>
          </a:effectLst>
        </p:spPr>
      </p:sp>
      <p:sp>
        <p:nvSpPr>
          <p:cNvPr id="18" name="Text 16"/>
          <p:cNvSpPr/>
          <p:nvPr/>
        </p:nvSpPr>
        <p:spPr>
          <a:xfrm>
            <a:off x="347472" y="4050792"/>
            <a:ext cx="3566160" cy="292608"/>
          </a:xfrm>
          <a:prstGeom prst="rect">
            <a:avLst/>
          </a:prstGeom>
          <a:noFill/>
          <a:ln/>
        </p:spPr>
        <p:txBody>
          <a:bodyPr wrap="square" lIns="0" tIns="0" rIns="0" bIns="0" rtlCol="0" anchor="ctr"/>
          <a:lstStyle/>
          <a:p>
            <a:pPr indent="0" marL="0">
              <a:buNone/>
            </a:pPr>
            <a:r>
              <a:rPr lang="en-US" sz="1100" b="1" dirty="0">
                <a:solidFill>
                  <a:srgbClr val="FFFFFF"/>
                </a:solidFill>
              </a:rPr>
              <a:t>READ-ONLY REVIEWER MODE</a:t>
            </a:r>
            <a:endParaRPr lang="en-US" sz="1100" dirty="0"/>
          </a:p>
        </p:txBody>
      </p:sp>
      <p:sp>
        <p:nvSpPr>
          <p:cNvPr id="19" name="Text 17"/>
          <p:cNvSpPr/>
          <p:nvPr/>
        </p:nvSpPr>
        <p:spPr>
          <a:xfrm>
            <a:off x="347472" y="4379976"/>
            <a:ext cx="3566160" cy="438912"/>
          </a:xfrm>
          <a:prstGeom prst="rect">
            <a:avLst/>
          </a:prstGeom>
          <a:noFill/>
          <a:ln/>
        </p:spPr>
        <p:txBody>
          <a:bodyPr wrap="square" lIns="0" tIns="0" rIns="0" bIns="0" rtlCol="0" anchor="ctr"/>
          <a:lstStyle/>
          <a:p>
            <a:pPr indent="0" marL="0">
              <a:buNone/>
            </a:pPr>
            <a:r>
              <a:rPr lang="en-US" sz="850" dirty="0">
                <a:solidFill>
                  <a:srgbClr val="DDD6FE"/>
                </a:solidFill>
              </a:rPr>
              <a:t>Users with reviewer permissions see all values, comments, and override reasons but Wp cells are non-interactive and Override / Accept controls are hidden. CO-09.</a:t>
            </a:r>
            <a:endParaRPr lang="en-US" sz="850" dirty="0"/>
          </a:p>
        </p:txBody>
      </p:sp>
      <p:sp>
        <p:nvSpPr>
          <p:cNvPr id="20" name="Shape 18"/>
          <p:cNvSpPr/>
          <p:nvPr/>
        </p:nvSpPr>
        <p:spPr>
          <a:xfrm>
            <a:off x="201168" y="4645152"/>
            <a:ext cx="3840480" cy="365760"/>
          </a:xfrm>
          <a:prstGeom prst="rect">
            <a:avLst/>
          </a:prstGeom>
          <a:solidFill>
            <a:srgbClr val="F7F9FC"/>
          </a:solidFill>
          <a:ln w="12700">
            <a:solidFill>
              <a:srgbClr val="E2E8F0"/>
            </a:solidFill>
            <a:prstDash val="solid"/>
          </a:ln>
        </p:spPr>
      </p:sp>
      <p:sp>
        <p:nvSpPr>
          <p:cNvPr id="21" name="Text 19"/>
          <p:cNvSpPr/>
          <p:nvPr/>
        </p:nvSpPr>
        <p:spPr>
          <a:xfrm>
            <a:off x="274320" y="4645152"/>
            <a:ext cx="3749040" cy="365760"/>
          </a:xfrm>
          <a:prstGeom prst="rect">
            <a:avLst/>
          </a:prstGeom>
          <a:noFill/>
          <a:ln/>
        </p:spPr>
        <p:txBody>
          <a:bodyPr wrap="square" lIns="0" tIns="0" rIns="0" bIns="0" rtlCol="0" anchor="ctr"/>
          <a:lstStyle/>
          <a:p>
            <a:pPr indent="0" marL="0">
              <a:buNone/>
            </a:pPr>
            <a:r>
              <a:rPr lang="en-US" sz="850" b="1" dirty="0">
                <a:solidFill>
                  <a:srgbClr val="0F2044"/>
                </a:solidFill>
              </a:rPr>
              <a:t>COLLABORATION FEATURE DETAILS</a:t>
            </a:r>
            <a:pPr indent="0" marL="0">
              <a:buNone/>
            </a:pPr>
            <a:r>
              <a:rPr lang="en-US" sz="850" dirty="0">
                <a:solidFill>
                  <a:srgbClr val="64748B"/>
                </a:solidFill>
              </a:rPr>
              <a:t/>
            </a:r>
            <a:endParaRPr lang="en-US" sz="850" dirty="0"/>
          </a:p>
        </p:txBody>
      </p:sp>
      <p:sp>
        <p:nvSpPr>
          <p:cNvPr id="22" name="Shape 20"/>
          <p:cNvSpPr/>
          <p:nvPr/>
        </p:nvSpPr>
        <p:spPr>
          <a:xfrm>
            <a:off x="4315968" y="804672"/>
            <a:ext cx="4626864" cy="768096"/>
          </a:xfrm>
          <a:prstGeom prst="rect">
            <a:avLst/>
          </a:prstGeom>
          <a:solidFill>
            <a:srgbClr val="F7F9FC"/>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23" name="Shape 21"/>
          <p:cNvSpPr/>
          <p:nvPr/>
        </p:nvSpPr>
        <p:spPr>
          <a:xfrm>
            <a:off x="4315968" y="804672"/>
            <a:ext cx="54864" cy="768096"/>
          </a:xfrm>
          <a:prstGeom prst="rect">
            <a:avLst/>
          </a:prstGeom>
          <a:solidFill>
            <a:srgbClr val="0D7377"/>
          </a:solidFill>
          <a:ln w="12700">
            <a:solidFill>
              <a:srgbClr val="0D7377"/>
            </a:solidFill>
            <a:prstDash val="solid"/>
          </a:ln>
        </p:spPr>
      </p:sp>
      <p:pic>
        <p:nvPicPr>
          <p:cNvPr id="24" name="Image 0" descr="preencoded.png"/>
          <p:cNvPicPr>
            <a:picLocks noChangeAspect="1"/>
          </p:cNvPicPr>
          <p:nvPr/>
        </p:nvPicPr>
        <p:blipFill>
          <a:blip r:embed="rId1"/>
          <a:stretch>
            <a:fillRect/>
          </a:stretch>
        </p:blipFill>
        <p:spPr>
          <a:xfrm>
            <a:off x="4462272" y="1024128"/>
            <a:ext cx="274320" cy="274320"/>
          </a:xfrm>
          <a:prstGeom prst="rect">
            <a:avLst/>
          </a:prstGeom>
        </p:spPr>
      </p:pic>
      <p:sp>
        <p:nvSpPr>
          <p:cNvPr id="25" name="Text 22"/>
          <p:cNvSpPr/>
          <p:nvPr/>
        </p:nvSpPr>
        <p:spPr>
          <a:xfrm>
            <a:off x="4828032" y="896112"/>
            <a:ext cx="4023360" cy="256032"/>
          </a:xfrm>
          <a:prstGeom prst="rect">
            <a:avLst/>
          </a:prstGeom>
          <a:noFill/>
          <a:ln/>
        </p:spPr>
        <p:txBody>
          <a:bodyPr wrap="square" lIns="0" tIns="0" rIns="0" bIns="0" rtlCol="0" anchor="ctr"/>
          <a:lstStyle/>
          <a:p>
            <a:pPr indent="0" marL="0">
              <a:buNone/>
            </a:pPr>
            <a:r>
              <a:rPr lang="en-US" sz="1000" b="1" dirty="0">
                <a:solidFill>
                  <a:srgbClr val="0F2044"/>
                </a:solidFill>
              </a:rPr>
              <a:t>Conflict Resolution</a:t>
            </a:r>
            <a:endParaRPr lang="en-US" sz="1000" dirty="0"/>
          </a:p>
        </p:txBody>
      </p:sp>
      <p:sp>
        <p:nvSpPr>
          <p:cNvPr id="26" name="Text 23"/>
          <p:cNvSpPr/>
          <p:nvPr/>
        </p:nvSpPr>
        <p:spPr>
          <a:xfrm>
            <a:off x="4828032" y="1170432"/>
            <a:ext cx="4023360" cy="365760"/>
          </a:xfrm>
          <a:prstGeom prst="rect">
            <a:avLst/>
          </a:prstGeom>
          <a:noFill/>
          <a:ln/>
        </p:spPr>
        <p:txBody>
          <a:bodyPr wrap="square" lIns="0" tIns="0" rIns="0" bIns="0" rtlCol="0" anchor="ctr"/>
          <a:lstStyle/>
          <a:p>
            <a:pPr indent="0" marL="0">
              <a:buNone/>
            </a:pPr>
            <a:r>
              <a:rPr lang="en-US" sz="800" dirty="0">
                <a:solidFill>
                  <a:srgbClr val="64748B"/>
                </a:solidFill>
              </a:rPr>
              <a:t>If two users commit to the same cell simultaneously, the second user sees a conflict modal: User A set this to $5M. Keep yours ($4.8M) or accept theirs? No silent overwrite ever occurs. CO-04.</a:t>
            </a:r>
            <a:endParaRPr lang="en-US" sz="800" dirty="0"/>
          </a:p>
        </p:txBody>
      </p:sp>
      <p:sp>
        <p:nvSpPr>
          <p:cNvPr id="27" name="Shape 24"/>
          <p:cNvSpPr/>
          <p:nvPr/>
        </p:nvSpPr>
        <p:spPr>
          <a:xfrm>
            <a:off x="4315968" y="1655064"/>
            <a:ext cx="4626864" cy="768096"/>
          </a:xfrm>
          <a:prstGeom prst="rect">
            <a:avLst/>
          </a:prstGeom>
          <a:solidFill>
            <a:srgbClr val="F7F9FC"/>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28" name="Shape 25"/>
          <p:cNvSpPr/>
          <p:nvPr/>
        </p:nvSpPr>
        <p:spPr>
          <a:xfrm>
            <a:off x="4315968" y="1655064"/>
            <a:ext cx="54864" cy="768096"/>
          </a:xfrm>
          <a:prstGeom prst="rect">
            <a:avLst/>
          </a:prstGeom>
          <a:solidFill>
            <a:srgbClr val="0F2044"/>
          </a:solidFill>
          <a:ln w="12700">
            <a:solidFill>
              <a:srgbClr val="0F2044"/>
            </a:solidFill>
            <a:prstDash val="solid"/>
          </a:ln>
        </p:spPr>
      </p:sp>
      <p:pic>
        <p:nvPicPr>
          <p:cNvPr id="29" name="Image 1" descr="preencoded.png"/>
          <p:cNvPicPr>
            <a:picLocks noChangeAspect="1"/>
          </p:cNvPicPr>
          <p:nvPr/>
        </p:nvPicPr>
        <p:blipFill>
          <a:blip r:embed="rId2"/>
          <a:stretch>
            <a:fillRect/>
          </a:stretch>
        </p:blipFill>
        <p:spPr>
          <a:xfrm>
            <a:off x="4462272" y="1874520"/>
            <a:ext cx="274320" cy="274320"/>
          </a:xfrm>
          <a:prstGeom prst="rect">
            <a:avLst/>
          </a:prstGeom>
        </p:spPr>
      </p:pic>
      <p:sp>
        <p:nvSpPr>
          <p:cNvPr id="30" name="Text 26"/>
          <p:cNvSpPr/>
          <p:nvPr/>
        </p:nvSpPr>
        <p:spPr>
          <a:xfrm>
            <a:off x="4828032" y="1746504"/>
            <a:ext cx="4023360" cy="256032"/>
          </a:xfrm>
          <a:prstGeom prst="rect">
            <a:avLst/>
          </a:prstGeom>
          <a:noFill/>
          <a:ln/>
        </p:spPr>
        <p:txBody>
          <a:bodyPr wrap="square" lIns="0" tIns="0" rIns="0" bIns="0" rtlCol="0" anchor="ctr"/>
          <a:lstStyle/>
          <a:p>
            <a:pPr indent="0" marL="0">
              <a:buNone/>
            </a:pPr>
            <a:r>
              <a:rPr lang="en-US" sz="1000" b="1" dirty="0">
                <a:solidFill>
                  <a:srgbClr val="0F2044"/>
                </a:solidFill>
              </a:rPr>
              <a:t>Presence Panel</a:t>
            </a:r>
            <a:endParaRPr lang="en-US" sz="1000" dirty="0"/>
          </a:p>
        </p:txBody>
      </p:sp>
      <p:sp>
        <p:nvSpPr>
          <p:cNvPr id="31" name="Text 27"/>
          <p:cNvSpPr/>
          <p:nvPr/>
        </p:nvSpPr>
        <p:spPr>
          <a:xfrm>
            <a:off x="4828032" y="2020824"/>
            <a:ext cx="4023360" cy="365760"/>
          </a:xfrm>
          <a:prstGeom prst="rect">
            <a:avLst/>
          </a:prstGeom>
          <a:noFill/>
          <a:ln/>
        </p:spPr>
        <p:txBody>
          <a:bodyPr wrap="square" lIns="0" tIns="0" rIns="0" bIns="0" rtlCol="0" anchor="ctr"/>
          <a:lstStyle/>
          <a:p>
            <a:pPr indent="0" marL="0">
              <a:buNone/>
            </a:pPr>
            <a:r>
              <a:rPr lang="en-US" sz="800" dirty="0">
                <a:solidFill>
                  <a:srgbClr val="64748B"/>
                </a:solidFill>
              </a:rPr>
              <a:t>Live sidebar panel shows all users currently viewing the plan: name, avatar initial, and the row they last interacted with. Typing indicators show a pulsing animation on a cell while another user types. CO-05, CO-06.</a:t>
            </a:r>
            <a:endParaRPr lang="en-US" sz="800" dirty="0"/>
          </a:p>
        </p:txBody>
      </p:sp>
      <p:sp>
        <p:nvSpPr>
          <p:cNvPr id="32" name="Shape 28"/>
          <p:cNvSpPr/>
          <p:nvPr/>
        </p:nvSpPr>
        <p:spPr>
          <a:xfrm>
            <a:off x="4315968" y="2505456"/>
            <a:ext cx="4626864" cy="768096"/>
          </a:xfrm>
          <a:prstGeom prst="rect">
            <a:avLst/>
          </a:prstGeom>
          <a:solidFill>
            <a:srgbClr val="F7F9FC"/>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33" name="Shape 29"/>
          <p:cNvSpPr/>
          <p:nvPr/>
        </p:nvSpPr>
        <p:spPr>
          <a:xfrm>
            <a:off x="4315968" y="2505456"/>
            <a:ext cx="54864" cy="768096"/>
          </a:xfrm>
          <a:prstGeom prst="rect">
            <a:avLst/>
          </a:prstGeom>
          <a:solidFill>
            <a:srgbClr val="7C3AED"/>
          </a:solidFill>
          <a:ln w="12700">
            <a:solidFill>
              <a:srgbClr val="7C3AED"/>
            </a:solidFill>
            <a:prstDash val="solid"/>
          </a:ln>
        </p:spPr>
      </p:sp>
      <p:pic>
        <p:nvPicPr>
          <p:cNvPr id="34" name="Image 2" descr="preencoded.png"/>
          <p:cNvPicPr>
            <a:picLocks noChangeAspect="1"/>
          </p:cNvPicPr>
          <p:nvPr/>
        </p:nvPicPr>
        <p:blipFill>
          <a:blip r:embed="rId3"/>
          <a:stretch>
            <a:fillRect/>
          </a:stretch>
        </p:blipFill>
        <p:spPr>
          <a:xfrm>
            <a:off x="4462272" y="2724912"/>
            <a:ext cx="274320" cy="274320"/>
          </a:xfrm>
          <a:prstGeom prst="rect">
            <a:avLst/>
          </a:prstGeom>
        </p:spPr>
      </p:pic>
      <p:sp>
        <p:nvSpPr>
          <p:cNvPr id="35" name="Text 30"/>
          <p:cNvSpPr/>
          <p:nvPr/>
        </p:nvSpPr>
        <p:spPr>
          <a:xfrm>
            <a:off x="4828032" y="2596896"/>
            <a:ext cx="4023360" cy="256032"/>
          </a:xfrm>
          <a:prstGeom prst="rect">
            <a:avLst/>
          </a:prstGeom>
          <a:noFill/>
          <a:ln/>
        </p:spPr>
        <p:txBody>
          <a:bodyPr wrap="square" lIns="0" tIns="0" rIns="0" bIns="0" rtlCol="0" anchor="ctr"/>
          <a:lstStyle/>
          <a:p>
            <a:pPr indent="0" marL="0">
              <a:buNone/>
            </a:pPr>
            <a:r>
              <a:rPr lang="en-US" sz="1000" b="1" dirty="0">
                <a:solidFill>
                  <a:srgbClr val="0F2044"/>
                </a:solidFill>
              </a:rPr>
              <a:t>Activity Feed</a:t>
            </a:r>
            <a:endParaRPr lang="en-US" sz="1000" dirty="0"/>
          </a:p>
        </p:txBody>
      </p:sp>
      <p:sp>
        <p:nvSpPr>
          <p:cNvPr id="36" name="Text 31"/>
          <p:cNvSpPr/>
          <p:nvPr/>
        </p:nvSpPr>
        <p:spPr>
          <a:xfrm>
            <a:off x="4828032" y="2871216"/>
            <a:ext cx="4023360" cy="365760"/>
          </a:xfrm>
          <a:prstGeom prst="rect">
            <a:avLst/>
          </a:prstGeom>
          <a:noFill/>
          <a:ln/>
        </p:spPr>
        <p:txBody>
          <a:bodyPr wrap="square" lIns="0" tIns="0" rIns="0" bIns="0" rtlCol="0" anchor="ctr"/>
          <a:lstStyle/>
          <a:p>
            <a:pPr indent="0" marL="0">
              <a:buNone/>
            </a:pPr>
            <a:r>
              <a:rPr lang="en-US" sz="800" dirty="0">
                <a:solidFill>
                  <a:srgbClr val="64748B"/>
                </a:solidFill>
              </a:rPr>
              <a:t>Sidebar logs last 50 change events for the current plan: user name, cell reference, old value, new value, timestamp. Example: JD overrode Class Tops / Jan Sales R: $4.2M to $5.0M at 14:32. CO-07.</a:t>
            </a:r>
            <a:endParaRPr lang="en-US" sz="800" dirty="0"/>
          </a:p>
        </p:txBody>
      </p:sp>
      <p:sp>
        <p:nvSpPr>
          <p:cNvPr id="37" name="Shape 32"/>
          <p:cNvSpPr/>
          <p:nvPr/>
        </p:nvSpPr>
        <p:spPr>
          <a:xfrm>
            <a:off x="4315968" y="3355848"/>
            <a:ext cx="4626864" cy="768096"/>
          </a:xfrm>
          <a:prstGeom prst="rect">
            <a:avLst/>
          </a:prstGeom>
          <a:solidFill>
            <a:srgbClr val="F7F9FC"/>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38" name="Shape 33"/>
          <p:cNvSpPr/>
          <p:nvPr/>
        </p:nvSpPr>
        <p:spPr>
          <a:xfrm>
            <a:off x="4315968" y="3355848"/>
            <a:ext cx="54864" cy="768096"/>
          </a:xfrm>
          <a:prstGeom prst="rect">
            <a:avLst/>
          </a:prstGeom>
          <a:solidFill>
            <a:srgbClr val="F59E0B"/>
          </a:solidFill>
          <a:ln w="12700">
            <a:solidFill>
              <a:srgbClr val="F59E0B"/>
            </a:solidFill>
            <a:prstDash val="solid"/>
          </a:ln>
        </p:spPr>
      </p:sp>
      <p:pic>
        <p:nvPicPr>
          <p:cNvPr id="39" name="Image 3" descr="preencoded.png"/>
          <p:cNvPicPr>
            <a:picLocks noChangeAspect="1"/>
          </p:cNvPicPr>
          <p:nvPr/>
        </p:nvPicPr>
        <p:blipFill>
          <a:blip r:embed="rId4"/>
          <a:stretch>
            <a:fillRect/>
          </a:stretch>
        </p:blipFill>
        <p:spPr>
          <a:xfrm>
            <a:off x="4462272" y="3575304"/>
            <a:ext cx="274320" cy="274320"/>
          </a:xfrm>
          <a:prstGeom prst="rect">
            <a:avLst/>
          </a:prstGeom>
        </p:spPr>
      </p:pic>
      <p:sp>
        <p:nvSpPr>
          <p:cNvPr id="40" name="Text 34"/>
          <p:cNvSpPr/>
          <p:nvPr/>
        </p:nvSpPr>
        <p:spPr>
          <a:xfrm>
            <a:off x="4828032" y="3447288"/>
            <a:ext cx="4023360" cy="256032"/>
          </a:xfrm>
          <a:prstGeom prst="rect">
            <a:avLst/>
          </a:prstGeom>
          <a:noFill/>
          <a:ln/>
        </p:spPr>
        <p:txBody>
          <a:bodyPr wrap="square" lIns="0" tIns="0" rIns="0" bIns="0" rtlCol="0" anchor="ctr"/>
          <a:lstStyle/>
          <a:p>
            <a:pPr indent="0" marL="0">
              <a:buNone/>
            </a:pPr>
            <a:r>
              <a:rPr lang="en-US" sz="1000" b="1" dirty="0">
                <a:solidFill>
                  <a:srgbClr val="0F2044"/>
                </a:solidFill>
              </a:rPr>
              <a:t>Scenario Override Isolation</a:t>
            </a:r>
            <a:endParaRPr lang="en-US" sz="1000" dirty="0"/>
          </a:p>
        </p:txBody>
      </p:sp>
      <p:sp>
        <p:nvSpPr>
          <p:cNvPr id="41" name="Text 35"/>
          <p:cNvSpPr/>
          <p:nvPr/>
        </p:nvSpPr>
        <p:spPr>
          <a:xfrm>
            <a:off x="4828032" y="3721608"/>
            <a:ext cx="4023360" cy="365760"/>
          </a:xfrm>
          <a:prstGeom prst="rect">
            <a:avLst/>
          </a:prstGeom>
          <a:noFill/>
          <a:ln/>
        </p:spPr>
        <p:txBody>
          <a:bodyPr wrap="square" lIns="0" tIns="0" rIns="0" bIns="0" rtlCol="0" anchor="ctr"/>
          <a:lstStyle/>
          <a:p>
            <a:pPr indent="0" marL="0">
              <a:buNone/>
            </a:pPr>
            <a:r>
              <a:rPr lang="en-US" sz="800" dirty="0">
                <a:solidFill>
                  <a:srgbClr val="64748B"/>
                </a:solidFill>
              </a:rPr>
              <a:t>Override reasons are tracked independently per scenario. The same cell overridden in two scenarios can have different reasons. Scenario A: Trend up. Scenario B: Hedge risk. Stored independently. SC-08.</a:t>
            </a:r>
            <a:endParaRPr lang="en-US" sz="800" dirty="0"/>
          </a:p>
        </p:txBody>
      </p:sp>
      <p:sp>
        <p:nvSpPr>
          <p:cNvPr id="42" name="Shape 36"/>
          <p:cNvSpPr/>
          <p:nvPr/>
        </p:nvSpPr>
        <p:spPr>
          <a:xfrm>
            <a:off x="4315968" y="4206240"/>
            <a:ext cx="4626864" cy="768096"/>
          </a:xfrm>
          <a:prstGeom prst="rect">
            <a:avLst/>
          </a:prstGeom>
          <a:solidFill>
            <a:srgbClr val="F7F9FC"/>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43" name="Shape 37"/>
          <p:cNvSpPr/>
          <p:nvPr/>
        </p:nvSpPr>
        <p:spPr>
          <a:xfrm>
            <a:off x="4315968" y="4206240"/>
            <a:ext cx="54864" cy="768096"/>
          </a:xfrm>
          <a:prstGeom prst="rect">
            <a:avLst/>
          </a:prstGeom>
          <a:solidFill>
            <a:srgbClr val="0D7377"/>
          </a:solidFill>
          <a:ln w="12700">
            <a:solidFill>
              <a:srgbClr val="0D7377"/>
            </a:solidFill>
            <a:prstDash val="solid"/>
          </a:ln>
        </p:spPr>
      </p:sp>
      <p:pic>
        <p:nvPicPr>
          <p:cNvPr id="44" name="Image 4" descr="preencoded.png"/>
          <p:cNvPicPr>
            <a:picLocks noChangeAspect="1"/>
          </p:cNvPicPr>
          <p:nvPr/>
        </p:nvPicPr>
        <p:blipFill>
          <a:blip r:embed="rId5"/>
          <a:stretch>
            <a:fillRect/>
          </a:stretch>
        </p:blipFill>
        <p:spPr>
          <a:xfrm>
            <a:off x="4462272" y="4425696"/>
            <a:ext cx="274320" cy="274320"/>
          </a:xfrm>
          <a:prstGeom prst="rect">
            <a:avLst/>
          </a:prstGeom>
        </p:spPr>
      </p:pic>
      <p:sp>
        <p:nvSpPr>
          <p:cNvPr id="45" name="Text 38"/>
          <p:cNvSpPr/>
          <p:nvPr/>
        </p:nvSpPr>
        <p:spPr>
          <a:xfrm>
            <a:off x="4828032" y="4297680"/>
            <a:ext cx="4023360" cy="256032"/>
          </a:xfrm>
          <a:prstGeom prst="rect">
            <a:avLst/>
          </a:prstGeom>
          <a:noFill/>
          <a:ln/>
        </p:spPr>
        <p:txBody>
          <a:bodyPr wrap="square" lIns="0" tIns="0" rIns="0" bIns="0" rtlCol="0" anchor="ctr"/>
          <a:lstStyle/>
          <a:p>
            <a:pPr indent="0" marL="0">
              <a:buNone/>
            </a:pPr>
            <a:r>
              <a:rPr lang="en-US" sz="1000" b="1" dirty="0">
                <a:solidFill>
                  <a:srgbClr val="0F2044"/>
                </a:solidFill>
              </a:rPr>
              <a:t>Scenario Lifecycle</a:t>
            </a:r>
            <a:endParaRPr lang="en-US" sz="1000" dirty="0"/>
          </a:p>
        </p:txBody>
      </p:sp>
      <p:sp>
        <p:nvSpPr>
          <p:cNvPr id="46" name="Text 39"/>
          <p:cNvSpPr/>
          <p:nvPr/>
        </p:nvSpPr>
        <p:spPr>
          <a:xfrm>
            <a:off x="4828032" y="4572000"/>
            <a:ext cx="4023360" cy="365760"/>
          </a:xfrm>
          <a:prstGeom prst="rect">
            <a:avLst/>
          </a:prstGeom>
          <a:noFill/>
          <a:ln/>
        </p:spPr>
        <p:txBody>
          <a:bodyPr wrap="square" lIns="0" tIns="0" rIns="0" bIns="0" rtlCol="0" anchor="ctr"/>
          <a:lstStyle/>
          <a:p>
            <a:pPr indent="0" marL="0">
              <a:buNone/>
            </a:pPr>
            <a:r>
              <a:rPr lang="en-US" sz="800" dirty="0">
                <a:solidFill>
                  <a:srgbClr val="64748B"/>
                </a:solidFill>
              </a:rPr>
              <a:t>Scenarios can be renamed and deleted. Deleting the active scenario is blocked — must switch first. Up to 5 simultaneous scenarios. Creating a 6th shows: Maximum of 5 scenarios reached. SC-02, SC-05.</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F2044"/>
          </a:solidFill>
          <a:ln w="12700">
            <a:solidFill>
              <a:srgbClr val="0F2044"/>
            </a:solidFill>
            <a:prstDash val="solid"/>
          </a:ln>
        </p:spPr>
      </p:sp>
      <p:sp>
        <p:nvSpPr>
          <p:cNvPr id="3" name="Text 1"/>
          <p:cNvSpPr/>
          <p:nvPr/>
        </p:nvSpPr>
        <p:spPr>
          <a:xfrm>
            <a:off x="365760" y="0"/>
            <a:ext cx="7772400" cy="658368"/>
          </a:xfrm>
          <a:prstGeom prst="rect">
            <a:avLst/>
          </a:prstGeom>
          <a:noFill/>
          <a:ln/>
        </p:spPr>
        <p:txBody>
          <a:bodyPr wrap="square" lIns="0" tIns="0" rIns="0" bIns="0" rtlCol="0" anchor="ctr"/>
          <a:lstStyle/>
          <a:p>
            <a:pPr indent="0" marL="0">
              <a:buNone/>
            </a:pPr>
            <a:r>
              <a:rPr lang="en-US" sz="1000" b="1" spc="300" kern="0" dirty="0">
                <a:solidFill>
                  <a:srgbClr val="FFFFFF"/>
                </a:solidFill>
              </a:rPr>
              <a:t>PLANNING GRID — SUBMISSION, EXPORT &amp; PERFORMANCE</a:t>
            </a:r>
            <a:endParaRPr lang="en-US" sz="1000" dirty="0"/>
          </a:p>
        </p:txBody>
      </p:sp>
      <p:sp>
        <p:nvSpPr>
          <p:cNvPr id="4" name="Text 2"/>
          <p:cNvSpPr/>
          <p:nvPr/>
        </p:nvSpPr>
        <p:spPr>
          <a:xfrm>
            <a:off x="7863840" y="0"/>
            <a:ext cx="1097280" cy="658368"/>
          </a:xfrm>
          <a:prstGeom prst="rect">
            <a:avLst/>
          </a:prstGeom>
          <a:noFill/>
          <a:ln/>
        </p:spPr>
        <p:txBody>
          <a:bodyPr wrap="square" lIns="0" tIns="0" rIns="0" bIns="0" rtlCol="0" anchor="ctr"/>
          <a:lstStyle/>
          <a:p>
            <a:pPr algn="r" indent="0" marL="0">
              <a:buNone/>
            </a:pPr>
            <a:r>
              <a:rPr lang="en-US" sz="900" dirty="0">
                <a:solidFill>
                  <a:srgbClr val="94A3B8"/>
                </a:solidFill>
              </a:rPr>
              <a:t>GRID-06</a:t>
            </a:r>
            <a:endParaRPr lang="en-US" sz="900" dirty="0"/>
          </a:p>
        </p:txBody>
      </p:sp>
      <p:sp>
        <p:nvSpPr>
          <p:cNvPr id="5" name="Shape 3"/>
          <p:cNvSpPr/>
          <p:nvPr/>
        </p:nvSpPr>
        <p:spPr>
          <a:xfrm>
            <a:off x="201168" y="804672"/>
            <a:ext cx="3840480" cy="914400"/>
          </a:xfrm>
          <a:prstGeom prst="rect">
            <a:avLst/>
          </a:prstGeom>
          <a:solidFill>
            <a:srgbClr val="0F2044"/>
          </a:solidFill>
          <a:ln w="12700">
            <a:solidFill>
              <a:srgbClr val="0F2044"/>
            </a:solidFill>
            <a:prstDash val="solid"/>
          </a:ln>
          <a:effectLst>
            <a:outerShdw sx="100000" sy="100000" kx="0" ky="0" algn="bl" rotWithShape="0" blurRad="101600" dist="38100" dir="8100000">
              <a:srgbClr val="000000">
                <a:alpha val="10000"/>
              </a:srgbClr>
            </a:outerShdw>
          </a:effectLst>
        </p:spPr>
      </p:sp>
      <p:sp>
        <p:nvSpPr>
          <p:cNvPr id="6" name="Text 4"/>
          <p:cNvSpPr/>
          <p:nvPr/>
        </p:nvSpPr>
        <p:spPr>
          <a:xfrm>
            <a:off x="347472" y="896112"/>
            <a:ext cx="3566160" cy="292608"/>
          </a:xfrm>
          <a:prstGeom prst="rect">
            <a:avLst/>
          </a:prstGeom>
          <a:noFill/>
          <a:ln/>
        </p:spPr>
        <p:txBody>
          <a:bodyPr wrap="square" lIns="0" tIns="0" rIns="0" bIns="0" rtlCol="0" anchor="ctr"/>
          <a:lstStyle/>
          <a:p>
            <a:pPr indent="0" marL="0">
              <a:buNone/>
            </a:pPr>
            <a:r>
              <a:rPr lang="en-US" sz="1100" b="1" dirty="0">
                <a:solidFill>
                  <a:srgbClr val="FFFFFF"/>
                </a:solidFill>
              </a:rPr>
              <a:t>PLAN SUBMISSION WORKFLOW</a:t>
            </a:r>
            <a:endParaRPr lang="en-US" sz="1100" dirty="0"/>
          </a:p>
        </p:txBody>
      </p:sp>
      <p:sp>
        <p:nvSpPr>
          <p:cNvPr id="7" name="Text 5"/>
          <p:cNvSpPr/>
          <p:nvPr/>
        </p:nvSpPr>
        <p:spPr>
          <a:xfrm>
            <a:off x="347472" y="1225296"/>
            <a:ext cx="3566160" cy="438912"/>
          </a:xfrm>
          <a:prstGeom prst="rect">
            <a:avLst/>
          </a:prstGeom>
          <a:noFill/>
          <a:ln/>
        </p:spPr>
        <p:txBody>
          <a:bodyPr wrap="square" lIns="0" tIns="0" rIns="0" bIns="0" rtlCol="0" anchor="ctr"/>
          <a:lstStyle/>
          <a:p>
            <a:pPr indent="0" marL="0">
              <a:buNone/>
            </a:pPr>
            <a:r>
              <a:rPr lang="en-US" sz="850" dirty="0">
                <a:solidFill>
                  <a:srgbClr val="94A3B8"/>
                </a:solidFill>
              </a:rPr>
              <a:t>Submit turns green when all leaves are accepted or overridden (pending = 0). Clicking opens a confirmation modal showing accepted count, override count, audit-trail confirmation, and learning-model feedback message. Back to plan preserves full grid state. Post-submit integration hook fires with complete plan payload. SB-01 to SB-05.</a:t>
            </a:r>
            <a:endParaRPr lang="en-US" sz="850" dirty="0"/>
          </a:p>
        </p:txBody>
      </p:sp>
      <p:sp>
        <p:nvSpPr>
          <p:cNvPr id="8" name="Shape 6"/>
          <p:cNvSpPr/>
          <p:nvPr/>
        </p:nvSpPr>
        <p:spPr>
          <a:xfrm>
            <a:off x="2103120" y="1719072"/>
            <a:ext cx="0" cy="137160"/>
          </a:xfrm>
          <a:prstGeom prst="line">
            <a:avLst/>
          </a:prstGeom>
          <a:noFill/>
          <a:ln w="19050">
            <a:solidFill>
              <a:srgbClr val="94A3B8"/>
            </a:solidFill>
            <a:prstDash val="solid"/>
          </a:ln>
        </p:spPr>
      </p:sp>
      <p:sp>
        <p:nvSpPr>
          <p:cNvPr id="9" name="Shape 7"/>
          <p:cNvSpPr/>
          <p:nvPr/>
        </p:nvSpPr>
        <p:spPr>
          <a:xfrm>
            <a:off x="201168" y="1856232"/>
            <a:ext cx="3840480" cy="914400"/>
          </a:xfrm>
          <a:prstGeom prst="rect">
            <a:avLst/>
          </a:prstGeom>
          <a:solidFill>
            <a:srgbClr val="0D7377"/>
          </a:solidFill>
          <a:ln w="12700">
            <a:solidFill>
              <a:srgbClr val="0D7377"/>
            </a:solidFill>
            <a:prstDash val="solid"/>
          </a:ln>
          <a:effectLst>
            <a:outerShdw sx="100000" sy="100000" kx="0" ky="0" algn="bl" rotWithShape="0" blurRad="101600" dist="38100" dir="8100000">
              <a:srgbClr val="000000">
                <a:alpha val="10000"/>
              </a:srgbClr>
            </a:outerShdw>
          </a:effectLst>
        </p:spPr>
      </p:sp>
      <p:sp>
        <p:nvSpPr>
          <p:cNvPr id="10" name="Text 8"/>
          <p:cNvSpPr/>
          <p:nvPr/>
        </p:nvSpPr>
        <p:spPr>
          <a:xfrm>
            <a:off x="347472" y="1947672"/>
            <a:ext cx="3566160" cy="292608"/>
          </a:xfrm>
          <a:prstGeom prst="rect">
            <a:avLst/>
          </a:prstGeom>
          <a:noFill/>
          <a:ln/>
        </p:spPr>
        <p:txBody>
          <a:bodyPr wrap="square" lIns="0" tIns="0" rIns="0" bIns="0" rtlCol="0" anchor="ctr"/>
          <a:lstStyle/>
          <a:p>
            <a:pPr indent="0" marL="0">
              <a:buNone/>
            </a:pPr>
            <a:r>
              <a:rPr lang="en-US" sz="1100" b="1" dirty="0">
                <a:solidFill>
                  <a:srgbClr val="FFFFFF"/>
                </a:solidFill>
              </a:rPr>
              <a:t>CSV EXPORT</a:t>
            </a:r>
            <a:endParaRPr lang="en-US" sz="1100" dirty="0"/>
          </a:p>
        </p:txBody>
      </p:sp>
      <p:sp>
        <p:nvSpPr>
          <p:cNvPr id="11" name="Text 9"/>
          <p:cNvSpPr/>
          <p:nvPr/>
        </p:nvSpPr>
        <p:spPr>
          <a:xfrm>
            <a:off x="347472" y="2276856"/>
            <a:ext cx="3566160" cy="438912"/>
          </a:xfrm>
          <a:prstGeom prst="rect">
            <a:avLst/>
          </a:prstGeom>
          <a:noFill/>
          <a:ln/>
        </p:spPr>
        <p:txBody>
          <a:bodyPr wrap="square" lIns="0" tIns="0" rIns="0" bIns="0" rtlCol="0" anchor="ctr"/>
          <a:lstStyle/>
          <a:p>
            <a:pPr indent="0" marL="0">
              <a:buNone/>
            </a:pPr>
            <a:r>
              <a:rPr lang="en-US" sz="850" dirty="0">
                <a:solidFill>
                  <a:srgbClr val="94A3B8"/>
                </a:solidFill>
              </a:rPr>
              <a:t>Row member, level, review status, all Ag + Wp values (override where present, agent otherwise). Filename: plan-overrides-YYYY-MM-DD.csv. Respects active filters — visible rows only. Variance columns excluded by default, opt-in via export options toggle. EX-01 to EX-04.</a:t>
            </a:r>
            <a:endParaRPr lang="en-US" sz="850" dirty="0"/>
          </a:p>
        </p:txBody>
      </p:sp>
      <p:sp>
        <p:nvSpPr>
          <p:cNvPr id="12" name="Shape 10"/>
          <p:cNvSpPr/>
          <p:nvPr/>
        </p:nvSpPr>
        <p:spPr>
          <a:xfrm>
            <a:off x="2103120" y="2770632"/>
            <a:ext cx="0" cy="137160"/>
          </a:xfrm>
          <a:prstGeom prst="line">
            <a:avLst/>
          </a:prstGeom>
          <a:noFill/>
          <a:ln w="19050">
            <a:solidFill>
              <a:srgbClr val="94A3B8"/>
            </a:solidFill>
            <a:prstDash val="solid"/>
          </a:ln>
        </p:spPr>
      </p:sp>
      <p:sp>
        <p:nvSpPr>
          <p:cNvPr id="13" name="Shape 11"/>
          <p:cNvSpPr/>
          <p:nvPr/>
        </p:nvSpPr>
        <p:spPr>
          <a:xfrm>
            <a:off x="201168" y="2907792"/>
            <a:ext cx="3840480" cy="914400"/>
          </a:xfrm>
          <a:prstGeom prst="rect">
            <a:avLst/>
          </a:prstGeom>
          <a:solidFill>
            <a:srgbClr val="7C3AED"/>
          </a:solidFill>
          <a:ln w="12700">
            <a:solidFill>
              <a:srgbClr val="7C3AED"/>
            </a:solidFill>
            <a:prstDash val="solid"/>
          </a:ln>
          <a:effectLst>
            <a:outerShdw sx="100000" sy="100000" kx="0" ky="0" algn="bl" rotWithShape="0" blurRad="101600" dist="38100" dir="8100000">
              <a:srgbClr val="000000">
                <a:alpha val="10000"/>
              </a:srgbClr>
            </a:outerShdw>
          </a:effectLst>
        </p:spPr>
      </p:sp>
      <p:sp>
        <p:nvSpPr>
          <p:cNvPr id="14" name="Text 12"/>
          <p:cNvSpPr/>
          <p:nvPr/>
        </p:nvSpPr>
        <p:spPr>
          <a:xfrm>
            <a:off x="347472" y="2999232"/>
            <a:ext cx="3566160" cy="292608"/>
          </a:xfrm>
          <a:prstGeom prst="rect">
            <a:avLst/>
          </a:prstGeom>
          <a:noFill/>
          <a:ln/>
        </p:spPr>
        <p:txBody>
          <a:bodyPr wrap="square" lIns="0" tIns="0" rIns="0" bIns="0" rtlCol="0" anchor="ctr"/>
          <a:lstStyle/>
          <a:p>
            <a:pPr indent="0" marL="0">
              <a:buNone/>
            </a:pPr>
            <a:r>
              <a:rPr lang="en-US" sz="1100" b="1" dirty="0">
                <a:solidFill>
                  <a:srgbClr val="FFFFFF"/>
                </a:solidFill>
              </a:rPr>
              <a:t>ATTRIBUTE FILTERS &amp; MANAGER</a:t>
            </a:r>
            <a:endParaRPr lang="en-US" sz="1100" dirty="0"/>
          </a:p>
        </p:txBody>
      </p:sp>
      <p:sp>
        <p:nvSpPr>
          <p:cNvPr id="15" name="Text 13"/>
          <p:cNvSpPr/>
          <p:nvPr/>
        </p:nvSpPr>
        <p:spPr>
          <a:xfrm>
            <a:off x="347472" y="3328416"/>
            <a:ext cx="3566160" cy="438912"/>
          </a:xfrm>
          <a:prstGeom prst="rect">
            <a:avLst/>
          </a:prstGeom>
          <a:noFill/>
          <a:ln/>
        </p:spPr>
        <p:txBody>
          <a:bodyPr wrap="square" lIns="0" tIns="0" rIns="0" bIns="0" rtlCol="0" anchor="ctr"/>
          <a:lstStyle/>
          <a:p>
            <a:pPr indent="0" marL="0">
              <a:buNone/>
            </a:pPr>
            <a:r>
              <a:rPr lang="en-US" sz="850" dirty="0">
                <a:solidFill>
                  <a:srgbClr val="DDD6FE"/>
                </a:solidFill>
              </a:rPr>
              <a:t>Sidebar: up to 7 of 11 attributes visible as multi-select dropdowns (AND logic). Active chips removable. State persists across pivot changes. Attribute Manager modal: reorder all 11 via up/down controls, promote hidden attributes to visible (+ Top 7 button). Changes committed only on Save. AF-01 to AF-14.</a:t>
            </a:r>
            <a:endParaRPr lang="en-US" sz="850" dirty="0"/>
          </a:p>
        </p:txBody>
      </p:sp>
      <p:sp>
        <p:nvSpPr>
          <p:cNvPr id="16" name="Shape 14"/>
          <p:cNvSpPr/>
          <p:nvPr/>
        </p:nvSpPr>
        <p:spPr>
          <a:xfrm>
            <a:off x="2103120" y="3822192"/>
            <a:ext cx="0" cy="137160"/>
          </a:xfrm>
          <a:prstGeom prst="line">
            <a:avLst/>
          </a:prstGeom>
          <a:noFill/>
          <a:ln w="19050">
            <a:solidFill>
              <a:srgbClr val="94A3B8"/>
            </a:solidFill>
            <a:prstDash val="solid"/>
          </a:ln>
        </p:spPr>
      </p:sp>
      <p:sp>
        <p:nvSpPr>
          <p:cNvPr id="17" name="Shape 15"/>
          <p:cNvSpPr/>
          <p:nvPr/>
        </p:nvSpPr>
        <p:spPr>
          <a:xfrm>
            <a:off x="201168" y="3959352"/>
            <a:ext cx="3840480" cy="914400"/>
          </a:xfrm>
          <a:prstGeom prst="rect">
            <a:avLst/>
          </a:prstGeom>
          <a:solidFill>
            <a:srgbClr val="334155"/>
          </a:solidFill>
          <a:ln w="12700">
            <a:solidFill>
              <a:srgbClr val="334155"/>
            </a:solidFill>
            <a:prstDash val="solid"/>
          </a:ln>
          <a:effectLst>
            <a:outerShdw sx="100000" sy="100000" kx="0" ky="0" algn="bl" rotWithShape="0" blurRad="101600" dist="38100" dir="8100000">
              <a:srgbClr val="000000">
                <a:alpha val="10000"/>
              </a:srgbClr>
            </a:outerShdw>
          </a:effectLst>
        </p:spPr>
      </p:sp>
      <p:sp>
        <p:nvSpPr>
          <p:cNvPr id="18" name="Text 16"/>
          <p:cNvSpPr/>
          <p:nvPr/>
        </p:nvSpPr>
        <p:spPr>
          <a:xfrm>
            <a:off x="347472" y="4050792"/>
            <a:ext cx="3566160" cy="292608"/>
          </a:xfrm>
          <a:prstGeom prst="rect">
            <a:avLst/>
          </a:prstGeom>
          <a:noFill/>
          <a:ln/>
        </p:spPr>
        <p:txBody>
          <a:bodyPr wrap="square" lIns="0" tIns="0" rIns="0" bIns="0" rtlCol="0" anchor="ctr"/>
          <a:lstStyle/>
          <a:p>
            <a:pPr indent="0" marL="0">
              <a:buNone/>
            </a:pPr>
            <a:r>
              <a:rPr lang="en-US" sz="1100" b="1" dirty="0">
                <a:solidFill>
                  <a:srgbClr val="FFFFFF"/>
                </a:solidFill>
              </a:rPr>
              <a:t>ROW SEARCH &amp; REVIEW FILTER</a:t>
            </a:r>
            <a:endParaRPr lang="en-US" sz="1100" dirty="0"/>
          </a:p>
        </p:txBody>
      </p:sp>
      <p:sp>
        <p:nvSpPr>
          <p:cNvPr id="19" name="Text 17"/>
          <p:cNvSpPr/>
          <p:nvPr/>
        </p:nvSpPr>
        <p:spPr>
          <a:xfrm>
            <a:off x="347472" y="4379976"/>
            <a:ext cx="3566160" cy="438912"/>
          </a:xfrm>
          <a:prstGeom prst="rect">
            <a:avLst/>
          </a:prstGeom>
          <a:noFill/>
          <a:ln/>
        </p:spPr>
        <p:txBody>
          <a:bodyPr wrap="square" lIns="0" tIns="0" rIns="0" bIns="0" rtlCol="0" anchor="ctr"/>
          <a:lstStyle/>
          <a:p>
            <a:pPr indent="0" marL="0">
              <a:buNone/>
            </a:pPr>
            <a:r>
              <a:rPr lang="en-US" sz="850" dirty="0">
                <a:solidFill>
                  <a:srgbClr val="DDD6FE"/>
                </a:solidFill>
              </a:rPr>
              <a:t>Text search (Ctrl+F) filters rows by member name, case-insensitive, combinable with attribute filters. Review status filter: All / Pending / Overridden / Accepted. Impact panel (live): total leaves, accepted, overridden, pending, segmented progress bar. GT-01, GT-02, IM-01 to IM-03, AF-10 to AF-14.</a:t>
            </a:r>
            <a:endParaRPr lang="en-US" sz="850" dirty="0"/>
          </a:p>
        </p:txBody>
      </p:sp>
      <p:sp>
        <p:nvSpPr>
          <p:cNvPr id="20" name="Shape 18"/>
          <p:cNvSpPr/>
          <p:nvPr/>
        </p:nvSpPr>
        <p:spPr>
          <a:xfrm>
            <a:off x="201168" y="4645152"/>
            <a:ext cx="3840480" cy="365760"/>
          </a:xfrm>
          <a:prstGeom prst="rect">
            <a:avLst/>
          </a:prstGeom>
          <a:solidFill>
            <a:srgbClr val="F7F9FC"/>
          </a:solidFill>
          <a:ln w="12700">
            <a:solidFill>
              <a:srgbClr val="E2E8F0"/>
            </a:solidFill>
            <a:prstDash val="solid"/>
          </a:ln>
        </p:spPr>
      </p:sp>
      <p:sp>
        <p:nvSpPr>
          <p:cNvPr id="21" name="Text 19"/>
          <p:cNvSpPr/>
          <p:nvPr/>
        </p:nvSpPr>
        <p:spPr>
          <a:xfrm>
            <a:off x="274320" y="4645152"/>
            <a:ext cx="3749040" cy="365760"/>
          </a:xfrm>
          <a:prstGeom prst="rect">
            <a:avLst/>
          </a:prstGeom>
          <a:noFill/>
          <a:ln/>
        </p:spPr>
        <p:txBody>
          <a:bodyPr wrap="square" lIns="0" tIns="0" rIns="0" bIns="0" rtlCol="0" anchor="ctr"/>
          <a:lstStyle/>
          <a:p>
            <a:pPr indent="0" marL="0">
              <a:buNone/>
            </a:pPr>
            <a:r>
              <a:rPr lang="en-US" sz="850" b="1" dirty="0">
                <a:solidFill>
                  <a:srgbClr val="0F2044"/>
                </a:solidFill>
              </a:rPr>
              <a:t>UX, KEYBOARD NAVIGATION &amp; PERFORMANCE</a:t>
            </a:r>
            <a:pPr indent="0" marL="0">
              <a:buNone/>
            </a:pPr>
            <a:r>
              <a:rPr lang="en-US" sz="850" dirty="0">
                <a:solidFill>
                  <a:srgbClr val="64748B"/>
                </a:solidFill>
              </a:rPr>
              <a:t/>
            </a:r>
            <a:endParaRPr lang="en-US" sz="850" dirty="0"/>
          </a:p>
        </p:txBody>
      </p:sp>
      <p:sp>
        <p:nvSpPr>
          <p:cNvPr id="22" name="Shape 20"/>
          <p:cNvSpPr/>
          <p:nvPr/>
        </p:nvSpPr>
        <p:spPr>
          <a:xfrm>
            <a:off x="4315968" y="804672"/>
            <a:ext cx="4626864" cy="768096"/>
          </a:xfrm>
          <a:prstGeom prst="rect">
            <a:avLst/>
          </a:prstGeom>
          <a:solidFill>
            <a:srgbClr val="F7F9FC"/>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23" name="Shape 21"/>
          <p:cNvSpPr/>
          <p:nvPr/>
        </p:nvSpPr>
        <p:spPr>
          <a:xfrm>
            <a:off x="4315968" y="804672"/>
            <a:ext cx="54864" cy="768096"/>
          </a:xfrm>
          <a:prstGeom prst="rect">
            <a:avLst/>
          </a:prstGeom>
          <a:solidFill>
            <a:srgbClr val="0D7377"/>
          </a:solidFill>
          <a:ln w="12700">
            <a:solidFill>
              <a:srgbClr val="0D7377"/>
            </a:solidFill>
            <a:prstDash val="solid"/>
          </a:ln>
        </p:spPr>
      </p:sp>
      <p:pic>
        <p:nvPicPr>
          <p:cNvPr id="24" name="Image 0" descr="preencoded.png"/>
          <p:cNvPicPr>
            <a:picLocks noChangeAspect="1"/>
          </p:cNvPicPr>
          <p:nvPr/>
        </p:nvPicPr>
        <p:blipFill>
          <a:blip r:embed="rId1"/>
          <a:stretch>
            <a:fillRect/>
          </a:stretch>
        </p:blipFill>
        <p:spPr>
          <a:xfrm>
            <a:off x="4462272" y="1024128"/>
            <a:ext cx="274320" cy="274320"/>
          </a:xfrm>
          <a:prstGeom prst="rect">
            <a:avLst/>
          </a:prstGeom>
        </p:spPr>
      </p:pic>
      <p:sp>
        <p:nvSpPr>
          <p:cNvPr id="25" name="Text 22"/>
          <p:cNvSpPr/>
          <p:nvPr/>
        </p:nvSpPr>
        <p:spPr>
          <a:xfrm>
            <a:off x="4828032" y="896112"/>
            <a:ext cx="4023360" cy="256032"/>
          </a:xfrm>
          <a:prstGeom prst="rect">
            <a:avLst/>
          </a:prstGeom>
          <a:noFill/>
          <a:ln/>
        </p:spPr>
        <p:txBody>
          <a:bodyPr wrap="square" lIns="0" tIns="0" rIns="0" bIns="0" rtlCol="0" anchor="ctr"/>
          <a:lstStyle/>
          <a:p>
            <a:pPr indent="0" marL="0">
              <a:buNone/>
            </a:pPr>
            <a:r>
              <a:rPr lang="en-US" sz="1000" b="1" dirty="0">
                <a:solidFill>
                  <a:srgbClr val="0F2044"/>
                </a:solidFill>
              </a:rPr>
              <a:t>Keyboard Navigation</a:t>
            </a:r>
            <a:endParaRPr lang="en-US" sz="1000" dirty="0"/>
          </a:p>
        </p:txBody>
      </p:sp>
      <p:sp>
        <p:nvSpPr>
          <p:cNvPr id="26" name="Text 23"/>
          <p:cNvSpPr/>
          <p:nvPr/>
        </p:nvSpPr>
        <p:spPr>
          <a:xfrm>
            <a:off x="4828032" y="1170432"/>
            <a:ext cx="4023360" cy="365760"/>
          </a:xfrm>
          <a:prstGeom prst="rect">
            <a:avLst/>
          </a:prstGeom>
          <a:noFill/>
          <a:ln/>
        </p:spPr>
        <p:txBody>
          <a:bodyPr wrap="square" lIns="0" tIns="0" rIns="0" bIns="0" rtlCol="0" anchor="ctr"/>
          <a:lstStyle/>
          <a:p>
            <a:pPr indent="0" marL="0">
              <a:buNone/>
            </a:pPr>
            <a:r>
              <a:rPr lang="en-US" sz="800" dirty="0">
                <a:solidFill>
                  <a:srgbClr val="64748B"/>
                </a:solidFill>
              </a:rPr>
              <a:t>Tab/Shift+Tab moves focus between editable Wp cells horizontally. Arrow keys navigate between cells. Enter opens inline edit on a focused Wp cell. Ctrl+Z / Ctrl+Y undo/redo. Grid renders correctly at viewports &gt;= 1280 px. Sidebar fully collapsible via toggle (UX-05 — P0). UX-01 to UX-05.</a:t>
            </a:r>
            <a:endParaRPr lang="en-US" sz="800" dirty="0"/>
          </a:p>
        </p:txBody>
      </p:sp>
      <p:sp>
        <p:nvSpPr>
          <p:cNvPr id="27" name="Shape 24"/>
          <p:cNvSpPr/>
          <p:nvPr/>
        </p:nvSpPr>
        <p:spPr>
          <a:xfrm>
            <a:off x="4315968" y="1655064"/>
            <a:ext cx="4626864" cy="768096"/>
          </a:xfrm>
          <a:prstGeom prst="rect">
            <a:avLst/>
          </a:prstGeom>
          <a:solidFill>
            <a:srgbClr val="F7F9FC"/>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28" name="Shape 25"/>
          <p:cNvSpPr/>
          <p:nvPr/>
        </p:nvSpPr>
        <p:spPr>
          <a:xfrm>
            <a:off x="4315968" y="1655064"/>
            <a:ext cx="54864" cy="768096"/>
          </a:xfrm>
          <a:prstGeom prst="rect">
            <a:avLst/>
          </a:prstGeom>
          <a:solidFill>
            <a:srgbClr val="0F2044"/>
          </a:solidFill>
          <a:ln w="12700">
            <a:solidFill>
              <a:srgbClr val="0F2044"/>
            </a:solidFill>
            <a:prstDash val="solid"/>
          </a:ln>
        </p:spPr>
      </p:sp>
      <p:pic>
        <p:nvPicPr>
          <p:cNvPr id="29" name="Image 1" descr="preencoded.png"/>
          <p:cNvPicPr>
            <a:picLocks noChangeAspect="1"/>
          </p:cNvPicPr>
          <p:nvPr/>
        </p:nvPicPr>
        <p:blipFill>
          <a:blip r:embed="rId2"/>
          <a:stretch>
            <a:fillRect/>
          </a:stretch>
        </p:blipFill>
        <p:spPr>
          <a:xfrm>
            <a:off x="4462272" y="1874520"/>
            <a:ext cx="274320" cy="274320"/>
          </a:xfrm>
          <a:prstGeom prst="rect">
            <a:avLst/>
          </a:prstGeom>
        </p:spPr>
      </p:pic>
      <p:sp>
        <p:nvSpPr>
          <p:cNvPr id="30" name="Text 26"/>
          <p:cNvSpPr/>
          <p:nvPr/>
        </p:nvSpPr>
        <p:spPr>
          <a:xfrm>
            <a:off x="4828032" y="1746504"/>
            <a:ext cx="4023360" cy="256032"/>
          </a:xfrm>
          <a:prstGeom prst="rect">
            <a:avLst/>
          </a:prstGeom>
          <a:noFill/>
          <a:ln/>
        </p:spPr>
        <p:txBody>
          <a:bodyPr wrap="square" lIns="0" tIns="0" rIns="0" bIns="0" rtlCol="0" anchor="ctr"/>
          <a:lstStyle/>
          <a:p>
            <a:pPr indent="0" marL="0">
              <a:buNone/>
            </a:pPr>
            <a:r>
              <a:rPr lang="en-US" sz="1000" b="1" dirty="0">
                <a:solidFill>
                  <a:srgbClr val="0F2044"/>
                </a:solidFill>
              </a:rPr>
              <a:t>Virtual Windowing &amp; Memoisation</a:t>
            </a:r>
            <a:endParaRPr lang="en-US" sz="1000" dirty="0"/>
          </a:p>
        </p:txBody>
      </p:sp>
      <p:sp>
        <p:nvSpPr>
          <p:cNvPr id="31" name="Text 27"/>
          <p:cNvSpPr/>
          <p:nvPr/>
        </p:nvSpPr>
        <p:spPr>
          <a:xfrm>
            <a:off x="4828032" y="2020824"/>
            <a:ext cx="4023360" cy="365760"/>
          </a:xfrm>
          <a:prstGeom prst="rect">
            <a:avLst/>
          </a:prstGeom>
          <a:noFill/>
          <a:ln/>
        </p:spPr>
        <p:txBody>
          <a:bodyPr wrap="square" lIns="0" tIns="0" rIns="0" bIns="0" rtlCol="0" anchor="ctr"/>
          <a:lstStyle/>
          <a:p>
            <a:pPr indent="0" marL="0">
              <a:buNone/>
            </a:pPr>
            <a:r>
              <a:rPr lang="en-US" sz="800" dirty="0">
                <a:solidFill>
                  <a:srgbClr val="64748B"/>
                </a:solidFill>
              </a:rPr>
              <a:t>Virtual row rendering (DOM windowing) for row counts &gt; 200: only viewport rows plus a 50-row buffer are mounted in the DOM. Memoised aggregation: override of one cell triggers O(log n) re-renders — only affected ancestors recompute. PF-02, PF-03 (P1 engineering requirements).</a:t>
            </a:r>
            <a:endParaRPr lang="en-US" sz="800" dirty="0"/>
          </a:p>
        </p:txBody>
      </p:sp>
      <p:sp>
        <p:nvSpPr>
          <p:cNvPr id="32" name="Shape 28"/>
          <p:cNvSpPr/>
          <p:nvPr/>
        </p:nvSpPr>
        <p:spPr>
          <a:xfrm>
            <a:off x="4315968" y="2505456"/>
            <a:ext cx="4626864" cy="768096"/>
          </a:xfrm>
          <a:prstGeom prst="rect">
            <a:avLst/>
          </a:prstGeom>
          <a:solidFill>
            <a:srgbClr val="F7F9FC"/>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33" name="Shape 29"/>
          <p:cNvSpPr/>
          <p:nvPr/>
        </p:nvSpPr>
        <p:spPr>
          <a:xfrm>
            <a:off x="4315968" y="2505456"/>
            <a:ext cx="54864" cy="768096"/>
          </a:xfrm>
          <a:prstGeom prst="rect">
            <a:avLst/>
          </a:prstGeom>
          <a:solidFill>
            <a:srgbClr val="7C3AED"/>
          </a:solidFill>
          <a:ln w="12700">
            <a:solidFill>
              <a:srgbClr val="7C3AED"/>
            </a:solidFill>
            <a:prstDash val="solid"/>
          </a:ln>
        </p:spPr>
      </p:sp>
      <p:pic>
        <p:nvPicPr>
          <p:cNvPr id="34" name="Image 2" descr="preencoded.png"/>
          <p:cNvPicPr>
            <a:picLocks noChangeAspect="1"/>
          </p:cNvPicPr>
          <p:nvPr/>
        </p:nvPicPr>
        <p:blipFill>
          <a:blip r:embed="rId3"/>
          <a:stretch>
            <a:fillRect/>
          </a:stretch>
        </p:blipFill>
        <p:spPr>
          <a:xfrm>
            <a:off x="4462272" y="2724912"/>
            <a:ext cx="274320" cy="274320"/>
          </a:xfrm>
          <a:prstGeom prst="rect">
            <a:avLst/>
          </a:prstGeom>
        </p:spPr>
      </p:pic>
      <p:sp>
        <p:nvSpPr>
          <p:cNvPr id="35" name="Text 30"/>
          <p:cNvSpPr/>
          <p:nvPr/>
        </p:nvSpPr>
        <p:spPr>
          <a:xfrm>
            <a:off x="4828032" y="2596896"/>
            <a:ext cx="4023360" cy="256032"/>
          </a:xfrm>
          <a:prstGeom prst="rect">
            <a:avLst/>
          </a:prstGeom>
          <a:noFill/>
          <a:ln/>
        </p:spPr>
        <p:txBody>
          <a:bodyPr wrap="square" lIns="0" tIns="0" rIns="0" bIns="0" rtlCol="0" anchor="ctr"/>
          <a:lstStyle/>
          <a:p>
            <a:pPr indent="0" marL="0">
              <a:buNone/>
            </a:pPr>
            <a:r>
              <a:rPr lang="en-US" sz="1000" b="1" dirty="0">
                <a:solidFill>
                  <a:srgbClr val="0F2044"/>
                </a:solidFill>
              </a:rPr>
              <a:t>Performance Targets</a:t>
            </a:r>
            <a:endParaRPr lang="en-US" sz="1000" dirty="0"/>
          </a:p>
        </p:txBody>
      </p:sp>
      <p:sp>
        <p:nvSpPr>
          <p:cNvPr id="36" name="Text 31"/>
          <p:cNvSpPr/>
          <p:nvPr/>
        </p:nvSpPr>
        <p:spPr>
          <a:xfrm>
            <a:off x="4828032" y="2871216"/>
            <a:ext cx="4023360" cy="365760"/>
          </a:xfrm>
          <a:prstGeom prst="rect">
            <a:avLst/>
          </a:prstGeom>
          <a:noFill/>
          <a:ln/>
        </p:spPr>
        <p:txBody>
          <a:bodyPr wrap="square" lIns="0" tIns="0" rIns="0" bIns="0" rtlCol="0" anchor="ctr"/>
          <a:lstStyle/>
          <a:p>
            <a:pPr indent="0" marL="0">
              <a:buNone/>
            </a:pPr>
            <a:r>
              <a:rPr lang="en-US" sz="800" dirty="0">
                <a:solidFill>
                  <a:srgbClr val="64748B"/>
                </a:solidFill>
              </a:rPr>
              <a:t>Grid initial render &lt; 2 s for 500 rows x 24 periods. Override commit round-trip &lt; 300 ms. Aggregation recalc &lt; 100 ms for 500 leaves. Spread preview &lt; 200 ms. Real-time sync broadcast &lt; 500 ms. Scenario switch &lt; 200 ms. PF-01 to PF-03, UX-01 to UX-05.</a:t>
            </a:r>
            <a:endParaRPr lang="en-US" sz="800" dirty="0"/>
          </a:p>
        </p:txBody>
      </p:sp>
      <p:sp>
        <p:nvSpPr>
          <p:cNvPr id="37" name="Shape 32"/>
          <p:cNvSpPr/>
          <p:nvPr/>
        </p:nvSpPr>
        <p:spPr>
          <a:xfrm>
            <a:off x="4315968" y="3355848"/>
            <a:ext cx="4626864" cy="768096"/>
          </a:xfrm>
          <a:prstGeom prst="rect">
            <a:avLst/>
          </a:prstGeom>
          <a:solidFill>
            <a:srgbClr val="F7F9FC"/>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38" name="Shape 33"/>
          <p:cNvSpPr/>
          <p:nvPr/>
        </p:nvSpPr>
        <p:spPr>
          <a:xfrm>
            <a:off x="4315968" y="3355848"/>
            <a:ext cx="54864" cy="768096"/>
          </a:xfrm>
          <a:prstGeom prst="rect">
            <a:avLst/>
          </a:prstGeom>
          <a:solidFill>
            <a:srgbClr val="F59E0B"/>
          </a:solidFill>
          <a:ln w="12700">
            <a:solidFill>
              <a:srgbClr val="F59E0B"/>
            </a:solidFill>
            <a:prstDash val="solid"/>
          </a:ln>
        </p:spPr>
      </p:sp>
      <p:pic>
        <p:nvPicPr>
          <p:cNvPr id="39" name="Image 3" descr="preencoded.png"/>
          <p:cNvPicPr>
            <a:picLocks noChangeAspect="1"/>
          </p:cNvPicPr>
          <p:nvPr/>
        </p:nvPicPr>
        <p:blipFill>
          <a:blip r:embed="rId4"/>
          <a:stretch>
            <a:fillRect/>
          </a:stretch>
        </p:blipFill>
        <p:spPr>
          <a:xfrm>
            <a:off x="4462272" y="3575304"/>
            <a:ext cx="274320" cy="274320"/>
          </a:xfrm>
          <a:prstGeom prst="rect">
            <a:avLst/>
          </a:prstGeom>
        </p:spPr>
      </p:pic>
      <p:sp>
        <p:nvSpPr>
          <p:cNvPr id="40" name="Text 34"/>
          <p:cNvSpPr/>
          <p:nvPr/>
        </p:nvSpPr>
        <p:spPr>
          <a:xfrm>
            <a:off x="4828032" y="3447288"/>
            <a:ext cx="4023360" cy="256032"/>
          </a:xfrm>
          <a:prstGeom prst="rect">
            <a:avLst/>
          </a:prstGeom>
          <a:noFill/>
          <a:ln/>
        </p:spPr>
        <p:txBody>
          <a:bodyPr wrap="square" lIns="0" tIns="0" rIns="0" bIns="0" rtlCol="0" anchor="ctr"/>
          <a:lstStyle/>
          <a:p>
            <a:pPr indent="0" marL="0">
              <a:buNone/>
            </a:pPr>
            <a:r>
              <a:rPr lang="en-US" sz="1000" b="1" dirty="0">
                <a:solidFill>
                  <a:srgbClr val="0F2044"/>
                </a:solidFill>
              </a:rPr>
              <a:t>Grid Productivity Baseline</a:t>
            </a:r>
            <a:endParaRPr lang="en-US" sz="1000" dirty="0"/>
          </a:p>
        </p:txBody>
      </p:sp>
      <p:sp>
        <p:nvSpPr>
          <p:cNvPr id="41" name="Text 35"/>
          <p:cNvSpPr/>
          <p:nvPr/>
        </p:nvSpPr>
        <p:spPr>
          <a:xfrm>
            <a:off x="4828032" y="3721608"/>
            <a:ext cx="4023360" cy="365760"/>
          </a:xfrm>
          <a:prstGeom prst="rect">
            <a:avLst/>
          </a:prstGeom>
          <a:noFill/>
          <a:ln/>
        </p:spPr>
        <p:txBody>
          <a:bodyPr wrap="square" lIns="0" tIns="0" rIns="0" bIns="0" rtlCol="0" anchor="ctr"/>
          <a:lstStyle/>
          <a:p>
            <a:pPr indent="0" marL="0">
              <a:buNone/>
            </a:pPr>
            <a:r>
              <a:rPr lang="en-US" sz="800" dirty="0">
                <a:solidFill>
                  <a:srgbClr val="64748B"/>
                </a:solidFill>
              </a:rPr>
              <a:t>Column/row resizing (min 60 px, max 400 px, double-click auto-size). Up to 3 frozen metric columns. Stable within-group row sorting. Currency scale toggle ($, $K, $M — session-persistent). Find (Ctrl+F) and Find &amp; Replace (Ctrl+H) respecting active filters. GP-01 to GP-18.</a:t>
            </a:r>
            <a:endParaRPr lang="en-US" sz="800" dirty="0"/>
          </a:p>
        </p:txBody>
      </p:sp>
      <p:sp>
        <p:nvSpPr>
          <p:cNvPr id="42" name="Shape 36"/>
          <p:cNvSpPr/>
          <p:nvPr/>
        </p:nvSpPr>
        <p:spPr>
          <a:xfrm>
            <a:off x="4315968" y="4206240"/>
            <a:ext cx="4626864" cy="768096"/>
          </a:xfrm>
          <a:prstGeom prst="rect">
            <a:avLst/>
          </a:prstGeom>
          <a:solidFill>
            <a:srgbClr val="F7F9FC"/>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43" name="Shape 37"/>
          <p:cNvSpPr/>
          <p:nvPr/>
        </p:nvSpPr>
        <p:spPr>
          <a:xfrm>
            <a:off x="4315968" y="4206240"/>
            <a:ext cx="54864" cy="768096"/>
          </a:xfrm>
          <a:prstGeom prst="rect">
            <a:avLst/>
          </a:prstGeom>
          <a:solidFill>
            <a:srgbClr val="0D7377"/>
          </a:solidFill>
          <a:ln w="12700">
            <a:solidFill>
              <a:srgbClr val="0D7377"/>
            </a:solidFill>
            <a:prstDash val="solid"/>
          </a:ln>
        </p:spPr>
      </p:sp>
      <p:pic>
        <p:nvPicPr>
          <p:cNvPr id="44" name="Image 4" descr="preencoded.png"/>
          <p:cNvPicPr>
            <a:picLocks noChangeAspect="1"/>
          </p:cNvPicPr>
          <p:nvPr/>
        </p:nvPicPr>
        <p:blipFill>
          <a:blip r:embed="rId5"/>
          <a:stretch>
            <a:fillRect/>
          </a:stretch>
        </p:blipFill>
        <p:spPr>
          <a:xfrm>
            <a:off x="4462272" y="4425696"/>
            <a:ext cx="274320" cy="274320"/>
          </a:xfrm>
          <a:prstGeom prst="rect">
            <a:avLst/>
          </a:prstGeom>
        </p:spPr>
      </p:pic>
      <p:sp>
        <p:nvSpPr>
          <p:cNvPr id="45" name="Text 38"/>
          <p:cNvSpPr/>
          <p:nvPr/>
        </p:nvSpPr>
        <p:spPr>
          <a:xfrm>
            <a:off x="4828032" y="4297680"/>
            <a:ext cx="4023360" cy="256032"/>
          </a:xfrm>
          <a:prstGeom prst="rect">
            <a:avLst/>
          </a:prstGeom>
          <a:noFill/>
          <a:ln/>
        </p:spPr>
        <p:txBody>
          <a:bodyPr wrap="square" lIns="0" tIns="0" rIns="0" bIns="0" rtlCol="0" anchor="ctr"/>
          <a:lstStyle/>
          <a:p>
            <a:pPr indent="0" marL="0">
              <a:buNone/>
            </a:pPr>
            <a:r>
              <a:rPr lang="en-US" sz="1000" b="1" dirty="0">
                <a:solidFill>
                  <a:srgbClr val="0F2044"/>
                </a:solidFill>
              </a:rPr>
              <a:t>Requirement Summary</a:t>
            </a:r>
            <a:endParaRPr lang="en-US" sz="1000" dirty="0"/>
          </a:p>
        </p:txBody>
      </p:sp>
      <p:sp>
        <p:nvSpPr>
          <p:cNvPr id="46" name="Text 39"/>
          <p:cNvSpPr/>
          <p:nvPr/>
        </p:nvSpPr>
        <p:spPr>
          <a:xfrm>
            <a:off x="4828032" y="4572000"/>
            <a:ext cx="4023360" cy="365760"/>
          </a:xfrm>
          <a:prstGeom prst="rect">
            <a:avLst/>
          </a:prstGeom>
          <a:noFill/>
          <a:ln/>
        </p:spPr>
        <p:txBody>
          <a:bodyPr wrap="square" lIns="0" tIns="0" rIns="0" bIns="0" rtlCol="0" anchor="ctr"/>
          <a:lstStyle/>
          <a:p>
            <a:pPr indent="0" marL="0">
              <a:buNone/>
            </a:pPr>
            <a:r>
              <a:rPr lang="en-US" sz="800" dirty="0">
                <a:solidFill>
                  <a:srgbClr val="64748B"/>
                </a:solidFill>
              </a:rPr>
              <a:t>213 total requirements. 135 P0 (first release). 55 P1 (first or second release). 23 P2 (nice-to-have). 20 functional areas: Grid Structure, Override, Aggregation, Spreading, Heat Map, Filters, Metric Selection, Agent Transparency, Totals, Export, Submission, UX + Performance, Clipboard, Notes, Variance, Undo, Calculated Rows, Productivity, Scenarios, Collaboration, Sparklines.</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Planning Platform Architecture</dc:title>
  <dc:subject>PptxGenJS Presentation</dc:subject>
  <dc:creator>PptxGenJS</dc:creator>
  <cp:lastModifiedBy>PptxGenJS</cp:lastModifiedBy>
  <cp:revision>1</cp:revision>
  <dcterms:created xsi:type="dcterms:W3CDTF">2026-06-08T07:17:54Z</dcterms:created>
  <dcterms:modified xsi:type="dcterms:W3CDTF">2026-06-08T07:17:54Z</dcterms:modified>
</cp:coreProperties>
</file>